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5275" r:id="rId1"/>
  </p:sldMasterIdLst>
  <p:notesMasterIdLst>
    <p:notesMasterId r:id="rId20"/>
  </p:notesMasterIdLst>
  <p:sldIdLst>
    <p:sldId id="277" r:id="rId2"/>
    <p:sldId id="278" r:id="rId3"/>
    <p:sldId id="279" r:id="rId4"/>
    <p:sldId id="280" r:id="rId5"/>
    <p:sldId id="268" r:id="rId6"/>
    <p:sldId id="261" r:id="rId7"/>
    <p:sldId id="262" r:id="rId8"/>
    <p:sldId id="264" r:id="rId9"/>
    <p:sldId id="265" r:id="rId10"/>
    <p:sldId id="270" r:id="rId11"/>
    <p:sldId id="269" r:id="rId12"/>
    <p:sldId id="266" r:id="rId13"/>
    <p:sldId id="271" r:id="rId14"/>
    <p:sldId id="272" r:id="rId15"/>
    <p:sldId id="273" r:id="rId16"/>
    <p:sldId id="274" r:id="rId17"/>
    <p:sldId id="275" r:id="rId18"/>
    <p:sldId id="276"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157" autoAdjust="0"/>
  </p:normalViewPr>
  <p:slideViewPr>
    <p:cSldViewPr snapToGrid="0">
      <p:cViewPr varScale="1">
        <p:scale>
          <a:sx n="105" d="100"/>
          <a:sy n="105" d="100"/>
        </p:scale>
        <p:origin x="83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CAC7F7-15BA-4B54-AC48-7448C3BB35E4}" type="datetimeFigureOut">
              <a:rPr lang="en-US" smtClean="0"/>
              <a:t>03-Apr-26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25E0BA-7242-491A-9994-54C0EBAE902A}" type="slidenum">
              <a:rPr lang="en-US" smtClean="0"/>
              <a:t>‹#›</a:t>
            </a:fld>
            <a:endParaRPr lang="en-US"/>
          </a:p>
        </p:txBody>
      </p:sp>
    </p:spTree>
    <p:extLst>
      <p:ext uri="{BB962C8B-B14F-4D97-AF65-F5344CB8AC3E}">
        <p14:creationId xmlns:p14="http://schemas.microsoft.com/office/powerpoint/2010/main" val="1701420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184DA70-C731-4C70-880D-CCD4705E623C}" type="datetime1">
              <a:rPr lang="en-US" smtClean="0"/>
              <a:t>03-Apr-26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424182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D6E202-B606-4609-B914-27C9371A1F6D}" type="datetime1">
              <a:rPr lang="en-US" smtClean="0"/>
              <a:t>03-Apr-26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5030314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669AF7-7BEB-44E4-9852-375E34362B5B}" type="datetime1">
              <a:rPr lang="en-US" smtClean="0"/>
              <a:t>03-Apr-26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3574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2D6E202-B606-4609-B914-27C9371A1F6D}" type="datetime1">
              <a:rPr lang="en-US" smtClean="0"/>
              <a:t>03-Apr-26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246014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2D6E202-B606-4609-B914-27C9371A1F6D}" type="datetime1">
              <a:rPr lang="en-US" smtClean="0"/>
              <a:t>03-Apr-26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88081332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775B394-D9F9-4F0C-B15D-605F45CB9E9F}" type="datetime1">
              <a:rPr lang="en-US" smtClean="0"/>
              <a:t>03-Apr-26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1974174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667345-2558-425A-8533-9BFDBCE15005}" type="datetime1">
              <a:rPr lang="en-US" smtClean="0"/>
              <a:t>03-Apr-26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194621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D6E202-B606-4609-B914-27C9371A1F6D}" type="datetime1">
              <a:rPr lang="en-US" smtClean="0"/>
              <a:t>03-Apr-26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21308706"/>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907D986-8816-4272-A432-0437A28A9828}" type="datetime1">
              <a:rPr lang="en-US" smtClean="0"/>
              <a:t>03-Apr-26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386056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t>03-Apr-26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1699251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t>03-Apr-26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A98EE3D-8CD1-4C3F-BD1C-C98C9596463C}" type="slidenum">
              <a:rPr lang="en-US" smtClean="0"/>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35699187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2D6E202-B606-4609-B914-27C9371A1F6D}" type="datetime1">
              <a:rPr lang="en-US" smtClean="0"/>
              <a:t>03-Apr-26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97728024"/>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2D6E202-B606-4609-B914-27C9371A1F6D}" type="datetime1">
              <a:rPr lang="en-US" smtClean="0"/>
              <a:t>03-Apr-26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A98EE3D-8CD1-4C3F-BD1C-C98C9596463C}" type="slidenum">
              <a:rPr lang="en-US" smtClean="0"/>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890849600"/>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2D6E202-B606-4609-B914-27C9371A1F6D}" type="datetime1">
              <a:rPr lang="en-US" smtClean="0"/>
              <a:t>03-Apr-26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12014162"/>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D6E202-B606-4609-B914-27C9371A1F6D}" type="datetime1">
              <a:rPr lang="en-US" smtClean="0"/>
              <a:t>03-Apr-26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47133661"/>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D6E202-B606-4609-B914-27C9371A1F6D}" type="datetime1">
              <a:rPr lang="en-US" smtClean="0"/>
              <a:t>03-Apr-26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99851595"/>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62D6E202-B606-4609-B914-27C9371A1F6D}" type="datetime1">
              <a:rPr lang="en-US" smtClean="0"/>
              <a:t>03-Apr-26</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1513076634"/>
      </p:ext>
    </p:extLst>
  </p:cSld>
  <p:clrMap bg1="lt1" tx1="dk1" bg2="lt2" tx2="dk2" accent1="accent1" accent2="accent2" accent3="accent3" accent4="accent4" accent5="accent5" accent6="accent6" hlink="hlink" folHlink="folHlink"/>
  <p:sldLayoutIdLst>
    <p:sldLayoutId id="2147485276" r:id="rId1"/>
    <p:sldLayoutId id="2147485277" r:id="rId2"/>
    <p:sldLayoutId id="2147485278" r:id="rId3"/>
    <p:sldLayoutId id="2147485279" r:id="rId4"/>
    <p:sldLayoutId id="2147485280" r:id="rId5"/>
    <p:sldLayoutId id="2147485281" r:id="rId6"/>
    <p:sldLayoutId id="2147485282" r:id="rId7"/>
    <p:sldLayoutId id="2147485283" r:id="rId8"/>
    <p:sldLayoutId id="2147485284" r:id="rId9"/>
    <p:sldLayoutId id="2147485285" r:id="rId10"/>
    <p:sldLayoutId id="2147485286" r:id="rId11"/>
    <p:sldLayoutId id="2147485287" r:id="rId12"/>
    <p:sldLayoutId id="2147485288" r:id="rId13"/>
    <p:sldLayoutId id="2147485289" r:id="rId14"/>
    <p:sldLayoutId id="2147485290" r:id="rId15"/>
    <p:sldLayoutId id="2147485291" r:id="rId16"/>
  </p:sldLayoutIdLst>
  <p:hf sldNum="0"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17B2A-0E2D-D434-10BF-006654C1E693}"/>
            </a:ext>
          </a:extLst>
        </p:cNvPr>
        <p:cNvGrpSpPr/>
        <p:nvPr/>
      </p:nvGrpSpPr>
      <p:grpSpPr>
        <a:xfrm>
          <a:off x="0" y="0"/>
          <a:ext cx="0" cy="0"/>
          <a:chOff x="0" y="0"/>
          <a:chExt cx="0" cy="0"/>
        </a:xfrm>
      </p:grpSpPr>
      <p:sp>
        <p:nvSpPr>
          <p:cNvPr id="4" name="Title 10">
            <a:extLst>
              <a:ext uri="{FF2B5EF4-FFF2-40B4-BE49-F238E27FC236}">
                <a16:creationId xmlns:a16="http://schemas.microsoft.com/office/drawing/2014/main" id="{7CFF40A6-B916-D032-056E-1DBF911BBA0A}"/>
              </a:ext>
            </a:extLst>
          </p:cNvPr>
          <p:cNvSpPr txBox="1">
            <a:spLocks/>
          </p:cNvSpPr>
          <p:nvPr/>
        </p:nvSpPr>
        <p:spPr>
          <a:xfrm>
            <a:off x="1583436" y="457201"/>
            <a:ext cx="9025128" cy="156362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ts val="1000"/>
              </a:lnSpc>
              <a:spcBef>
                <a:spcPct val="0"/>
              </a:spcBef>
              <a:spcAft>
                <a:spcPts val="0"/>
              </a:spcAft>
              <a:buClrTx/>
              <a:buSzTx/>
              <a:buFontTx/>
              <a:buNone/>
              <a:tabLst/>
              <a:defRPr/>
            </a:pPr>
            <a:r>
              <a:rPr kumimoji="0" lang="en-US" sz="4400" b="1"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QUY TRÌNH QUẢN LÝ DỰ ÁN</a:t>
            </a:r>
            <a:br>
              <a:rPr kumimoji="0" lang="en-US" sz="4400" b="1"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br>
            <a:endParaRPr kumimoji="0" lang="en-US" sz="4400" b="1"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endParaRPr>
          </a:p>
          <a:p>
            <a:pPr marL="0" marR="0" lvl="0" indent="0" algn="ctr" defTabSz="914400" rtl="0" eaLnBrk="1" fontAlgn="auto" latinLnBrk="0" hangingPunct="1">
              <a:lnSpc>
                <a:spcPts val="1000"/>
              </a:lnSpc>
              <a:spcBef>
                <a:spcPct val="0"/>
              </a:spcBef>
              <a:spcAft>
                <a:spcPts val="0"/>
              </a:spcAft>
              <a:buClrTx/>
              <a:buSzTx/>
              <a:buFontTx/>
              <a:buNone/>
              <a:tabLst/>
              <a:defRPr/>
            </a:pPr>
            <a:endParaRPr kumimoji="0" lang="en-US" sz="3000" b="1"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endParaRPr>
          </a:p>
          <a:p>
            <a:pPr marL="0" marR="0" lvl="0" indent="0" algn="ctr" defTabSz="914400" rtl="0" eaLnBrk="1" fontAlgn="auto" latinLnBrk="0" hangingPunct="1">
              <a:lnSpc>
                <a:spcPts val="1000"/>
              </a:lnSpc>
              <a:spcBef>
                <a:spcPct val="0"/>
              </a:spcBef>
              <a:spcAft>
                <a:spcPts val="0"/>
              </a:spcAft>
              <a:buClrTx/>
              <a:buSzTx/>
              <a:buFontTx/>
              <a:buNone/>
              <a:tabLst/>
              <a:defRPr/>
            </a:pPr>
            <a:endParaRPr kumimoji="0" lang="en-US" sz="3000" b="1"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endParaRPr>
          </a:p>
          <a:p>
            <a:pPr marL="0" marR="0" lvl="0" indent="0" algn="ctr" defTabSz="914400" rtl="0" eaLnBrk="1" fontAlgn="auto" latinLnBrk="0" hangingPunct="1">
              <a:lnSpc>
                <a:spcPts val="1000"/>
              </a:lnSpc>
              <a:spcBef>
                <a:spcPct val="0"/>
              </a:spcBef>
              <a:spcAft>
                <a:spcPts val="0"/>
              </a:spcAft>
              <a:buClrTx/>
              <a:buSzTx/>
              <a:buFontTx/>
              <a:buNone/>
              <a:tabLst/>
              <a:defRPr/>
            </a:pPr>
            <a:r>
              <a:rPr kumimoji="0" lang="en-US" sz="3000" b="1"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GIAI ĐOẠN CHUẨN BỊ DỰ ÁN</a:t>
            </a:r>
          </a:p>
        </p:txBody>
      </p:sp>
      <p:sp>
        <p:nvSpPr>
          <p:cNvPr id="5" name="Title 10">
            <a:extLst>
              <a:ext uri="{FF2B5EF4-FFF2-40B4-BE49-F238E27FC236}">
                <a16:creationId xmlns:a16="http://schemas.microsoft.com/office/drawing/2014/main" id="{55784C29-07FB-9255-06E4-7CDC65FEAE51}"/>
              </a:ext>
            </a:extLst>
          </p:cNvPr>
          <p:cNvSpPr txBox="1">
            <a:spLocks/>
          </p:cNvSpPr>
          <p:nvPr/>
        </p:nvSpPr>
        <p:spPr>
          <a:xfrm>
            <a:off x="1289304" y="1865376"/>
            <a:ext cx="9491472" cy="392277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lnSpc>
                <a:spcPts val="1600"/>
              </a:lnSpc>
            </a:pPr>
            <a:r>
              <a:rPr lang="en-US" sz="1600" b="1" dirty="0">
                <a:latin typeface="Times New Roman" panose="02020603050405020304" pitchFamily="18" charset="0"/>
                <a:cs typeface="Times New Roman" panose="02020603050405020304" pitchFamily="18" charset="0"/>
              </a:rPr>
              <a:t>Theo Quy </a:t>
            </a:r>
            <a:r>
              <a:rPr lang="en-US" sz="1600" b="1" dirty="0" err="1">
                <a:latin typeface="Times New Roman" panose="02020603050405020304" pitchFamily="18" charset="0"/>
                <a:cs typeface="Times New Roman" panose="02020603050405020304" pitchFamily="18" charset="0"/>
              </a:rPr>
              <a:t>định</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tại</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điểm</a:t>
            </a:r>
            <a:r>
              <a:rPr lang="en-US" sz="1600" b="1" dirty="0">
                <a:latin typeface="Times New Roman" panose="02020603050405020304" pitchFamily="18" charset="0"/>
                <a:cs typeface="Times New Roman" panose="02020603050405020304" pitchFamily="18" charset="0"/>
              </a:rPr>
              <a:t> a, </a:t>
            </a:r>
            <a:r>
              <a:rPr lang="en-US" sz="1600" b="1" dirty="0" err="1">
                <a:latin typeface="Times New Roman" panose="02020603050405020304" pitchFamily="18" charset="0"/>
                <a:cs typeface="Times New Roman" panose="02020603050405020304" pitchFamily="18" charset="0"/>
              </a:rPr>
              <a:t>khoản</a:t>
            </a:r>
            <a:r>
              <a:rPr lang="en-US" sz="1600" b="1" dirty="0">
                <a:latin typeface="Times New Roman" panose="02020603050405020304" pitchFamily="18" charset="0"/>
                <a:cs typeface="Times New Roman" panose="02020603050405020304" pitchFamily="18" charset="0"/>
              </a:rPr>
              <a:t> 1, </a:t>
            </a:r>
            <a:r>
              <a:rPr lang="en-US" sz="1600" b="1" dirty="0" err="1">
                <a:latin typeface="Times New Roman" panose="02020603050405020304" pitchFamily="18" charset="0"/>
                <a:cs typeface="Times New Roman" panose="02020603050405020304" pitchFamily="18" charset="0"/>
              </a:rPr>
              <a:t>Điều</a:t>
            </a:r>
            <a:r>
              <a:rPr lang="en-US" sz="1600" b="1" dirty="0">
                <a:latin typeface="Times New Roman" panose="02020603050405020304" pitchFamily="18" charset="0"/>
                <a:cs typeface="Times New Roman" panose="02020603050405020304" pitchFamily="18" charset="0"/>
              </a:rPr>
              <a:t> 4, Nghị </a:t>
            </a:r>
            <a:r>
              <a:rPr lang="en-US" sz="1600" b="1" dirty="0" err="1">
                <a:latin typeface="Times New Roman" panose="02020603050405020304" pitchFamily="18" charset="0"/>
                <a:cs typeface="Times New Roman" panose="02020603050405020304" pitchFamily="18" charset="0"/>
              </a:rPr>
              <a:t>định</a:t>
            </a:r>
            <a:r>
              <a:rPr lang="en-US" sz="1600" b="1" dirty="0">
                <a:latin typeface="Times New Roman" panose="02020603050405020304" pitchFamily="18" charset="0"/>
                <a:cs typeface="Times New Roman" panose="02020603050405020304" pitchFamily="18" charset="0"/>
              </a:rPr>
              <a:t> 175/2024/NĐ-CP </a:t>
            </a:r>
            <a:r>
              <a:rPr lang="en-US" sz="1600" b="1" dirty="0" err="1">
                <a:latin typeface="Times New Roman" panose="02020603050405020304" pitchFamily="18" charset="0"/>
                <a:cs typeface="Times New Roman" panose="02020603050405020304" pitchFamily="18" charset="0"/>
              </a:rPr>
              <a:t>ngày</a:t>
            </a:r>
            <a:r>
              <a:rPr lang="en-US" sz="1600" b="1" dirty="0">
                <a:latin typeface="Times New Roman" panose="02020603050405020304" pitchFamily="18" charset="0"/>
                <a:cs typeface="Times New Roman" panose="02020603050405020304" pitchFamily="18" charset="0"/>
              </a:rPr>
              <a:t> 30/12/2024, </a:t>
            </a:r>
            <a:r>
              <a:rPr lang="vi-VN" sz="1600" b="1" dirty="0">
                <a:latin typeface="Times New Roman" panose="02020603050405020304" pitchFamily="18" charset="0"/>
                <a:cs typeface="Times New Roman" panose="02020603050405020304" pitchFamily="18" charset="0"/>
              </a:rPr>
              <a:t>Giai đoạn chuẩn bị dự án gồm các công việc</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sau</a:t>
            </a:r>
            <a:r>
              <a:rPr lang="vi-VN" sz="1600" b="1" dirty="0">
                <a:latin typeface="Times New Roman" panose="02020603050405020304" pitchFamily="18" charset="0"/>
                <a:cs typeface="Times New Roman" panose="02020603050405020304" pitchFamily="18" charset="0"/>
              </a:rPr>
              <a:t>: </a:t>
            </a:r>
            <a:endParaRPr lang="en-US" sz="1600" b="1" dirty="0">
              <a:latin typeface="Times New Roman" panose="02020603050405020304" pitchFamily="18" charset="0"/>
              <a:cs typeface="Times New Roman" panose="02020603050405020304" pitchFamily="18" charset="0"/>
            </a:endParaRPr>
          </a:p>
          <a:p>
            <a:pPr lvl="0">
              <a:lnSpc>
                <a:spcPts val="1600"/>
              </a:lnSpc>
            </a:pPr>
            <a:endParaRPr lang="en-US" sz="1600" b="1" dirty="0">
              <a:latin typeface="Times New Roman" panose="02020603050405020304" pitchFamily="18" charset="0"/>
              <a:cs typeface="Times New Roman" panose="02020603050405020304" pitchFamily="18" charset="0"/>
            </a:endParaRPr>
          </a:p>
          <a:p>
            <a:pPr lvl="0">
              <a:lnSpc>
                <a:spcPts val="3000"/>
              </a:lnSpc>
            </a:pPr>
            <a:r>
              <a:rPr lang="en-US" sz="1600" dirty="0">
                <a:latin typeface="Times New Roman" panose="02020603050405020304" pitchFamily="18" charset="0"/>
                <a:cs typeface="Times New Roman" panose="02020603050405020304" pitchFamily="18" charset="0"/>
              </a:rPr>
              <a:t>1. L</a:t>
            </a:r>
            <a:r>
              <a:rPr lang="vi-VN" sz="1600" dirty="0">
                <a:latin typeface="Times New Roman" panose="02020603050405020304" pitchFamily="18" charset="0"/>
                <a:cs typeface="Times New Roman" panose="02020603050405020304" pitchFamily="18" charset="0"/>
              </a:rPr>
              <a:t>ập đề xuất chương trình, dự án sử dụng vốn vay ODA và vốn vay ưu đãi nước ngoài (nếu có); </a:t>
            </a:r>
            <a:endParaRPr lang="en-US" sz="1600" dirty="0">
              <a:latin typeface="Times New Roman" panose="02020603050405020304" pitchFamily="18" charset="0"/>
              <a:cs typeface="Times New Roman" panose="02020603050405020304" pitchFamily="18" charset="0"/>
            </a:endParaRPr>
          </a:p>
          <a:p>
            <a:pPr lvl="0">
              <a:lnSpc>
                <a:spcPts val="3000"/>
              </a:lnSpc>
            </a:pPr>
            <a:r>
              <a:rPr lang="en-US" sz="1600" dirty="0">
                <a:latin typeface="Times New Roman" panose="02020603050405020304" pitchFamily="18" charset="0"/>
                <a:cs typeface="Times New Roman" panose="02020603050405020304" pitchFamily="18" charset="0"/>
              </a:rPr>
              <a:t>2. L</a:t>
            </a:r>
            <a:r>
              <a:rPr lang="vi-VN" sz="1600" dirty="0">
                <a:latin typeface="Times New Roman" panose="02020603050405020304" pitchFamily="18" charset="0"/>
                <a:cs typeface="Times New Roman" panose="02020603050405020304" pitchFamily="18" charset="0"/>
              </a:rPr>
              <a:t>ập, thẩm định Báo cáo nghiên cứu tiền khả thi đầu tư xây dựng hoặc Báo cáo đề xuất chủ trương đầu tư để quyết định hoặc chấp thuận chủ trương đầu tư (nếu có); </a:t>
            </a:r>
            <a:endParaRPr lang="en-US" sz="1600" dirty="0">
              <a:latin typeface="Times New Roman" panose="02020603050405020304" pitchFamily="18" charset="0"/>
              <a:cs typeface="Times New Roman" panose="02020603050405020304" pitchFamily="18" charset="0"/>
            </a:endParaRPr>
          </a:p>
          <a:p>
            <a:pPr lvl="0">
              <a:lnSpc>
                <a:spcPts val="3000"/>
              </a:lnSpc>
            </a:pPr>
            <a:r>
              <a:rPr lang="en-US" sz="1600" dirty="0">
                <a:latin typeface="Times New Roman" panose="02020603050405020304" pitchFamily="18" charset="0"/>
                <a:cs typeface="Times New Roman" panose="02020603050405020304" pitchFamily="18" charset="0"/>
              </a:rPr>
              <a:t>3. K</a:t>
            </a:r>
            <a:r>
              <a:rPr lang="vi-VN" sz="1600" dirty="0">
                <a:latin typeface="Times New Roman" panose="02020603050405020304" pitchFamily="18" charset="0"/>
                <a:cs typeface="Times New Roman" panose="02020603050405020304" pitchFamily="18" charset="0"/>
              </a:rPr>
              <a:t>hảo sát xây dựng phục vụ lập dự án; </a:t>
            </a:r>
            <a:endParaRPr lang="en-US" sz="1600" dirty="0">
              <a:latin typeface="Times New Roman" panose="02020603050405020304" pitchFamily="18" charset="0"/>
              <a:cs typeface="Times New Roman" panose="02020603050405020304" pitchFamily="18" charset="0"/>
            </a:endParaRPr>
          </a:p>
          <a:p>
            <a:pPr lvl="0">
              <a:lnSpc>
                <a:spcPts val="3000"/>
              </a:lnSpc>
            </a:pPr>
            <a:r>
              <a:rPr lang="en-US" sz="1600" dirty="0">
                <a:latin typeface="Times New Roman" panose="02020603050405020304" pitchFamily="18" charset="0"/>
                <a:cs typeface="Times New Roman" panose="02020603050405020304" pitchFamily="18" charset="0"/>
              </a:rPr>
              <a:t>4. L</a:t>
            </a:r>
            <a:r>
              <a:rPr lang="vi-VN" sz="1600" dirty="0">
                <a:latin typeface="Times New Roman" panose="02020603050405020304" pitchFamily="18" charset="0"/>
                <a:cs typeface="Times New Roman" panose="02020603050405020304" pitchFamily="18" charset="0"/>
              </a:rPr>
              <a:t>ập, thẩm định, phê duyệt quy hoạch xây dựng làm cơ sở lập dự án; </a:t>
            </a:r>
            <a:endParaRPr lang="en-US" sz="1600" dirty="0">
              <a:latin typeface="Times New Roman" panose="02020603050405020304" pitchFamily="18" charset="0"/>
              <a:cs typeface="Times New Roman" panose="02020603050405020304" pitchFamily="18" charset="0"/>
            </a:endParaRPr>
          </a:p>
          <a:p>
            <a:pPr lvl="0">
              <a:lnSpc>
                <a:spcPts val="3000"/>
              </a:lnSpc>
            </a:pPr>
            <a:r>
              <a:rPr lang="en-US" sz="1600" dirty="0">
                <a:latin typeface="Times New Roman" panose="02020603050405020304" pitchFamily="18" charset="0"/>
                <a:cs typeface="Times New Roman" panose="02020603050405020304" pitchFamily="18" charset="0"/>
              </a:rPr>
              <a:t>5. L</a:t>
            </a:r>
            <a:r>
              <a:rPr lang="vi-VN" sz="1600" dirty="0">
                <a:latin typeface="Times New Roman" panose="02020603050405020304" pitchFamily="18" charset="0"/>
                <a:cs typeface="Times New Roman" panose="02020603050405020304" pitchFamily="18" charset="0"/>
              </a:rPr>
              <a:t>ập, thẩm định Báo cáo nghiên cứu khả thi đầu tư xây dựng hoặc Báo cáo kinh tế - kỹ thuật đầu tư xây dựng để phê duyệt dự án, quyết định đầu tư xây dựng; </a:t>
            </a:r>
            <a:endParaRPr lang="en-US" sz="1600" dirty="0">
              <a:latin typeface="Times New Roman" panose="02020603050405020304" pitchFamily="18" charset="0"/>
              <a:cs typeface="Times New Roman" panose="02020603050405020304" pitchFamily="18" charset="0"/>
            </a:endParaRPr>
          </a:p>
          <a:p>
            <a:pPr lvl="0">
              <a:lnSpc>
                <a:spcPts val="3000"/>
              </a:lnSpc>
            </a:pPr>
            <a:r>
              <a:rPr lang="en-US" sz="1600" dirty="0">
                <a:latin typeface="Times New Roman" panose="02020603050405020304" pitchFamily="18" charset="0"/>
                <a:cs typeface="Times New Roman" panose="02020603050405020304" pitchFamily="18" charset="0"/>
              </a:rPr>
              <a:t>6. C</a:t>
            </a:r>
            <a:r>
              <a:rPr lang="vi-VN" sz="1600" dirty="0">
                <a:latin typeface="Times New Roman" panose="02020603050405020304" pitchFamily="18" charset="0"/>
                <a:cs typeface="Times New Roman" panose="02020603050405020304" pitchFamily="18" charset="0"/>
              </a:rPr>
              <a:t>ác công việc cần thiết khác liên quan đến chuẩn bị dự án</a:t>
            </a:r>
            <a:r>
              <a:rPr lang="en-US" sz="1600" dirty="0">
                <a:latin typeface="Times New Roman" panose="02020603050405020304" pitchFamily="18" charset="0"/>
                <a:cs typeface="Times New Roman" panose="02020603050405020304" pitchFamily="18" charset="0"/>
              </a:rPr>
              <a:t>.</a:t>
            </a:r>
            <a:endPar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31414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0">
            <a:extLst>
              <a:ext uri="{FF2B5EF4-FFF2-40B4-BE49-F238E27FC236}">
                <a16:creationId xmlns:a16="http://schemas.microsoft.com/office/drawing/2014/main" id="{6993F89E-3652-1644-1EEF-2917A7B702CD}"/>
              </a:ext>
            </a:extLst>
          </p:cNvPr>
          <p:cNvSpPr txBox="1">
            <a:spLocks/>
          </p:cNvSpPr>
          <p:nvPr/>
        </p:nvSpPr>
        <p:spPr>
          <a:xfrm>
            <a:off x="1290828" y="155448"/>
            <a:ext cx="9025128" cy="3291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defTabSz="914400" rtl="0" eaLnBrk="1" fontAlgn="auto" latinLnBrk="0" hangingPunct="1">
              <a:lnSpc>
                <a:spcPts val="1000"/>
              </a:lnSpc>
              <a:spcBef>
                <a:spcPct val="0"/>
              </a:spcBef>
              <a:spcAft>
                <a:spcPts val="0"/>
              </a:spcAft>
              <a:buClrTx/>
              <a:buSzTx/>
              <a:buFontTx/>
              <a:buNone/>
              <a:tabLst/>
              <a:defRPr/>
            </a:pPr>
            <a:r>
              <a:rPr kumimoji="0" lang="en-US" sz="1500" b="1"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Các </a:t>
            </a:r>
            <a:r>
              <a:rPr kumimoji="0" lang="en-US" sz="1500" b="1" i="0" u="none" strike="noStrike" kern="1200" cap="none" spc="0" normalizeH="0" baseline="0" noProof="0" dirty="0" err="1">
                <a:ln>
                  <a:noFill/>
                </a:ln>
                <a:solidFill>
                  <a:prstClr val="black"/>
                </a:solidFill>
                <a:effectLst/>
                <a:uLnTx/>
                <a:uFillTx/>
                <a:latin typeface="Times New Roman" panose="02020603050405020304" pitchFamily="18" charset="0"/>
                <a:ea typeface="+mj-ea"/>
                <a:cs typeface="Times New Roman" panose="02020603050405020304" pitchFamily="18" charset="0"/>
              </a:rPr>
              <a:t>căn</a:t>
            </a:r>
            <a:r>
              <a:rPr kumimoji="0" lang="en-US" sz="1500" b="1"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 </a:t>
            </a:r>
            <a:r>
              <a:rPr kumimoji="0" lang="en-US" sz="1500" b="1" i="0" u="none" strike="noStrike" kern="1200" cap="none" spc="0" normalizeH="0" baseline="0" noProof="0" dirty="0" err="1">
                <a:ln>
                  <a:noFill/>
                </a:ln>
                <a:solidFill>
                  <a:prstClr val="black"/>
                </a:solidFill>
                <a:effectLst/>
                <a:uLnTx/>
                <a:uFillTx/>
                <a:latin typeface="Times New Roman" panose="02020603050405020304" pitchFamily="18" charset="0"/>
                <a:ea typeface="+mj-ea"/>
                <a:cs typeface="Times New Roman" panose="02020603050405020304" pitchFamily="18" charset="0"/>
              </a:rPr>
              <a:t>cứ</a:t>
            </a:r>
            <a:r>
              <a:rPr kumimoji="0" lang="en-US" sz="1500" b="1"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 </a:t>
            </a:r>
            <a:r>
              <a:rPr kumimoji="0" lang="en-US" sz="1500" b="1" i="0" u="none" strike="noStrike" kern="1200" cap="none" spc="0" normalizeH="0" baseline="0" noProof="0" dirty="0" err="1">
                <a:ln>
                  <a:noFill/>
                </a:ln>
                <a:solidFill>
                  <a:prstClr val="black"/>
                </a:solidFill>
                <a:effectLst/>
                <a:uLnTx/>
                <a:uFillTx/>
                <a:latin typeface="Times New Roman" panose="02020603050405020304" pitchFamily="18" charset="0"/>
                <a:ea typeface="+mj-ea"/>
                <a:cs typeface="Times New Roman" panose="02020603050405020304" pitchFamily="18" charset="0"/>
              </a:rPr>
              <a:t>pháp</a:t>
            </a:r>
            <a:r>
              <a:rPr kumimoji="0" lang="en-US" sz="1500" b="1"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 </a:t>
            </a:r>
            <a:r>
              <a:rPr kumimoji="0" lang="en-US" sz="1500" b="1" i="0" u="none" strike="noStrike" kern="1200" cap="none" spc="0" normalizeH="0" baseline="0" noProof="0" dirty="0" err="1">
                <a:ln>
                  <a:noFill/>
                </a:ln>
                <a:solidFill>
                  <a:prstClr val="black"/>
                </a:solidFill>
                <a:effectLst/>
                <a:uLnTx/>
                <a:uFillTx/>
                <a:latin typeface="Times New Roman" panose="02020603050405020304" pitchFamily="18" charset="0"/>
                <a:ea typeface="+mj-ea"/>
                <a:cs typeface="Times New Roman" panose="02020603050405020304" pitchFamily="18" charset="0"/>
              </a:rPr>
              <a:t>lý</a:t>
            </a:r>
            <a:endParaRPr kumimoji="0" lang="en-US" sz="4400" b="1"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endParaRPr>
          </a:p>
        </p:txBody>
      </p:sp>
      <p:graphicFrame>
        <p:nvGraphicFramePr>
          <p:cNvPr id="2" name="Table 1">
            <a:extLst>
              <a:ext uri="{FF2B5EF4-FFF2-40B4-BE49-F238E27FC236}">
                <a16:creationId xmlns:a16="http://schemas.microsoft.com/office/drawing/2014/main" id="{E79A08A5-75B0-3FF0-30D8-7EB9F32E31D6}"/>
              </a:ext>
            </a:extLst>
          </p:cNvPr>
          <p:cNvGraphicFramePr>
            <a:graphicFrameLocks noGrp="1"/>
          </p:cNvGraphicFramePr>
          <p:nvPr>
            <p:extLst>
              <p:ext uri="{D42A27DB-BD31-4B8C-83A1-F6EECF244321}">
                <p14:modId xmlns:p14="http://schemas.microsoft.com/office/powerpoint/2010/main" val="2008301791"/>
              </p:ext>
            </p:extLst>
          </p:nvPr>
        </p:nvGraphicFramePr>
        <p:xfrm>
          <a:off x="1042416" y="566928"/>
          <a:ext cx="10351007" cy="5452869"/>
        </p:xfrm>
        <a:graphic>
          <a:graphicData uri="http://schemas.openxmlformats.org/drawingml/2006/table">
            <a:tbl>
              <a:tblPr/>
              <a:tblGrid>
                <a:gridCol w="383369">
                  <a:extLst>
                    <a:ext uri="{9D8B030D-6E8A-4147-A177-3AD203B41FA5}">
                      <a16:colId xmlns:a16="http://schemas.microsoft.com/office/drawing/2014/main" val="2337352604"/>
                    </a:ext>
                  </a:extLst>
                </a:gridCol>
                <a:gridCol w="8050784">
                  <a:extLst>
                    <a:ext uri="{9D8B030D-6E8A-4147-A177-3AD203B41FA5}">
                      <a16:colId xmlns:a16="http://schemas.microsoft.com/office/drawing/2014/main" val="3107672923"/>
                    </a:ext>
                  </a:extLst>
                </a:gridCol>
                <a:gridCol w="1916854">
                  <a:extLst>
                    <a:ext uri="{9D8B030D-6E8A-4147-A177-3AD203B41FA5}">
                      <a16:colId xmlns:a16="http://schemas.microsoft.com/office/drawing/2014/main" val="435187211"/>
                    </a:ext>
                  </a:extLst>
                </a:gridCol>
              </a:tblGrid>
              <a:tr h="237081">
                <a:tc>
                  <a:txBody>
                    <a:bodyPr/>
                    <a:lstStyle/>
                    <a:p>
                      <a:pPr algn="ctr" fontAlgn="ctr"/>
                      <a:r>
                        <a:rPr lang="en-US" sz="1400" b="1" i="0" u="none" strike="noStrike" dirty="0" err="1">
                          <a:solidFill>
                            <a:srgbClr val="000000"/>
                          </a:solidFill>
                          <a:effectLst/>
                          <a:latin typeface="Times New Roman" panose="02020603050405020304" pitchFamily="18" charset="0"/>
                        </a:rPr>
                        <a:t>Stt</a:t>
                      </a:r>
                      <a:endParaRPr lang="en-US" sz="1400" b="1" i="0" u="none" strike="noStrike" dirty="0">
                        <a:solidFill>
                          <a:srgbClr val="000000"/>
                        </a:solidFill>
                        <a:effectLst/>
                        <a:latin typeface="Times New Roman" panose="02020603050405020304" pitchFamily="18" charset="0"/>
                      </a:endParaRPr>
                    </a:p>
                  </a:txBody>
                  <a:tcPr marL="6759" marR="6759"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0000"/>
                          </a:solidFill>
                          <a:effectLst/>
                          <a:latin typeface="Times New Roman" panose="02020603050405020304" pitchFamily="18" charset="0"/>
                        </a:rPr>
                        <a:t>Văn bản pháp luật</a:t>
                      </a:r>
                    </a:p>
                  </a:txBody>
                  <a:tcPr marL="6759" marR="6759"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0000"/>
                          </a:solidFill>
                          <a:effectLst/>
                          <a:latin typeface="Times New Roman" panose="02020603050405020304" pitchFamily="18" charset="0"/>
                        </a:rPr>
                        <a:t>Chữ viết tắt</a:t>
                      </a:r>
                    </a:p>
                  </a:txBody>
                  <a:tcPr marL="6759" marR="6759"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8901378"/>
                  </a:ext>
                </a:extLst>
              </a:tr>
              <a:tr h="237081">
                <a:tc>
                  <a:txBody>
                    <a:bodyPr/>
                    <a:lstStyle/>
                    <a:p>
                      <a:pPr algn="ctr" fontAlgn="ctr"/>
                      <a:r>
                        <a:rPr lang="en-US" sz="1400" b="0" i="0" u="none" strike="noStrike">
                          <a:solidFill>
                            <a:srgbClr val="000000"/>
                          </a:solidFill>
                          <a:effectLst/>
                          <a:latin typeface="Times New Roman" panose="02020603050405020304" pitchFamily="18" charset="0"/>
                        </a:rPr>
                        <a:t>1</a:t>
                      </a:r>
                    </a:p>
                  </a:txBody>
                  <a:tcPr marL="6759" marR="6759"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400" b="0" i="0" u="none" strike="noStrike" dirty="0">
                          <a:solidFill>
                            <a:srgbClr val="000000"/>
                          </a:solidFill>
                          <a:effectLst/>
                          <a:latin typeface="Times New Roman" panose="02020603050405020304" pitchFamily="18" charset="0"/>
                        </a:rPr>
                        <a:t>Luật Đầu tư công số 58/2024/QH15 </a:t>
                      </a:r>
                    </a:p>
                  </a:txBody>
                  <a:tcPr marL="6759" marR="6759"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a:solidFill>
                            <a:srgbClr val="000000"/>
                          </a:solidFill>
                          <a:effectLst/>
                          <a:latin typeface="Times New Roman" panose="02020603050405020304" pitchFamily="18" charset="0"/>
                        </a:rPr>
                        <a:t>Luật ĐTC số 58</a:t>
                      </a:r>
                    </a:p>
                  </a:txBody>
                  <a:tcPr marL="6759" marR="6759"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465832"/>
                  </a:ext>
                </a:extLst>
              </a:tr>
              <a:tr h="237081">
                <a:tc>
                  <a:txBody>
                    <a:bodyPr/>
                    <a:lstStyle/>
                    <a:p>
                      <a:pPr algn="ctr" fontAlgn="ctr"/>
                      <a:r>
                        <a:rPr lang="en-US" sz="1400" b="0" i="0" u="none" strike="noStrike">
                          <a:solidFill>
                            <a:srgbClr val="000000"/>
                          </a:solidFill>
                          <a:effectLst/>
                          <a:latin typeface="Times New Roman" panose="02020603050405020304" pitchFamily="18" charset="0"/>
                        </a:rPr>
                        <a:t>2</a:t>
                      </a:r>
                    </a:p>
                  </a:txBody>
                  <a:tcPr marL="6759" marR="6759"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400" b="0" i="0" u="none" strike="noStrike">
                          <a:solidFill>
                            <a:srgbClr val="000000"/>
                          </a:solidFill>
                          <a:effectLst/>
                          <a:latin typeface="Times New Roman" panose="02020603050405020304" pitchFamily="18" charset="0"/>
                        </a:rPr>
                        <a:t>Luật Đấu thầu năm 2023 </a:t>
                      </a:r>
                    </a:p>
                  </a:txBody>
                  <a:tcPr marL="6759" marR="6759"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a:solidFill>
                            <a:srgbClr val="000000"/>
                          </a:solidFill>
                          <a:effectLst/>
                          <a:latin typeface="Times New Roman" panose="02020603050405020304" pitchFamily="18" charset="0"/>
                        </a:rPr>
                        <a:t>Luật ĐT năm 2013</a:t>
                      </a:r>
                    </a:p>
                  </a:txBody>
                  <a:tcPr marL="6759" marR="6759"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3442207"/>
                  </a:ext>
                </a:extLst>
              </a:tr>
              <a:tr h="474162">
                <a:tc>
                  <a:txBody>
                    <a:bodyPr/>
                    <a:lstStyle/>
                    <a:p>
                      <a:pPr algn="ctr" fontAlgn="ctr"/>
                      <a:r>
                        <a:rPr lang="en-US" sz="1400" b="0" i="0" u="none" strike="noStrike">
                          <a:solidFill>
                            <a:srgbClr val="000000"/>
                          </a:solidFill>
                          <a:effectLst/>
                          <a:latin typeface="Times New Roman" panose="02020603050405020304" pitchFamily="18" charset="0"/>
                        </a:rPr>
                        <a:t>3</a:t>
                      </a:r>
                    </a:p>
                  </a:txBody>
                  <a:tcPr marL="6759" marR="6759"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400" b="0" i="0" u="none" strike="noStrike" dirty="0" err="1">
                          <a:solidFill>
                            <a:srgbClr val="000000"/>
                          </a:solidFill>
                          <a:effectLst/>
                          <a:latin typeface="Times New Roman" panose="02020603050405020304" pitchFamily="18" charset="0"/>
                        </a:rPr>
                        <a:t>Luật</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số</a:t>
                      </a:r>
                      <a:r>
                        <a:rPr lang="en-US" sz="1400" b="0" i="0" u="none" strike="noStrike" dirty="0">
                          <a:solidFill>
                            <a:srgbClr val="000000"/>
                          </a:solidFill>
                          <a:effectLst/>
                          <a:latin typeface="Times New Roman" panose="02020603050405020304" pitchFamily="18" charset="0"/>
                        </a:rPr>
                        <a:t> 57/2024/QH15 </a:t>
                      </a:r>
                      <a:r>
                        <a:rPr lang="en-US" sz="1400" b="0" i="0" u="none" strike="noStrike" dirty="0" err="1">
                          <a:solidFill>
                            <a:srgbClr val="000000"/>
                          </a:solidFill>
                          <a:effectLst/>
                          <a:latin typeface="Times New Roman" panose="02020603050405020304" pitchFamily="18" charset="0"/>
                        </a:rPr>
                        <a:t>ngày</a:t>
                      </a:r>
                      <a:r>
                        <a:rPr lang="en-US" sz="1400" b="0" i="0" u="none" strike="noStrike" dirty="0">
                          <a:solidFill>
                            <a:srgbClr val="000000"/>
                          </a:solidFill>
                          <a:effectLst/>
                          <a:latin typeface="Times New Roman" panose="02020603050405020304" pitchFamily="18" charset="0"/>
                        </a:rPr>
                        <a:t> 29 </a:t>
                      </a:r>
                      <a:r>
                        <a:rPr lang="en-US" sz="1400" b="0" i="0" u="none" strike="noStrike" dirty="0" err="1">
                          <a:solidFill>
                            <a:srgbClr val="000000"/>
                          </a:solidFill>
                          <a:effectLst/>
                          <a:latin typeface="Times New Roman" panose="02020603050405020304" pitchFamily="18" charset="0"/>
                        </a:rPr>
                        <a:t>tháng</a:t>
                      </a:r>
                      <a:r>
                        <a:rPr lang="en-US" sz="1400" b="0" i="0" u="none" strike="noStrike" dirty="0">
                          <a:solidFill>
                            <a:srgbClr val="000000"/>
                          </a:solidFill>
                          <a:effectLst/>
                          <a:latin typeface="Times New Roman" panose="02020603050405020304" pitchFamily="18" charset="0"/>
                        </a:rPr>
                        <a:t> 11 </a:t>
                      </a:r>
                      <a:r>
                        <a:rPr lang="en-US" sz="1400" b="0" i="0" u="none" strike="noStrike" dirty="0" err="1">
                          <a:solidFill>
                            <a:srgbClr val="000000"/>
                          </a:solidFill>
                          <a:effectLst/>
                          <a:latin typeface="Times New Roman" panose="02020603050405020304" pitchFamily="18" charset="0"/>
                        </a:rPr>
                        <a:t>năm</a:t>
                      </a:r>
                      <a:r>
                        <a:rPr lang="en-US" sz="1400" b="0" i="0" u="none" strike="noStrike" dirty="0">
                          <a:solidFill>
                            <a:srgbClr val="000000"/>
                          </a:solidFill>
                          <a:effectLst/>
                          <a:latin typeface="Times New Roman" panose="02020603050405020304" pitchFamily="18" charset="0"/>
                        </a:rPr>
                        <a:t> 2024 </a:t>
                      </a:r>
                      <a:r>
                        <a:rPr lang="en-US" sz="1400" b="0" i="0" u="none" strike="noStrike" dirty="0" err="1">
                          <a:solidFill>
                            <a:srgbClr val="000000"/>
                          </a:solidFill>
                          <a:effectLst/>
                          <a:latin typeface="Times New Roman" panose="02020603050405020304" pitchFamily="18" charset="0"/>
                        </a:rPr>
                        <a:t>của</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Quốc</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hội</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sửa</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đổi</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bổ</a:t>
                      </a:r>
                      <a:r>
                        <a:rPr lang="en-US" sz="1400" b="0" i="0" u="none" strike="noStrike" dirty="0">
                          <a:solidFill>
                            <a:srgbClr val="000000"/>
                          </a:solidFill>
                          <a:effectLst/>
                          <a:latin typeface="Times New Roman" panose="02020603050405020304" pitchFamily="18" charset="0"/>
                        </a:rPr>
                        <a:t> sung </a:t>
                      </a:r>
                      <a:r>
                        <a:rPr lang="en-US" sz="1400" b="0" i="0" u="none" strike="noStrike" dirty="0" err="1">
                          <a:solidFill>
                            <a:srgbClr val="000000"/>
                          </a:solidFill>
                          <a:effectLst/>
                          <a:latin typeface="Times New Roman" panose="02020603050405020304" pitchFamily="18" charset="0"/>
                        </a:rPr>
                        <a:t>một</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số</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điều</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của</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Luật</a:t>
                      </a:r>
                      <a:r>
                        <a:rPr lang="en-US" sz="1400" b="0" i="0" u="none" strike="noStrike" dirty="0">
                          <a:solidFill>
                            <a:srgbClr val="000000"/>
                          </a:solidFill>
                          <a:effectLst/>
                          <a:latin typeface="Times New Roman" panose="02020603050405020304" pitchFamily="18" charset="0"/>
                        </a:rPr>
                        <a:t> Quy </a:t>
                      </a:r>
                      <a:r>
                        <a:rPr lang="en-US" sz="1400" b="0" i="0" u="none" strike="noStrike" dirty="0" err="1">
                          <a:solidFill>
                            <a:srgbClr val="000000"/>
                          </a:solidFill>
                          <a:effectLst/>
                          <a:latin typeface="Times New Roman" panose="02020603050405020304" pitchFamily="18" charset="0"/>
                        </a:rPr>
                        <a:t>hoạch</a:t>
                      </a:r>
                      <a:r>
                        <a:rPr lang="en-US" sz="1400" b="0" i="0" u="none" strike="noStrike" dirty="0">
                          <a:solidFill>
                            <a:srgbClr val="000000"/>
                          </a:solidFill>
                          <a:effectLst/>
                          <a:latin typeface="Times New Roman" panose="02020603050405020304" pitchFamily="18" charset="0"/>
                        </a:rPr>
                        <a:t>,…</a:t>
                      </a:r>
                      <a:r>
                        <a:rPr lang="en-US" sz="1400" b="0" i="0" u="none" strike="noStrike" dirty="0" err="1">
                          <a:solidFill>
                            <a:srgbClr val="000000"/>
                          </a:solidFill>
                          <a:effectLst/>
                          <a:latin typeface="Times New Roman" panose="02020603050405020304" pitchFamily="18" charset="0"/>
                        </a:rPr>
                        <a:t>và</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luật</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Đấu</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thầu</a:t>
                      </a:r>
                      <a:r>
                        <a:rPr lang="en-US" sz="1400" b="0" i="0" u="none" strike="noStrike" dirty="0">
                          <a:solidFill>
                            <a:srgbClr val="000000"/>
                          </a:solidFill>
                          <a:effectLst/>
                          <a:latin typeface="Times New Roman" panose="02020603050405020304" pitchFamily="18" charset="0"/>
                        </a:rPr>
                        <a:t>.</a:t>
                      </a:r>
                    </a:p>
                  </a:txBody>
                  <a:tcPr marL="6759" marR="6759"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a:solidFill>
                            <a:srgbClr val="000000"/>
                          </a:solidFill>
                          <a:effectLst/>
                          <a:latin typeface="Times New Roman" panose="02020603050405020304" pitchFamily="18" charset="0"/>
                        </a:rPr>
                        <a:t>Luật số 57</a:t>
                      </a:r>
                    </a:p>
                  </a:txBody>
                  <a:tcPr marL="6759" marR="6759"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63061677"/>
                  </a:ext>
                </a:extLst>
              </a:tr>
              <a:tr h="474162">
                <a:tc>
                  <a:txBody>
                    <a:bodyPr/>
                    <a:lstStyle/>
                    <a:p>
                      <a:pPr algn="ctr" fontAlgn="ctr"/>
                      <a:r>
                        <a:rPr lang="en-US" sz="1400" b="0" i="0" u="none" strike="noStrike">
                          <a:solidFill>
                            <a:srgbClr val="000000"/>
                          </a:solidFill>
                          <a:effectLst/>
                          <a:latin typeface="Times New Roman" panose="02020603050405020304" pitchFamily="18" charset="0"/>
                        </a:rPr>
                        <a:t>4</a:t>
                      </a:r>
                    </a:p>
                  </a:txBody>
                  <a:tcPr marL="6759" marR="6759"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400" b="0" i="0" u="none" strike="noStrike" dirty="0" err="1">
                          <a:solidFill>
                            <a:srgbClr val="000000"/>
                          </a:solidFill>
                          <a:effectLst/>
                          <a:latin typeface="Times New Roman" panose="02020603050405020304" pitchFamily="18" charset="0"/>
                        </a:rPr>
                        <a:t>Luật</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số</a:t>
                      </a:r>
                      <a:r>
                        <a:rPr lang="en-US" sz="1400" b="0" i="0" u="none" strike="noStrike" dirty="0">
                          <a:solidFill>
                            <a:srgbClr val="000000"/>
                          </a:solidFill>
                          <a:effectLst/>
                          <a:latin typeface="Times New Roman" panose="02020603050405020304" pitchFamily="18" charset="0"/>
                        </a:rPr>
                        <a:t> 90/2025/QH15 </a:t>
                      </a:r>
                      <a:r>
                        <a:rPr lang="en-US" sz="1400" b="0" i="0" u="none" strike="noStrike" dirty="0" err="1">
                          <a:solidFill>
                            <a:srgbClr val="000000"/>
                          </a:solidFill>
                          <a:effectLst/>
                          <a:latin typeface="Times New Roman" panose="02020603050405020304" pitchFamily="18" charset="0"/>
                        </a:rPr>
                        <a:t>ngày</a:t>
                      </a:r>
                      <a:r>
                        <a:rPr lang="en-US" sz="1400" b="0" i="0" u="none" strike="noStrike" dirty="0">
                          <a:solidFill>
                            <a:srgbClr val="000000"/>
                          </a:solidFill>
                          <a:effectLst/>
                          <a:latin typeface="Times New Roman" panose="02020603050405020304" pitchFamily="18" charset="0"/>
                        </a:rPr>
                        <a:t> 25 </a:t>
                      </a:r>
                      <a:r>
                        <a:rPr lang="en-US" sz="1400" b="0" i="0" u="none" strike="noStrike" dirty="0" err="1">
                          <a:solidFill>
                            <a:srgbClr val="000000"/>
                          </a:solidFill>
                          <a:effectLst/>
                          <a:latin typeface="Times New Roman" panose="02020603050405020304" pitchFamily="18" charset="0"/>
                        </a:rPr>
                        <a:t>tháng</a:t>
                      </a:r>
                      <a:r>
                        <a:rPr lang="en-US" sz="1400" b="0" i="0" u="none" strike="noStrike" dirty="0">
                          <a:solidFill>
                            <a:srgbClr val="000000"/>
                          </a:solidFill>
                          <a:effectLst/>
                          <a:latin typeface="Times New Roman" panose="02020603050405020304" pitchFamily="18" charset="0"/>
                        </a:rPr>
                        <a:t> 6 </a:t>
                      </a:r>
                      <a:r>
                        <a:rPr lang="en-US" sz="1400" b="0" i="0" u="none" strike="noStrike" dirty="0" err="1">
                          <a:solidFill>
                            <a:srgbClr val="000000"/>
                          </a:solidFill>
                          <a:effectLst/>
                          <a:latin typeface="Times New Roman" panose="02020603050405020304" pitchFamily="18" charset="0"/>
                        </a:rPr>
                        <a:t>năm</a:t>
                      </a:r>
                      <a:r>
                        <a:rPr lang="en-US" sz="1400" b="0" i="0" u="none" strike="noStrike" dirty="0">
                          <a:solidFill>
                            <a:srgbClr val="000000"/>
                          </a:solidFill>
                          <a:effectLst/>
                          <a:latin typeface="Times New Roman" panose="02020603050405020304" pitchFamily="18" charset="0"/>
                        </a:rPr>
                        <a:t> 2025 </a:t>
                      </a:r>
                      <a:r>
                        <a:rPr lang="en-US" sz="1400" b="0" i="0" u="none" strike="noStrike" dirty="0" err="1">
                          <a:solidFill>
                            <a:srgbClr val="000000"/>
                          </a:solidFill>
                          <a:effectLst/>
                          <a:latin typeface="Times New Roman" panose="02020603050405020304" pitchFamily="18" charset="0"/>
                        </a:rPr>
                        <a:t>của</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Quốc</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hội</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sửa</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đổi</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bổ</a:t>
                      </a:r>
                      <a:r>
                        <a:rPr lang="en-US" sz="1400" b="0" i="0" u="none" strike="noStrike" dirty="0">
                          <a:solidFill>
                            <a:srgbClr val="000000"/>
                          </a:solidFill>
                          <a:effectLst/>
                          <a:latin typeface="Times New Roman" panose="02020603050405020304" pitchFamily="18" charset="0"/>
                        </a:rPr>
                        <a:t> sung </a:t>
                      </a:r>
                      <a:r>
                        <a:rPr lang="en-US" sz="1400" b="0" i="0" u="none" strike="noStrike" dirty="0" err="1">
                          <a:solidFill>
                            <a:srgbClr val="000000"/>
                          </a:solidFill>
                          <a:effectLst/>
                          <a:latin typeface="Times New Roman" panose="02020603050405020304" pitchFamily="18" charset="0"/>
                        </a:rPr>
                        <a:t>một</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số</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điều</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của</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Luật</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Đấu</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thầu</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Luật</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Quản</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lý</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sử</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dụng</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tài</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sản</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công</a:t>
                      </a:r>
                      <a:endParaRPr lang="en-US" sz="1400" b="0" i="0" u="none" strike="noStrike" dirty="0">
                        <a:solidFill>
                          <a:srgbClr val="000000"/>
                        </a:solidFill>
                        <a:effectLst/>
                        <a:latin typeface="Times New Roman" panose="02020603050405020304" pitchFamily="18" charset="0"/>
                      </a:endParaRPr>
                    </a:p>
                  </a:txBody>
                  <a:tcPr marL="6759" marR="6759"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a:solidFill>
                            <a:srgbClr val="000000"/>
                          </a:solidFill>
                          <a:effectLst/>
                          <a:latin typeface="Times New Roman" panose="02020603050405020304" pitchFamily="18" charset="0"/>
                        </a:rPr>
                        <a:t>Luật số 90</a:t>
                      </a:r>
                    </a:p>
                  </a:txBody>
                  <a:tcPr marL="6759" marR="6759"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07321379"/>
                  </a:ext>
                </a:extLst>
              </a:tr>
              <a:tr h="237081">
                <a:tc>
                  <a:txBody>
                    <a:bodyPr/>
                    <a:lstStyle/>
                    <a:p>
                      <a:pPr algn="ctr" fontAlgn="ctr"/>
                      <a:r>
                        <a:rPr lang="en-US" sz="1400" b="0" i="0" u="none" strike="noStrike">
                          <a:solidFill>
                            <a:srgbClr val="000000"/>
                          </a:solidFill>
                          <a:effectLst/>
                          <a:latin typeface="Times New Roman" panose="02020603050405020304" pitchFamily="18" charset="0"/>
                        </a:rPr>
                        <a:t>5</a:t>
                      </a:r>
                    </a:p>
                  </a:txBody>
                  <a:tcPr marL="6759" marR="6759"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400" b="0" i="0" u="none" strike="noStrike">
                          <a:solidFill>
                            <a:srgbClr val="000000"/>
                          </a:solidFill>
                          <a:effectLst/>
                          <a:latin typeface="Times New Roman" panose="02020603050405020304" pitchFamily="18" charset="0"/>
                        </a:rPr>
                        <a:t>Luật Xây dựng năm 2014 </a:t>
                      </a:r>
                    </a:p>
                  </a:txBody>
                  <a:tcPr marL="6759" marR="6759"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a:solidFill>
                            <a:srgbClr val="000000"/>
                          </a:solidFill>
                          <a:effectLst/>
                          <a:latin typeface="Times New Roman" panose="02020603050405020304" pitchFamily="18" charset="0"/>
                        </a:rPr>
                        <a:t>Luật XD năm 2014</a:t>
                      </a:r>
                    </a:p>
                  </a:txBody>
                  <a:tcPr marL="6759" marR="6759"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47609770"/>
                  </a:ext>
                </a:extLst>
              </a:tr>
              <a:tr h="237081">
                <a:tc>
                  <a:txBody>
                    <a:bodyPr/>
                    <a:lstStyle/>
                    <a:p>
                      <a:pPr algn="ctr" fontAlgn="ctr"/>
                      <a:r>
                        <a:rPr lang="en-US" sz="1400" b="0" i="0" u="none" strike="noStrike">
                          <a:solidFill>
                            <a:srgbClr val="000000"/>
                          </a:solidFill>
                          <a:effectLst/>
                          <a:latin typeface="Times New Roman" panose="02020603050405020304" pitchFamily="18" charset="0"/>
                        </a:rPr>
                        <a:t>6</a:t>
                      </a:r>
                    </a:p>
                  </a:txBody>
                  <a:tcPr marL="6759" marR="6759"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400" b="0" i="0" u="none" strike="noStrike">
                          <a:solidFill>
                            <a:srgbClr val="000000"/>
                          </a:solidFill>
                          <a:effectLst/>
                          <a:latin typeface="Times New Roman" panose="02020603050405020304" pitchFamily="18" charset="0"/>
                        </a:rPr>
                        <a:t>Luật sửa đổi, bổ sung một số điều của Luật Xây dựng số 62/2020/QH14 </a:t>
                      </a:r>
                    </a:p>
                  </a:txBody>
                  <a:tcPr marL="6759" marR="6759"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a:solidFill>
                            <a:srgbClr val="000000"/>
                          </a:solidFill>
                          <a:effectLst/>
                          <a:latin typeface="Times New Roman" panose="02020603050405020304" pitchFamily="18" charset="0"/>
                        </a:rPr>
                        <a:t>Luật XD số 62</a:t>
                      </a:r>
                    </a:p>
                  </a:txBody>
                  <a:tcPr marL="6759" marR="6759"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29853816"/>
                  </a:ext>
                </a:extLst>
              </a:tr>
              <a:tr h="237081">
                <a:tc>
                  <a:txBody>
                    <a:bodyPr/>
                    <a:lstStyle/>
                    <a:p>
                      <a:pPr algn="ctr" fontAlgn="ctr"/>
                      <a:r>
                        <a:rPr lang="en-US" sz="1400" b="0" i="0" u="none" strike="noStrike">
                          <a:solidFill>
                            <a:srgbClr val="000000"/>
                          </a:solidFill>
                          <a:effectLst/>
                          <a:latin typeface="Times New Roman" panose="02020603050405020304" pitchFamily="18" charset="0"/>
                        </a:rPr>
                        <a:t>7</a:t>
                      </a:r>
                    </a:p>
                  </a:txBody>
                  <a:tcPr marL="6759" marR="6759"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400" b="0" i="0" u="none" strike="noStrike" dirty="0">
                          <a:solidFill>
                            <a:srgbClr val="000000"/>
                          </a:solidFill>
                          <a:effectLst/>
                          <a:latin typeface="Times New Roman" panose="02020603050405020304" pitchFamily="18" charset="0"/>
                        </a:rPr>
                        <a:t>Luật Bảo vệ môi trường số 72/2020/QH14</a:t>
                      </a:r>
                    </a:p>
                  </a:txBody>
                  <a:tcPr marL="6759" marR="6759"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a:solidFill>
                            <a:srgbClr val="000000"/>
                          </a:solidFill>
                          <a:effectLst/>
                          <a:latin typeface="Times New Roman" panose="02020603050405020304" pitchFamily="18" charset="0"/>
                        </a:rPr>
                        <a:t>Luật BVMT số 72</a:t>
                      </a:r>
                    </a:p>
                  </a:txBody>
                  <a:tcPr marL="6759" marR="6759"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61031489"/>
                  </a:ext>
                </a:extLst>
              </a:tr>
              <a:tr h="474162">
                <a:tc>
                  <a:txBody>
                    <a:bodyPr/>
                    <a:lstStyle/>
                    <a:p>
                      <a:pPr algn="ctr" fontAlgn="ctr"/>
                      <a:r>
                        <a:rPr lang="en-US" sz="1400" b="0" i="0" u="none" strike="noStrike">
                          <a:solidFill>
                            <a:srgbClr val="000000"/>
                          </a:solidFill>
                          <a:effectLst/>
                          <a:latin typeface="Times New Roman" panose="02020603050405020304" pitchFamily="18" charset="0"/>
                        </a:rPr>
                        <a:t>8</a:t>
                      </a:r>
                    </a:p>
                  </a:txBody>
                  <a:tcPr marL="6759" marR="6759"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400" b="0" i="0" u="none" strike="noStrike">
                          <a:solidFill>
                            <a:srgbClr val="000000"/>
                          </a:solidFill>
                          <a:effectLst/>
                          <a:latin typeface="Times New Roman" panose="02020603050405020304" pitchFamily="18" charset="0"/>
                        </a:rPr>
                        <a:t>Luật số 146/2025/QH15 sửa đổi, bổ sung một số điều của 15 Luật trong lĩnh vực nông nghiệp và môi trường</a:t>
                      </a:r>
                    </a:p>
                  </a:txBody>
                  <a:tcPr marL="6759" marR="6759"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dirty="0" err="1">
                          <a:solidFill>
                            <a:srgbClr val="000000"/>
                          </a:solidFill>
                          <a:effectLst/>
                          <a:latin typeface="Times New Roman" panose="02020603050405020304" pitchFamily="18" charset="0"/>
                        </a:rPr>
                        <a:t>Luật</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số</a:t>
                      </a:r>
                      <a:r>
                        <a:rPr lang="en-US" sz="1400" b="0" i="0" u="none" strike="noStrike" dirty="0">
                          <a:solidFill>
                            <a:srgbClr val="000000"/>
                          </a:solidFill>
                          <a:effectLst/>
                          <a:latin typeface="Times New Roman" panose="02020603050405020304" pitchFamily="18" charset="0"/>
                        </a:rPr>
                        <a:t> 146</a:t>
                      </a:r>
                    </a:p>
                  </a:txBody>
                  <a:tcPr marL="6759" marR="6759"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89621480"/>
                  </a:ext>
                </a:extLst>
              </a:tr>
              <a:tr h="711245">
                <a:tc>
                  <a:txBody>
                    <a:bodyPr/>
                    <a:lstStyle/>
                    <a:p>
                      <a:pPr algn="ctr" fontAlgn="ctr"/>
                      <a:r>
                        <a:rPr lang="en-US" sz="1400" b="0" i="0" u="none" strike="noStrike">
                          <a:solidFill>
                            <a:srgbClr val="000000"/>
                          </a:solidFill>
                          <a:effectLst/>
                          <a:latin typeface="Times New Roman" panose="02020603050405020304" pitchFamily="18" charset="0"/>
                        </a:rPr>
                        <a:t>9</a:t>
                      </a:r>
                    </a:p>
                  </a:txBody>
                  <a:tcPr marL="6759" marR="6759"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400" b="0" i="0" u="none" strike="noStrike">
                          <a:solidFill>
                            <a:srgbClr val="000000"/>
                          </a:solidFill>
                          <a:effectLst/>
                          <a:latin typeface="Times New Roman" panose="02020603050405020304" pitchFamily="18" charset="0"/>
                        </a:rPr>
                        <a:t>Nghị định số 06/2021/NĐ-CP ngày 26 tháng 01 năm 2021 của Chính phủ quy định chi tiết một số nội dung về quản lý chất lượng, thi công xây dựng và bảo trì công trình xây dựng</a:t>
                      </a:r>
                    </a:p>
                  </a:txBody>
                  <a:tcPr marL="6759" marR="6759"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Times New Roman" panose="02020603050405020304" pitchFamily="18" charset="0"/>
                        </a:rPr>
                        <a:t>NĐ </a:t>
                      </a:r>
                      <a:r>
                        <a:rPr lang="en-US" sz="1400" b="0" i="0" u="none" strike="noStrike" dirty="0" err="1">
                          <a:solidFill>
                            <a:srgbClr val="000000"/>
                          </a:solidFill>
                          <a:effectLst/>
                          <a:latin typeface="Times New Roman" panose="02020603050405020304" pitchFamily="18" charset="0"/>
                        </a:rPr>
                        <a:t>số</a:t>
                      </a:r>
                      <a:r>
                        <a:rPr lang="en-US" sz="1400" b="0" i="0" u="none" strike="noStrike" dirty="0">
                          <a:solidFill>
                            <a:srgbClr val="000000"/>
                          </a:solidFill>
                          <a:effectLst/>
                          <a:latin typeface="Times New Roman" panose="02020603050405020304" pitchFamily="18" charset="0"/>
                        </a:rPr>
                        <a:t> 06</a:t>
                      </a:r>
                    </a:p>
                  </a:txBody>
                  <a:tcPr marL="6759" marR="6759"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1908651"/>
                  </a:ext>
                </a:extLst>
              </a:tr>
              <a:tr h="474162">
                <a:tc>
                  <a:txBody>
                    <a:bodyPr/>
                    <a:lstStyle/>
                    <a:p>
                      <a:pPr algn="ctr" fontAlgn="ctr"/>
                      <a:r>
                        <a:rPr lang="en-US" sz="1400" b="0" i="0" u="none" strike="noStrike">
                          <a:solidFill>
                            <a:srgbClr val="000000"/>
                          </a:solidFill>
                          <a:effectLst/>
                          <a:latin typeface="Times New Roman" panose="02020603050405020304" pitchFamily="18" charset="0"/>
                        </a:rPr>
                        <a:t>10</a:t>
                      </a:r>
                    </a:p>
                  </a:txBody>
                  <a:tcPr marL="6759" marR="6759"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400" b="0" i="0" u="none" strike="noStrike">
                          <a:solidFill>
                            <a:srgbClr val="000000"/>
                          </a:solidFill>
                          <a:effectLst/>
                          <a:latin typeface="Times New Roman" panose="02020603050405020304" pitchFamily="18" charset="0"/>
                        </a:rPr>
                        <a:t>Nghị định số 10/2021/NĐ-CP ngày 09 tháng 02 năm 2021 của Chính phủ về quản lý chi phí đầu tư xây dựng </a:t>
                      </a:r>
                    </a:p>
                  </a:txBody>
                  <a:tcPr marL="6759" marR="6759"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Times New Roman" panose="02020603050405020304" pitchFamily="18" charset="0"/>
                        </a:rPr>
                        <a:t>NĐ </a:t>
                      </a:r>
                      <a:r>
                        <a:rPr lang="en-US" sz="1400" b="0" i="0" u="none" strike="noStrike" dirty="0" err="1">
                          <a:solidFill>
                            <a:srgbClr val="000000"/>
                          </a:solidFill>
                          <a:effectLst/>
                          <a:latin typeface="Times New Roman" panose="02020603050405020304" pitchFamily="18" charset="0"/>
                        </a:rPr>
                        <a:t>số</a:t>
                      </a:r>
                      <a:r>
                        <a:rPr lang="en-US" sz="1400" b="0" i="0" u="none" strike="noStrike" dirty="0">
                          <a:solidFill>
                            <a:srgbClr val="000000"/>
                          </a:solidFill>
                          <a:effectLst/>
                          <a:latin typeface="Times New Roman" panose="02020603050405020304" pitchFamily="18" charset="0"/>
                        </a:rPr>
                        <a:t> 10</a:t>
                      </a:r>
                    </a:p>
                  </a:txBody>
                  <a:tcPr marL="6759" marR="6759"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25376500"/>
                  </a:ext>
                </a:extLst>
              </a:tr>
              <a:tr h="711245">
                <a:tc>
                  <a:txBody>
                    <a:bodyPr/>
                    <a:lstStyle/>
                    <a:p>
                      <a:pPr algn="ctr" fontAlgn="ctr"/>
                      <a:r>
                        <a:rPr lang="en-US" sz="1400" b="0" i="0" u="none" strike="noStrike">
                          <a:solidFill>
                            <a:srgbClr val="000000"/>
                          </a:solidFill>
                          <a:effectLst/>
                          <a:latin typeface="Times New Roman" panose="02020603050405020304" pitchFamily="18" charset="0"/>
                        </a:rPr>
                        <a:t>11</a:t>
                      </a:r>
                    </a:p>
                  </a:txBody>
                  <a:tcPr marL="6759" marR="6759"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400" b="0" i="0" u="none" strike="noStrike">
                          <a:solidFill>
                            <a:srgbClr val="000000"/>
                          </a:solidFill>
                          <a:effectLst/>
                          <a:latin typeface="Times New Roman" panose="02020603050405020304" pitchFamily="18" charset="0"/>
                        </a:rPr>
                        <a:t>Nghị định số 35/2023/NĐ-CP ngày 20 tháng 6 năm 2023 của Chính phủ sửa đổi, bổ sung một số điều của các Nghị định thuộc lĩnh vực quản lý nhà nước của Bộ Xây dựng</a:t>
                      </a:r>
                    </a:p>
                  </a:txBody>
                  <a:tcPr marL="6759" marR="6759"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Times New Roman" panose="02020603050405020304" pitchFamily="18" charset="0"/>
                        </a:rPr>
                        <a:t>NĐ </a:t>
                      </a:r>
                      <a:r>
                        <a:rPr lang="en-US" sz="1400" b="0" i="0" u="none" strike="noStrike" dirty="0" err="1">
                          <a:solidFill>
                            <a:srgbClr val="000000"/>
                          </a:solidFill>
                          <a:effectLst/>
                          <a:latin typeface="Times New Roman" panose="02020603050405020304" pitchFamily="18" charset="0"/>
                        </a:rPr>
                        <a:t>số</a:t>
                      </a:r>
                      <a:r>
                        <a:rPr lang="en-US" sz="1400" b="0" i="0" u="none" strike="noStrike" dirty="0">
                          <a:solidFill>
                            <a:srgbClr val="000000"/>
                          </a:solidFill>
                          <a:effectLst/>
                          <a:latin typeface="Times New Roman" panose="02020603050405020304" pitchFamily="18" charset="0"/>
                        </a:rPr>
                        <a:t> 35</a:t>
                      </a:r>
                    </a:p>
                  </a:txBody>
                  <a:tcPr marL="6759" marR="6759"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87494569"/>
                  </a:ext>
                </a:extLst>
              </a:tr>
              <a:tr h="711245">
                <a:tc>
                  <a:txBody>
                    <a:bodyPr/>
                    <a:lstStyle/>
                    <a:p>
                      <a:pPr algn="ctr" fontAlgn="ctr"/>
                      <a:r>
                        <a:rPr lang="en-US" sz="1400" b="0" i="0" u="none" strike="noStrike">
                          <a:solidFill>
                            <a:srgbClr val="000000"/>
                          </a:solidFill>
                          <a:effectLst/>
                          <a:latin typeface="Times New Roman" panose="02020603050405020304" pitchFamily="18" charset="0"/>
                        </a:rPr>
                        <a:t>12</a:t>
                      </a:r>
                    </a:p>
                  </a:txBody>
                  <a:tcPr marL="6759" marR="6759"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400" b="0" i="0" u="none" strike="noStrike">
                          <a:solidFill>
                            <a:srgbClr val="000000"/>
                          </a:solidFill>
                          <a:effectLst/>
                          <a:latin typeface="Times New Roman" panose="02020603050405020304" pitchFamily="18" charset="0"/>
                        </a:rPr>
                        <a:t>Nghị định số 175/2024/NĐ-CP ngày 30 tháng 12 năm 2024 của Chính phủ quy địnhmột số điều và biện pháp thi hành Luật Xây dựng về quản lý hoạt động xây dựng</a:t>
                      </a:r>
                    </a:p>
                  </a:txBody>
                  <a:tcPr marL="6759" marR="6759"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Times New Roman" panose="02020603050405020304" pitchFamily="18" charset="0"/>
                        </a:rPr>
                        <a:t>NĐ </a:t>
                      </a:r>
                      <a:r>
                        <a:rPr lang="en-US" sz="1400" b="0" i="0" u="none" strike="noStrike" dirty="0" err="1">
                          <a:solidFill>
                            <a:srgbClr val="000000"/>
                          </a:solidFill>
                          <a:effectLst/>
                          <a:latin typeface="Times New Roman" panose="02020603050405020304" pitchFamily="18" charset="0"/>
                        </a:rPr>
                        <a:t>số</a:t>
                      </a:r>
                      <a:r>
                        <a:rPr lang="en-US" sz="1400" b="0" i="0" u="none" strike="noStrike" dirty="0">
                          <a:solidFill>
                            <a:srgbClr val="000000"/>
                          </a:solidFill>
                          <a:effectLst/>
                          <a:latin typeface="Times New Roman" panose="02020603050405020304" pitchFamily="18" charset="0"/>
                        </a:rPr>
                        <a:t> 175</a:t>
                      </a:r>
                    </a:p>
                  </a:txBody>
                  <a:tcPr marL="6759" marR="6759" marT="67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88019096"/>
                  </a:ext>
                </a:extLst>
              </a:tr>
            </a:tbl>
          </a:graphicData>
        </a:graphic>
      </p:graphicFrame>
    </p:spTree>
    <p:extLst>
      <p:ext uri="{BB962C8B-B14F-4D97-AF65-F5344CB8AC3E}">
        <p14:creationId xmlns:p14="http://schemas.microsoft.com/office/powerpoint/2010/main" val="15185654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DEECA-11E1-F63B-A6A6-A069385AABA8}"/>
            </a:ext>
          </a:extLst>
        </p:cNvPr>
        <p:cNvGrpSpPr/>
        <p:nvPr/>
      </p:nvGrpSpPr>
      <p:grpSpPr>
        <a:xfrm>
          <a:off x="0" y="0"/>
          <a:ext cx="0" cy="0"/>
          <a:chOff x="0" y="0"/>
          <a:chExt cx="0" cy="0"/>
        </a:xfrm>
      </p:grpSpPr>
      <p:sp>
        <p:nvSpPr>
          <p:cNvPr id="4" name="Title 10">
            <a:extLst>
              <a:ext uri="{FF2B5EF4-FFF2-40B4-BE49-F238E27FC236}">
                <a16:creationId xmlns:a16="http://schemas.microsoft.com/office/drawing/2014/main" id="{1E484C6F-34C3-2BD0-2071-4E7355D5E047}"/>
              </a:ext>
            </a:extLst>
          </p:cNvPr>
          <p:cNvSpPr txBox="1">
            <a:spLocks/>
          </p:cNvSpPr>
          <p:nvPr/>
        </p:nvSpPr>
        <p:spPr>
          <a:xfrm>
            <a:off x="1290828" y="155448"/>
            <a:ext cx="9025128" cy="3291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defTabSz="914400" rtl="0" eaLnBrk="1" fontAlgn="auto" latinLnBrk="0" hangingPunct="1">
              <a:lnSpc>
                <a:spcPts val="1000"/>
              </a:lnSpc>
              <a:spcBef>
                <a:spcPct val="0"/>
              </a:spcBef>
              <a:spcAft>
                <a:spcPts val="0"/>
              </a:spcAft>
              <a:buClrTx/>
              <a:buSzTx/>
              <a:buFontTx/>
              <a:buNone/>
              <a:tabLst/>
              <a:defRPr/>
            </a:pPr>
            <a:r>
              <a:rPr kumimoji="0" lang="en-US" sz="1500" b="1"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Các </a:t>
            </a:r>
            <a:r>
              <a:rPr kumimoji="0" lang="en-US" sz="1500" b="1" i="0" u="none" strike="noStrike" kern="1200" cap="none" spc="0" normalizeH="0" baseline="0" noProof="0" dirty="0" err="1">
                <a:ln>
                  <a:noFill/>
                </a:ln>
                <a:solidFill>
                  <a:prstClr val="black"/>
                </a:solidFill>
                <a:effectLst/>
                <a:uLnTx/>
                <a:uFillTx/>
                <a:latin typeface="Times New Roman" panose="02020603050405020304" pitchFamily="18" charset="0"/>
                <a:ea typeface="+mj-ea"/>
                <a:cs typeface="Times New Roman" panose="02020603050405020304" pitchFamily="18" charset="0"/>
              </a:rPr>
              <a:t>căn</a:t>
            </a:r>
            <a:r>
              <a:rPr kumimoji="0" lang="en-US" sz="1500" b="1"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 </a:t>
            </a:r>
            <a:r>
              <a:rPr kumimoji="0" lang="en-US" sz="1500" b="1" i="0" u="none" strike="noStrike" kern="1200" cap="none" spc="0" normalizeH="0" baseline="0" noProof="0" dirty="0" err="1">
                <a:ln>
                  <a:noFill/>
                </a:ln>
                <a:solidFill>
                  <a:prstClr val="black"/>
                </a:solidFill>
                <a:effectLst/>
                <a:uLnTx/>
                <a:uFillTx/>
                <a:latin typeface="Times New Roman" panose="02020603050405020304" pitchFamily="18" charset="0"/>
                <a:ea typeface="+mj-ea"/>
                <a:cs typeface="Times New Roman" panose="02020603050405020304" pitchFamily="18" charset="0"/>
              </a:rPr>
              <a:t>cứ</a:t>
            </a:r>
            <a:r>
              <a:rPr kumimoji="0" lang="en-US" sz="1500" b="1"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 </a:t>
            </a:r>
            <a:r>
              <a:rPr kumimoji="0" lang="en-US" sz="1500" b="1" i="0" u="none" strike="noStrike" kern="1200" cap="none" spc="0" normalizeH="0" baseline="0" noProof="0" dirty="0" err="1">
                <a:ln>
                  <a:noFill/>
                </a:ln>
                <a:solidFill>
                  <a:prstClr val="black"/>
                </a:solidFill>
                <a:effectLst/>
                <a:uLnTx/>
                <a:uFillTx/>
                <a:latin typeface="Times New Roman" panose="02020603050405020304" pitchFamily="18" charset="0"/>
                <a:ea typeface="+mj-ea"/>
                <a:cs typeface="Times New Roman" panose="02020603050405020304" pitchFamily="18" charset="0"/>
              </a:rPr>
              <a:t>pháp</a:t>
            </a:r>
            <a:r>
              <a:rPr kumimoji="0" lang="en-US" sz="1500" b="1"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 </a:t>
            </a:r>
            <a:r>
              <a:rPr kumimoji="0" lang="en-US" sz="1500" b="1" i="0" u="none" strike="noStrike" kern="1200" cap="none" spc="0" normalizeH="0" baseline="0" noProof="0" dirty="0" err="1">
                <a:ln>
                  <a:noFill/>
                </a:ln>
                <a:solidFill>
                  <a:prstClr val="black"/>
                </a:solidFill>
                <a:effectLst/>
                <a:uLnTx/>
                <a:uFillTx/>
                <a:latin typeface="Times New Roman" panose="02020603050405020304" pitchFamily="18" charset="0"/>
                <a:ea typeface="+mj-ea"/>
                <a:cs typeface="Times New Roman" panose="02020603050405020304" pitchFamily="18" charset="0"/>
              </a:rPr>
              <a:t>lý</a:t>
            </a:r>
            <a:endParaRPr kumimoji="0" lang="en-US" sz="4400" b="1"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endParaRPr>
          </a:p>
        </p:txBody>
      </p:sp>
      <p:graphicFrame>
        <p:nvGraphicFramePr>
          <p:cNvPr id="2" name="Table 1">
            <a:extLst>
              <a:ext uri="{FF2B5EF4-FFF2-40B4-BE49-F238E27FC236}">
                <a16:creationId xmlns:a16="http://schemas.microsoft.com/office/drawing/2014/main" id="{2002106B-DDFD-C7E2-08FE-81DDB5588619}"/>
              </a:ext>
            </a:extLst>
          </p:cNvPr>
          <p:cNvGraphicFramePr>
            <a:graphicFrameLocks noGrp="1"/>
          </p:cNvGraphicFramePr>
          <p:nvPr>
            <p:extLst>
              <p:ext uri="{D42A27DB-BD31-4B8C-83A1-F6EECF244321}">
                <p14:modId xmlns:p14="http://schemas.microsoft.com/office/powerpoint/2010/main" val="2298654683"/>
              </p:ext>
            </p:extLst>
          </p:nvPr>
        </p:nvGraphicFramePr>
        <p:xfrm>
          <a:off x="987552" y="603504"/>
          <a:ext cx="10625328" cy="5973102"/>
        </p:xfrm>
        <a:graphic>
          <a:graphicData uri="http://schemas.openxmlformats.org/drawingml/2006/table">
            <a:tbl>
              <a:tblPr/>
              <a:tblGrid>
                <a:gridCol w="393531">
                  <a:extLst>
                    <a:ext uri="{9D8B030D-6E8A-4147-A177-3AD203B41FA5}">
                      <a16:colId xmlns:a16="http://schemas.microsoft.com/office/drawing/2014/main" val="3573072105"/>
                    </a:ext>
                  </a:extLst>
                </a:gridCol>
                <a:gridCol w="8574468">
                  <a:extLst>
                    <a:ext uri="{9D8B030D-6E8A-4147-A177-3AD203B41FA5}">
                      <a16:colId xmlns:a16="http://schemas.microsoft.com/office/drawing/2014/main" val="2445119487"/>
                    </a:ext>
                  </a:extLst>
                </a:gridCol>
                <a:gridCol w="1657329">
                  <a:extLst>
                    <a:ext uri="{9D8B030D-6E8A-4147-A177-3AD203B41FA5}">
                      <a16:colId xmlns:a16="http://schemas.microsoft.com/office/drawing/2014/main" val="3752970123"/>
                    </a:ext>
                  </a:extLst>
                </a:gridCol>
              </a:tblGrid>
              <a:tr h="173600">
                <a:tc>
                  <a:txBody>
                    <a:bodyPr/>
                    <a:lstStyle/>
                    <a:p>
                      <a:pPr algn="ctr" fontAlgn="ctr"/>
                      <a:r>
                        <a:rPr lang="en-US" sz="1400" b="1" i="0" u="none" strike="noStrike" dirty="0" err="1">
                          <a:solidFill>
                            <a:srgbClr val="000000"/>
                          </a:solidFill>
                          <a:effectLst/>
                          <a:latin typeface="Times New Roman" panose="02020603050405020304" pitchFamily="18" charset="0"/>
                        </a:rPr>
                        <a:t>Stt</a:t>
                      </a:r>
                      <a:endParaRPr lang="en-US" sz="1400" b="1" i="0" u="none" strike="noStrike" dirty="0">
                        <a:solidFill>
                          <a:srgbClr val="000000"/>
                        </a:solidFill>
                        <a:effectLst/>
                        <a:latin typeface="Times New Roman" panose="02020603050405020304" pitchFamily="18" charset="0"/>
                      </a:endParaRPr>
                    </a:p>
                  </a:txBody>
                  <a:tcPr marL="4982" marR="4982" marT="49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0000"/>
                          </a:solidFill>
                          <a:effectLst/>
                          <a:latin typeface="Times New Roman" panose="02020603050405020304" pitchFamily="18" charset="0"/>
                        </a:rPr>
                        <a:t>Văn bản pháp luật</a:t>
                      </a:r>
                    </a:p>
                  </a:txBody>
                  <a:tcPr marL="4982" marR="4982" marT="49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0000"/>
                          </a:solidFill>
                          <a:effectLst/>
                          <a:latin typeface="Times New Roman" panose="02020603050405020304" pitchFamily="18" charset="0"/>
                        </a:rPr>
                        <a:t>Chữ viết tắt</a:t>
                      </a:r>
                    </a:p>
                  </a:txBody>
                  <a:tcPr marL="4982" marR="4982" marT="49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2821960"/>
                  </a:ext>
                </a:extLst>
              </a:tr>
              <a:tr h="347198">
                <a:tc>
                  <a:txBody>
                    <a:bodyPr/>
                    <a:lstStyle/>
                    <a:p>
                      <a:pPr algn="ctr" fontAlgn="ctr"/>
                      <a:r>
                        <a:rPr lang="en-US" sz="1400" b="0" i="0" u="none" strike="noStrike">
                          <a:solidFill>
                            <a:srgbClr val="000000"/>
                          </a:solidFill>
                          <a:effectLst/>
                          <a:latin typeface="Times New Roman" panose="02020603050405020304" pitchFamily="18" charset="0"/>
                        </a:rPr>
                        <a:t>13</a:t>
                      </a:r>
                    </a:p>
                  </a:txBody>
                  <a:tcPr marL="4982" marR="4982" marT="49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400" b="0" i="0" u="none" strike="noStrike" dirty="0" err="1">
                          <a:solidFill>
                            <a:srgbClr val="000000"/>
                          </a:solidFill>
                          <a:effectLst/>
                          <a:latin typeface="Times New Roman" panose="02020603050405020304" pitchFamily="18" charset="0"/>
                        </a:rPr>
                        <a:t>Nghị</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định</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số</a:t>
                      </a:r>
                      <a:r>
                        <a:rPr lang="en-US" sz="1400" b="0" i="0" u="none" strike="noStrike" dirty="0">
                          <a:solidFill>
                            <a:srgbClr val="000000"/>
                          </a:solidFill>
                          <a:effectLst/>
                          <a:latin typeface="Times New Roman" panose="02020603050405020304" pitchFamily="18" charset="0"/>
                        </a:rPr>
                        <a:t> 214/2025/NĐ-CP </a:t>
                      </a:r>
                      <a:r>
                        <a:rPr lang="en-US" sz="1400" b="0" i="0" u="none" strike="noStrike" dirty="0" err="1">
                          <a:solidFill>
                            <a:srgbClr val="000000"/>
                          </a:solidFill>
                          <a:effectLst/>
                          <a:latin typeface="Times New Roman" panose="02020603050405020304" pitchFamily="18" charset="0"/>
                        </a:rPr>
                        <a:t>ngày</a:t>
                      </a:r>
                      <a:r>
                        <a:rPr lang="en-US" sz="1400" b="0" i="0" u="none" strike="noStrike" dirty="0">
                          <a:solidFill>
                            <a:srgbClr val="000000"/>
                          </a:solidFill>
                          <a:effectLst/>
                          <a:latin typeface="Times New Roman" panose="02020603050405020304" pitchFamily="18" charset="0"/>
                        </a:rPr>
                        <a:t> 04 </a:t>
                      </a:r>
                      <a:r>
                        <a:rPr lang="en-US" sz="1400" b="0" i="0" u="none" strike="noStrike" dirty="0" err="1">
                          <a:solidFill>
                            <a:srgbClr val="000000"/>
                          </a:solidFill>
                          <a:effectLst/>
                          <a:latin typeface="Times New Roman" panose="02020603050405020304" pitchFamily="18" charset="0"/>
                        </a:rPr>
                        <a:t>tháng</a:t>
                      </a:r>
                      <a:r>
                        <a:rPr lang="en-US" sz="1400" b="0" i="0" u="none" strike="noStrike" dirty="0">
                          <a:solidFill>
                            <a:srgbClr val="000000"/>
                          </a:solidFill>
                          <a:effectLst/>
                          <a:latin typeface="Times New Roman" panose="02020603050405020304" pitchFamily="18" charset="0"/>
                        </a:rPr>
                        <a:t> 8 </a:t>
                      </a:r>
                      <a:r>
                        <a:rPr lang="en-US" sz="1400" b="0" i="0" u="none" strike="noStrike" dirty="0" err="1">
                          <a:solidFill>
                            <a:srgbClr val="000000"/>
                          </a:solidFill>
                          <a:effectLst/>
                          <a:latin typeface="Times New Roman" panose="02020603050405020304" pitchFamily="18" charset="0"/>
                        </a:rPr>
                        <a:t>năm</a:t>
                      </a:r>
                      <a:r>
                        <a:rPr lang="en-US" sz="1400" b="0" i="0" u="none" strike="noStrike" dirty="0">
                          <a:solidFill>
                            <a:srgbClr val="000000"/>
                          </a:solidFill>
                          <a:effectLst/>
                          <a:latin typeface="Times New Roman" panose="02020603050405020304" pitchFamily="18" charset="0"/>
                        </a:rPr>
                        <a:t> 2025 </a:t>
                      </a:r>
                      <a:r>
                        <a:rPr lang="en-US" sz="1400" b="0" i="0" u="none" strike="noStrike" dirty="0" err="1">
                          <a:solidFill>
                            <a:srgbClr val="000000"/>
                          </a:solidFill>
                          <a:effectLst/>
                          <a:latin typeface="Times New Roman" panose="02020603050405020304" pitchFamily="18" charset="0"/>
                        </a:rPr>
                        <a:t>của</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Chính</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phủ</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quy</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định</a:t>
                      </a:r>
                      <a:r>
                        <a:rPr lang="en-US" sz="1400" b="0" i="0" u="none" strike="noStrike" dirty="0">
                          <a:solidFill>
                            <a:srgbClr val="000000"/>
                          </a:solidFill>
                          <a:effectLst/>
                          <a:latin typeface="Times New Roman" panose="02020603050405020304" pitchFamily="18" charset="0"/>
                        </a:rPr>
                        <a:t> chi </a:t>
                      </a:r>
                      <a:r>
                        <a:rPr lang="en-US" sz="1400" b="0" i="0" u="none" strike="noStrike" dirty="0" err="1">
                          <a:solidFill>
                            <a:srgbClr val="000000"/>
                          </a:solidFill>
                          <a:effectLst/>
                          <a:latin typeface="Times New Roman" panose="02020603050405020304" pitchFamily="18" charset="0"/>
                        </a:rPr>
                        <a:t>tiết</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thi</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hành</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một</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số</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điều</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của</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Luật</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Đấu</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thầu</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về</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lựa</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chọn</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nhà</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thầu</a:t>
                      </a:r>
                      <a:endParaRPr lang="en-US" sz="1400" b="0" i="0" u="none" strike="noStrike" dirty="0">
                        <a:solidFill>
                          <a:srgbClr val="000000"/>
                        </a:solidFill>
                        <a:effectLst/>
                        <a:latin typeface="Times New Roman" panose="02020603050405020304" pitchFamily="18" charset="0"/>
                      </a:endParaRPr>
                    </a:p>
                  </a:txBody>
                  <a:tcPr marL="4982" marR="4982" marT="49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a:solidFill>
                            <a:srgbClr val="000000"/>
                          </a:solidFill>
                          <a:effectLst/>
                          <a:latin typeface="Times New Roman" panose="02020603050405020304" pitchFamily="18" charset="0"/>
                        </a:rPr>
                        <a:t>NĐ số 214</a:t>
                      </a:r>
                    </a:p>
                  </a:txBody>
                  <a:tcPr marL="4982" marR="4982" marT="49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59606662"/>
                  </a:ext>
                </a:extLst>
              </a:tr>
              <a:tr h="347198">
                <a:tc>
                  <a:txBody>
                    <a:bodyPr/>
                    <a:lstStyle/>
                    <a:p>
                      <a:pPr algn="ctr" fontAlgn="ctr"/>
                      <a:r>
                        <a:rPr lang="en-US" sz="1400" b="0" i="0" u="none" strike="noStrike">
                          <a:solidFill>
                            <a:srgbClr val="000000"/>
                          </a:solidFill>
                          <a:effectLst/>
                          <a:latin typeface="Times New Roman" panose="02020603050405020304" pitchFamily="18" charset="0"/>
                        </a:rPr>
                        <a:t>14</a:t>
                      </a:r>
                    </a:p>
                  </a:txBody>
                  <a:tcPr marL="4982" marR="4982" marT="49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400" b="0" i="0" u="none" strike="noStrike" dirty="0" err="1">
                          <a:solidFill>
                            <a:srgbClr val="000000"/>
                          </a:solidFill>
                          <a:effectLst/>
                          <a:latin typeface="Times New Roman" panose="02020603050405020304" pitchFamily="18" charset="0"/>
                        </a:rPr>
                        <a:t>Nghị</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định</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số</a:t>
                      </a:r>
                      <a:r>
                        <a:rPr lang="en-US" sz="1400" b="0" i="0" u="none" strike="noStrike" dirty="0">
                          <a:solidFill>
                            <a:srgbClr val="000000"/>
                          </a:solidFill>
                          <a:effectLst/>
                          <a:latin typeface="Times New Roman" panose="02020603050405020304" pitchFamily="18" charset="0"/>
                        </a:rPr>
                        <a:t> 37/2015/NĐ-CP </a:t>
                      </a:r>
                      <a:r>
                        <a:rPr lang="en-US" sz="1400" b="0" i="0" u="none" strike="noStrike" dirty="0" err="1">
                          <a:solidFill>
                            <a:srgbClr val="000000"/>
                          </a:solidFill>
                          <a:effectLst/>
                          <a:latin typeface="Times New Roman" panose="02020603050405020304" pitchFamily="18" charset="0"/>
                        </a:rPr>
                        <a:t>ngày</a:t>
                      </a:r>
                      <a:r>
                        <a:rPr lang="en-US" sz="1400" b="0" i="0" u="none" strike="noStrike" dirty="0">
                          <a:solidFill>
                            <a:srgbClr val="000000"/>
                          </a:solidFill>
                          <a:effectLst/>
                          <a:latin typeface="Times New Roman" panose="02020603050405020304" pitchFamily="18" charset="0"/>
                        </a:rPr>
                        <a:t> 22 </a:t>
                      </a:r>
                      <a:r>
                        <a:rPr lang="en-US" sz="1400" b="0" i="0" u="none" strike="noStrike" dirty="0" err="1">
                          <a:solidFill>
                            <a:srgbClr val="000000"/>
                          </a:solidFill>
                          <a:effectLst/>
                          <a:latin typeface="Times New Roman" panose="02020603050405020304" pitchFamily="18" charset="0"/>
                        </a:rPr>
                        <a:t>tháng</a:t>
                      </a:r>
                      <a:r>
                        <a:rPr lang="en-US" sz="1400" b="0" i="0" u="none" strike="noStrike" dirty="0">
                          <a:solidFill>
                            <a:srgbClr val="000000"/>
                          </a:solidFill>
                          <a:effectLst/>
                          <a:latin typeface="Times New Roman" panose="02020603050405020304" pitchFamily="18" charset="0"/>
                        </a:rPr>
                        <a:t> 4 </a:t>
                      </a:r>
                      <a:r>
                        <a:rPr lang="en-US" sz="1400" b="0" i="0" u="none" strike="noStrike" dirty="0" err="1">
                          <a:solidFill>
                            <a:srgbClr val="000000"/>
                          </a:solidFill>
                          <a:effectLst/>
                          <a:latin typeface="Times New Roman" panose="02020603050405020304" pitchFamily="18" charset="0"/>
                        </a:rPr>
                        <a:t>năm</a:t>
                      </a:r>
                      <a:r>
                        <a:rPr lang="en-US" sz="1400" b="0" i="0" u="none" strike="noStrike" dirty="0">
                          <a:solidFill>
                            <a:srgbClr val="000000"/>
                          </a:solidFill>
                          <a:effectLst/>
                          <a:latin typeface="Times New Roman" panose="02020603050405020304" pitchFamily="18" charset="0"/>
                        </a:rPr>
                        <a:t> 2015 </a:t>
                      </a:r>
                      <a:r>
                        <a:rPr lang="en-US" sz="1400" b="0" i="0" u="none" strike="noStrike" dirty="0" err="1">
                          <a:solidFill>
                            <a:srgbClr val="000000"/>
                          </a:solidFill>
                          <a:effectLst/>
                          <a:latin typeface="Times New Roman" panose="02020603050405020304" pitchFamily="18" charset="0"/>
                        </a:rPr>
                        <a:t>của</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Chính</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phủ</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quy</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định</a:t>
                      </a:r>
                      <a:r>
                        <a:rPr lang="en-US" sz="1400" b="0" i="0" u="none" strike="noStrike" dirty="0">
                          <a:solidFill>
                            <a:srgbClr val="000000"/>
                          </a:solidFill>
                          <a:effectLst/>
                          <a:latin typeface="Times New Roman" panose="02020603050405020304" pitchFamily="18" charset="0"/>
                        </a:rPr>
                        <a:t> chi </a:t>
                      </a:r>
                      <a:r>
                        <a:rPr lang="en-US" sz="1400" b="0" i="0" u="none" strike="noStrike" dirty="0" err="1">
                          <a:solidFill>
                            <a:srgbClr val="000000"/>
                          </a:solidFill>
                          <a:effectLst/>
                          <a:latin typeface="Times New Roman" panose="02020603050405020304" pitchFamily="18" charset="0"/>
                        </a:rPr>
                        <a:t>tiết</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về</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hợp</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đồng</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xây</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dựng</a:t>
                      </a:r>
                      <a:r>
                        <a:rPr lang="en-US" sz="1400" b="0" i="0" u="none" strike="noStrike" dirty="0">
                          <a:solidFill>
                            <a:srgbClr val="000000"/>
                          </a:solidFill>
                          <a:effectLst/>
                          <a:latin typeface="Times New Roman" panose="02020603050405020304" pitchFamily="18" charset="0"/>
                        </a:rPr>
                        <a:t> </a:t>
                      </a:r>
                    </a:p>
                  </a:txBody>
                  <a:tcPr marL="4982" marR="4982" marT="49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a:solidFill>
                            <a:srgbClr val="000000"/>
                          </a:solidFill>
                          <a:effectLst/>
                          <a:latin typeface="Times New Roman" panose="02020603050405020304" pitchFamily="18" charset="0"/>
                        </a:rPr>
                        <a:t>NĐ số 37</a:t>
                      </a:r>
                    </a:p>
                  </a:txBody>
                  <a:tcPr marL="4982" marR="4982" marT="49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51406540"/>
                  </a:ext>
                </a:extLst>
              </a:tr>
              <a:tr h="520798">
                <a:tc>
                  <a:txBody>
                    <a:bodyPr/>
                    <a:lstStyle/>
                    <a:p>
                      <a:pPr algn="ctr" fontAlgn="ctr"/>
                      <a:r>
                        <a:rPr lang="en-US" sz="1400" b="0" i="0" u="none" strike="noStrike">
                          <a:solidFill>
                            <a:srgbClr val="000000"/>
                          </a:solidFill>
                          <a:effectLst/>
                          <a:latin typeface="Times New Roman" panose="02020603050405020304" pitchFamily="18" charset="0"/>
                        </a:rPr>
                        <a:t>15</a:t>
                      </a:r>
                    </a:p>
                  </a:txBody>
                  <a:tcPr marL="4982" marR="4982" marT="49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400" b="0" i="0" u="none" strike="noStrike" dirty="0" err="1">
                          <a:solidFill>
                            <a:srgbClr val="000000"/>
                          </a:solidFill>
                          <a:effectLst/>
                          <a:latin typeface="Times New Roman" panose="02020603050405020304" pitchFamily="18" charset="0"/>
                        </a:rPr>
                        <a:t>Nghị</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định</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số</a:t>
                      </a:r>
                      <a:r>
                        <a:rPr lang="en-US" sz="1400" b="0" i="0" u="none" strike="noStrike" dirty="0">
                          <a:solidFill>
                            <a:srgbClr val="000000"/>
                          </a:solidFill>
                          <a:effectLst/>
                          <a:latin typeface="Times New Roman" panose="02020603050405020304" pitchFamily="18" charset="0"/>
                        </a:rPr>
                        <a:t> 50/2021/NĐ-CP </a:t>
                      </a:r>
                      <a:r>
                        <a:rPr lang="en-US" sz="1400" b="0" i="0" u="none" strike="noStrike" dirty="0" err="1">
                          <a:solidFill>
                            <a:srgbClr val="000000"/>
                          </a:solidFill>
                          <a:effectLst/>
                          <a:latin typeface="Times New Roman" panose="02020603050405020304" pitchFamily="18" charset="0"/>
                        </a:rPr>
                        <a:t>ngày</a:t>
                      </a:r>
                      <a:r>
                        <a:rPr lang="en-US" sz="1400" b="0" i="0" u="none" strike="noStrike" dirty="0">
                          <a:solidFill>
                            <a:srgbClr val="000000"/>
                          </a:solidFill>
                          <a:effectLst/>
                          <a:latin typeface="Times New Roman" panose="02020603050405020304" pitchFamily="18" charset="0"/>
                        </a:rPr>
                        <a:t> 01 </a:t>
                      </a:r>
                      <a:r>
                        <a:rPr lang="en-US" sz="1400" b="0" i="0" u="none" strike="noStrike" dirty="0" err="1">
                          <a:solidFill>
                            <a:srgbClr val="000000"/>
                          </a:solidFill>
                          <a:effectLst/>
                          <a:latin typeface="Times New Roman" panose="02020603050405020304" pitchFamily="18" charset="0"/>
                        </a:rPr>
                        <a:t>tháng</a:t>
                      </a:r>
                      <a:r>
                        <a:rPr lang="en-US" sz="1400" b="0" i="0" u="none" strike="noStrike" dirty="0">
                          <a:solidFill>
                            <a:srgbClr val="000000"/>
                          </a:solidFill>
                          <a:effectLst/>
                          <a:latin typeface="Times New Roman" panose="02020603050405020304" pitchFamily="18" charset="0"/>
                        </a:rPr>
                        <a:t> 4 </a:t>
                      </a:r>
                      <a:r>
                        <a:rPr lang="en-US" sz="1400" b="0" i="0" u="none" strike="noStrike" dirty="0" err="1">
                          <a:solidFill>
                            <a:srgbClr val="000000"/>
                          </a:solidFill>
                          <a:effectLst/>
                          <a:latin typeface="Times New Roman" panose="02020603050405020304" pitchFamily="18" charset="0"/>
                        </a:rPr>
                        <a:t>năm</a:t>
                      </a:r>
                      <a:r>
                        <a:rPr lang="en-US" sz="1400" b="0" i="0" u="none" strike="noStrike" dirty="0">
                          <a:solidFill>
                            <a:srgbClr val="000000"/>
                          </a:solidFill>
                          <a:effectLst/>
                          <a:latin typeface="Times New Roman" panose="02020603050405020304" pitchFamily="18" charset="0"/>
                        </a:rPr>
                        <a:t> 2021 </a:t>
                      </a:r>
                      <a:r>
                        <a:rPr lang="en-US" sz="1400" b="0" i="0" u="none" strike="noStrike" dirty="0" err="1">
                          <a:solidFill>
                            <a:srgbClr val="000000"/>
                          </a:solidFill>
                          <a:effectLst/>
                          <a:latin typeface="Times New Roman" panose="02020603050405020304" pitchFamily="18" charset="0"/>
                        </a:rPr>
                        <a:t>của</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Chính</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phủ</a:t>
                      </a:r>
                      <a:r>
                        <a:rPr lang="en-US" sz="1400" b="0" i="0" u="none" strike="noStrike" dirty="0">
                          <a:solidFill>
                            <a:srgbClr val="000000"/>
                          </a:solidFill>
                          <a:effectLst/>
                          <a:latin typeface="Times New Roman" panose="02020603050405020304" pitchFamily="18" charset="0"/>
                        </a:rPr>
                        <a:t> v/v </a:t>
                      </a:r>
                      <a:r>
                        <a:rPr lang="en-US" sz="1400" b="0" i="0" u="none" strike="noStrike" dirty="0" err="1">
                          <a:solidFill>
                            <a:srgbClr val="000000"/>
                          </a:solidFill>
                          <a:effectLst/>
                          <a:latin typeface="Times New Roman" panose="02020603050405020304" pitchFamily="18" charset="0"/>
                        </a:rPr>
                        <a:t>sửa</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đổi</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bổ</a:t>
                      </a:r>
                      <a:r>
                        <a:rPr lang="en-US" sz="1400" b="0" i="0" u="none" strike="noStrike" dirty="0">
                          <a:solidFill>
                            <a:srgbClr val="000000"/>
                          </a:solidFill>
                          <a:effectLst/>
                          <a:latin typeface="Times New Roman" panose="02020603050405020304" pitchFamily="18" charset="0"/>
                        </a:rPr>
                        <a:t> sung </a:t>
                      </a:r>
                      <a:r>
                        <a:rPr lang="en-US" sz="1400" b="0" i="0" u="none" strike="noStrike" dirty="0" err="1">
                          <a:solidFill>
                            <a:srgbClr val="000000"/>
                          </a:solidFill>
                          <a:effectLst/>
                          <a:latin typeface="Times New Roman" panose="02020603050405020304" pitchFamily="18" charset="0"/>
                        </a:rPr>
                        <a:t>một</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số</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điều</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của</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Nghị</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định</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số</a:t>
                      </a:r>
                      <a:r>
                        <a:rPr lang="en-US" sz="1400" b="0" i="0" u="none" strike="noStrike" dirty="0">
                          <a:solidFill>
                            <a:srgbClr val="000000"/>
                          </a:solidFill>
                          <a:effectLst/>
                          <a:latin typeface="Times New Roman" panose="02020603050405020304" pitchFamily="18" charset="0"/>
                        </a:rPr>
                        <a:t> 37/2015/NĐ-CP </a:t>
                      </a:r>
                      <a:r>
                        <a:rPr lang="en-US" sz="1400" b="0" i="0" u="none" strike="noStrike" dirty="0" err="1">
                          <a:solidFill>
                            <a:srgbClr val="000000"/>
                          </a:solidFill>
                          <a:effectLst/>
                          <a:latin typeface="Times New Roman" panose="02020603050405020304" pitchFamily="18" charset="0"/>
                        </a:rPr>
                        <a:t>ngày</a:t>
                      </a:r>
                      <a:r>
                        <a:rPr lang="en-US" sz="1400" b="0" i="0" u="none" strike="noStrike" dirty="0">
                          <a:solidFill>
                            <a:srgbClr val="000000"/>
                          </a:solidFill>
                          <a:effectLst/>
                          <a:latin typeface="Times New Roman" panose="02020603050405020304" pitchFamily="18" charset="0"/>
                        </a:rPr>
                        <a:t> 22/4/2015 </a:t>
                      </a:r>
                      <a:r>
                        <a:rPr lang="en-US" sz="1400" b="0" i="0" u="none" strike="noStrike" dirty="0" err="1">
                          <a:solidFill>
                            <a:srgbClr val="000000"/>
                          </a:solidFill>
                          <a:effectLst/>
                          <a:latin typeface="Times New Roman" panose="02020603050405020304" pitchFamily="18" charset="0"/>
                        </a:rPr>
                        <a:t>của</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Chính</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phủ</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quy</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định</a:t>
                      </a:r>
                      <a:r>
                        <a:rPr lang="en-US" sz="1400" b="0" i="0" u="none" strike="noStrike" dirty="0">
                          <a:solidFill>
                            <a:srgbClr val="000000"/>
                          </a:solidFill>
                          <a:effectLst/>
                          <a:latin typeface="Times New Roman" panose="02020603050405020304" pitchFamily="18" charset="0"/>
                        </a:rPr>
                        <a:t> chi </a:t>
                      </a:r>
                      <a:r>
                        <a:rPr lang="en-US" sz="1400" b="0" i="0" u="none" strike="noStrike" dirty="0" err="1">
                          <a:solidFill>
                            <a:srgbClr val="000000"/>
                          </a:solidFill>
                          <a:effectLst/>
                          <a:latin typeface="Times New Roman" panose="02020603050405020304" pitchFamily="18" charset="0"/>
                        </a:rPr>
                        <a:t>tiết</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về</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hợp</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đồng</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xây</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dựng</a:t>
                      </a:r>
                      <a:endParaRPr lang="en-US" sz="1400" b="0" i="0" u="none" strike="noStrike" dirty="0">
                        <a:solidFill>
                          <a:srgbClr val="000000"/>
                        </a:solidFill>
                        <a:effectLst/>
                        <a:latin typeface="Times New Roman" panose="02020603050405020304" pitchFamily="18" charset="0"/>
                      </a:endParaRPr>
                    </a:p>
                  </a:txBody>
                  <a:tcPr marL="4982" marR="4982" marT="49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a:solidFill>
                            <a:srgbClr val="000000"/>
                          </a:solidFill>
                          <a:effectLst/>
                          <a:latin typeface="Times New Roman" panose="02020603050405020304" pitchFamily="18" charset="0"/>
                        </a:rPr>
                        <a:t>NĐ số 50</a:t>
                      </a:r>
                    </a:p>
                  </a:txBody>
                  <a:tcPr marL="4982" marR="4982" marT="49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53362922"/>
                  </a:ext>
                </a:extLst>
              </a:tr>
              <a:tr h="347198">
                <a:tc>
                  <a:txBody>
                    <a:bodyPr/>
                    <a:lstStyle/>
                    <a:p>
                      <a:pPr algn="ctr" fontAlgn="ctr"/>
                      <a:r>
                        <a:rPr lang="en-US" sz="1400" b="0" i="0" u="none" strike="noStrike">
                          <a:solidFill>
                            <a:srgbClr val="000000"/>
                          </a:solidFill>
                          <a:effectLst/>
                          <a:latin typeface="Times New Roman" panose="02020603050405020304" pitchFamily="18" charset="0"/>
                        </a:rPr>
                        <a:t>16</a:t>
                      </a:r>
                    </a:p>
                  </a:txBody>
                  <a:tcPr marL="4982" marR="4982" marT="49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400" b="0" i="0" u="none" strike="noStrike">
                          <a:solidFill>
                            <a:srgbClr val="000000"/>
                          </a:solidFill>
                          <a:effectLst/>
                          <a:latin typeface="Times New Roman" panose="02020603050405020304" pitchFamily="18" charset="0"/>
                        </a:rPr>
                        <a:t>Nghị định số 85/2025/NĐ-CP ngày 06 tháng 4 năm 2020 của Chính phủ quy định chi tiết một số điều của Luật Đầu tư công</a:t>
                      </a:r>
                    </a:p>
                  </a:txBody>
                  <a:tcPr marL="4982" marR="4982" marT="49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a:solidFill>
                            <a:srgbClr val="000000"/>
                          </a:solidFill>
                          <a:effectLst/>
                          <a:latin typeface="Times New Roman" panose="02020603050405020304" pitchFamily="18" charset="0"/>
                        </a:rPr>
                        <a:t>NĐ số 85</a:t>
                      </a:r>
                    </a:p>
                  </a:txBody>
                  <a:tcPr marL="4982" marR="4982" marT="49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7703900"/>
                  </a:ext>
                </a:extLst>
              </a:tr>
              <a:tr h="520798">
                <a:tc>
                  <a:txBody>
                    <a:bodyPr/>
                    <a:lstStyle/>
                    <a:p>
                      <a:pPr algn="ctr" fontAlgn="ctr"/>
                      <a:r>
                        <a:rPr lang="en-US" sz="1400" b="0" i="0" u="none" strike="noStrike" dirty="0">
                          <a:solidFill>
                            <a:srgbClr val="000000"/>
                          </a:solidFill>
                          <a:effectLst/>
                          <a:latin typeface="Times New Roman" panose="02020603050405020304" pitchFamily="18" charset="0"/>
                        </a:rPr>
                        <a:t>17</a:t>
                      </a:r>
                    </a:p>
                  </a:txBody>
                  <a:tcPr marL="4982" marR="4982" marT="49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400" b="0" i="0" u="none" strike="noStrike" dirty="0">
                          <a:solidFill>
                            <a:srgbClr val="000000"/>
                          </a:solidFill>
                          <a:effectLst/>
                          <a:latin typeface="Times New Roman" panose="02020603050405020304" pitchFamily="18" charset="0"/>
                        </a:rPr>
                        <a:t>Nghị định số 275/2025/NĐ-CP ngày 18 tháng 10 năm 2025 sửa đổi, bổ sung một số điều của Nghị định số 85/2025/NĐ-CP ngày 06 tháng 4 năm 2020 của Chính phủ quy định chi tiết một số điều của Luật Đầu tư công</a:t>
                      </a:r>
                    </a:p>
                  </a:txBody>
                  <a:tcPr marL="4982" marR="4982" marT="49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a:solidFill>
                            <a:srgbClr val="000000"/>
                          </a:solidFill>
                          <a:effectLst/>
                          <a:latin typeface="Times New Roman" panose="02020603050405020304" pitchFamily="18" charset="0"/>
                        </a:rPr>
                        <a:t>NĐ số 275</a:t>
                      </a:r>
                    </a:p>
                  </a:txBody>
                  <a:tcPr marL="4982" marR="4982" marT="49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2902875"/>
                  </a:ext>
                </a:extLst>
              </a:tr>
              <a:tr h="520798">
                <a:tc>
                  <a:txBody>
                    <a:bodyPr/>
                    <a:lstStyle/>
                    <a:p>
                      <a:pPr algn="ctr" fontAlgn="ctr"/>
                      <a:r>
                        <a:rPr lang="en-US" sz="1400" b="0" i="0" u="none" strike="noStrike">
                          <a:solidFill>
                            <a:srgbClr val="000000"/>
                          </a:solidFill>
                          <a:effectLst/>
                          <a:latin typeface="Times New Roman" panose="02020603050405020304" pitchFamily="18" charset="0"/>
                        </a:rPr>
                        <a:t>18</a:t>
                      </a:r>
                    </a:p>
                  </a:txBody>
                  <a:tcPr marL="4982" marR="4982" marT="49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400" b="0" i="0" u="none" strike="noStrike" dirty="0">
                          <a:solidFill>
                            <a:srgbClr val="000000"/>
                          </a:solidFill>
                          <a:effectLst/>
                          <a:latin typeface="Times New Roman" panose="02020603050405020304" pitchFamily="18" charset="0"/>
                        </a:rPr>
                        <a:t>Nghị định số 151/2025/NĐ-CP ngày 12 tháng 6 năm 2025 của Chính phủ quy định về phân định thẩm quyền của chính quyền địa phương 02 cấp, phân quyền, phân cấp trong lĩnh vực đất đai.</a:t>
                      </a:r>
                    </a:p>
                  </a:txBody>
                  <a:tcPr marL="4982" marR="4982" marT="49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a:solidFill>
                            <a:srgbClr val="000000"/>
                          </a:solidFill>
                          <a:effectLst/>
                          <a:latin typeface="Times New Roman" panose="02020603050405020304" pitchFamily="18" charset="0"/>
                        </a:rPr>
                        <a:t>NĐ số 151</a:t>
                      </a:r>
                    </a:p>
                  </a:txBody>
                  <a:tcPr marL="4982" marR="4982" marT="49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04107130"/>
                  </a:ext>
                </a:extLst>
              </a:tr>
              <a:tr h="347198">
                <a:tc>
                  <a:txBody>
                    <a:bodyPr/>
                    <a:lstStyle/>
                    <a:p>
                      <a:pPr algn="ctr" fontAlgn="ctr"/>
                      <a:r>
                        <a:rPr lang="en-US" sz="1400" b="0" i="0" u="none" strike="noStrike">
                          <a:solidFill>
                            <a:srgbClr val="000000"/>
                          </a:solidFill>
                          <a:effectLst/>
                          <a:latin typeface="Times New Roman" panose="02020603050405020304" pitchFamily="18" charset="0"/>
                        </a:rPr>
                        <a:t>19</a:t>
                      </a:r>
                    </a:p>
                  </a:txBody>
                  <a:tcPr marL="4982" marR="4982" marT="49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400" b="0" i="0" u="none" strike="noStrike" dirty="0">
                          <a:solidFill>
                            <a:srgbClr val="000000"/>
                          </a:solidFill>
                          <a:effectLst/>
                          <a:latin typeface="Times New Roman" panose="02020603050405020304" pitchFamily="18" charset="0"/>
                        </a:rPr>
                        <a:t>Nghị định số 254/2025/NĐ-CP ngày 26 tháng 9 năm 2025 của Chính phủ quy định về quản lý, thanh toán, quyết toán dự án sử dụng vốn đầu tư công</a:t>
                      </a:r>
                    </a:p>
                  </a:txBody>
                  <a:tcPr marL="4982" marR="4982" marT="49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a:solidFill>
                            <a:srgbClr val="000000"/>
                          </a:solidFill>
                          <a:effectLst/>
                          <a:latin typeface="Times New Roman" panose="02020603050405020304" pitchFamily="18" charset="0"/>
                        </a:rPr>
                        <a:t>NĐ số 254</a:t>
                      </a:r>
                    </a:p>
                  </a:txBody>
                  <a:tcPr marL="4982" marR="4982" marT="49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73172104"/>
                  </a:ext>
                </a:extLst>
              </a:tr>
              <a:tr h="347198">
                <a:tc>
                  <a:txBody>
                    <a:bodyPr/>
                    <a:lstStyle/>
                    <a:p>
                      <a:pPr algn="ctr" fontAlgn="ctr"/>
                      <a:r>
                        <a:rPr lang="en-US" sz="1400" b="0" i="0" u="none" strike="noStrike">
                          <a:solidFill>
                            <a:srgbClr val="000000"/>
                          </a:solidFill>
                          <a:effectLst/>
                          <a:latin typeface="Times New Roman" panose="02020603050405020304" pitchFamily="18" charset="0"/>
                        </a:rPr>
                        <a:t>20</a:t>
                      </a:r>
                    </a:p>
                  </a:txBody>
                  <a:tcPr marL="4982" marR="4982" marT="49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400" b="0" i="0" u="none" strike="noStrike">
                          <a:solidFill>
                            <a:srgbClr val="000000"/>
                          </a:solidFill>
                          <a:effectLst/>
                          <a:latin typeface="Times New Roman" panose="02020603050405020304" pitchFamily="18" charset="0"/>
                        </a:rPr>
                        <a:t>Nghị định số 105/2025/NĐ-CP ngày 15/5/2025 của Chính phủ quy định chi tiết một số điều và biện pháp thi hành Luật PCCC và cứu nạn, cứu hộ</a:t>
                      </a:r>
                    </a:p>
                  </a:txBody>
                  <a:tcPr marL="4982" marR="4982" marT="49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Times New Roman" panose="02020603050405020304" pitchFamily="18" charset="0"/>
                        </a:rPr>
                        <a:t>NĐ </a:t>
                      </a:r>
                      <a:r>
                        <a:rPr lang="en-US" sz="1400" b="0" i="0" u="none" strike="noStrike" dirty="0" err="1">
                          <a:solidFill>
                            <a:srgbClr val="000000"/>
                          </a:solidFill>
                          <a:effectLst/>
                          <a:latin typeface="Times New Roman" panose="02020603050405020304" pitchFamily="18" charset="0"/>
                        </a:rPr>
                        <a:t>số</a:t>
                      </a:r>
                      <a:r>
                        <a:rPr lang="en-US" sz="1400" b="0" i="0" u="none" strike="noStrike" dirty="0">
                          <a:solidFill>
                            <a:srgbClr val="000000"/>
                          </a:solidFill>
                          <a:effectLst/>
                          <a:latin typeface="Times New Roman" panose="02020603050405020304" pitchFamily="18" charset="0"/>
                        </a:rPr>
                        <a:t> 105</a:t>
                      </a:r>
                    </a:p>
                  </a:txBody>
                  <a:tcPr marL="4982" marR="4982" marT="49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57684402"/>
                  </a:ext>
                </a:extLst>
              </a:tr>
              <a:tr h="555518">
                <a:tc>
                  <a:txBody>
                    <a:bodyPr/>
                    <a:lstStyle/>
                    <a:p>
                      <a:pPr algn="ctr" fontAlgn="ctr"/>
                      <a:r>
                        <a:rPr lang="en-US" sz="1400" b="0" i="0" u="none" strike="noStrike">
                          <a:solidFill>
                            <a:srgbClr val="000000"/>
                          </a:solidFill>
                          <a:effectLst/>
                          <a:latin typeface="Times New Roman" panose="02020603050405020304" pitchFamily="18" charset="0"/>
                        </a:rPr>
                        <a:t>21</a:t>
                      </a:r>
                    </a:p>
                  </a:txBody>
                  <a:tcPr marL="4982" marR="4982" marT="49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400" b="0" i="0" u="none" strike="noStrike">
                          <a:solidFill>
                            <a:srgbClr val="000000"/>
                          </a:solidFill>
                          <a:effectLst/>
                          <a:latin typeface="Times New Roman" panose="02020603050405020304" pitchFamily="18" charset="0"/>
                        </a:rPr>
                        <a:t>Nghị định số 150/2025/NĐ-CP ngày 12/6/2025 của Chính phủ quy định tổ chức các cơ quan chuyên môn thuộc Ủy ban nhân dân tỉnh, thành phố trực thuộc trung ương và Ủy ban nhân dân xã, phường, đặc khu thuộc tỉnh, thành phố trực thuộc trung ương;</a:t>
                      </a:r>
                    </a:p>
                  </a:txBody>
                  <a:tcPr marL="4982" marR="4982" marT="49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Times New Roman" panose="02020603050405020304" pitchFamily="18" charset="0"/>
                        </a:rPr>
                        <a:t>NĐ </a:t>
                      </a:r>
                      <a:r>
                        <a:rPr lang="en-US" sz="1400" b="0" i="0" u="none" strike="noStrike" dirty="0" err="1">
                          <a:solidFill>
                            <a:srgbClr val="000000"/>
                          </a:solidFill>
                          <a:effectLst/>
                          <a:latin typeface="Times New Roman" panose="02020603050405020304" pitchFamily="18" charset="0"/>
                        </a:rPr>
                        <a:t>số</a:t>
                      </a:r>
                      <a:r>
                        <a:rPr lang="en-US" sz="1400" b="0" i="0" u="none" strike="noStrike" dirty="0">
                          <a:solidFill>
                            <a:srgbClr val="000000"/>
                          </a:solidFill>
                          <a:effectLst/>
                          <a:latin typeface="Times New Roman" panose="02020603050405020304" pitchFamily="18" charset="0"/>
                        </a:rPr>
                        <a:t> 150</a:t>
                      </a:r>
                    </a:p>
                  </a:txBody>
                  <a:tcPr marL="4982" marR="4982" marT="49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9931452"/>
                  </a:ext>
                </a:extLst>
              </a:tr>
              <a:tr h="347198">
                <a:tc>
                  <a:txBody>
                    <a:bodyPr/>
                    <a:lstStyle/>
                    <a:p>
                      <a:pPr algn="ctr" fontAlgn="ctr"/>
                      <a:r>
                        <a:rPr lang="en-US" sz="1400" b="0" i="0" u="none" strike="noStrike">
                          <a:solidFill>
                            <a:srgbClr val="000000"/>
                          </a:solidFill>
                          <a:effectLst/>
                          <a:latin typeface="Times New Roman" panose="02020603050405020304" pitchFamily="18" charset="0"/>
                        </a:rPr>
                        <a:t>22</a:t>
                      </a:r>
                    </a:p>
                  </a:txBody>
                  <a:tcPr marL="4982" marR="4982" marT="49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400" b="0" i="0" u="none" strike="noStrike">
                          <a:solidFill>
                            <a:srgbClr val="000000"/>
                          </a:solidFill>
                          <a:effectLst/>
                          <a:latin typeface="Times New Roman" panose="02020603050405020304" pitchFamily="18" charset="0"/>
                        </a:rPr>
                        <a:t>Nghị định số 136/2025/NĐ-CP ngày 12/6/2025 quy định phân quyền, phân cấp trong lĩnh vực Nông nghiệp và Môi trường; </a:t>
                      </a:r>
                    </a:p>
                  </a:txBody>
                  <a:tcPr marL="4982" marR="4982" marT="49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Times New Roman" panose="02020603050405020304" pitchFamily="18" charset="0"/>
                        </a:rPr>
                        <a:t>NĐ </a:t>
                      </a:r>
                      <a:r>
                        <a:rPr lang="en-US" sz="1400" b="0" i="0" u="none" strike="noStrike" dirty="0" err="1">
                          <a:solidFill>
                            <a:srgbClr val="000000"/>
                          </a:solidFill>
                          <a:effectLst/>
                          <a:latin typeface="Times New Roman" panose="02020603050405020304" pitchFamily="18" charset="0"/>
                        </a:rPr>
                        <a:t>số</a:t>
                      </a:r>
                      <a:r>
                        <a:rPr lang="en-US" sz="1400" b="0" i="0" u="none" strike="noStrike" dirty="0">
                          <a:solidFill>
                            <a:srgbClr val="000000"/>
                          </a:solidFill>
                          <a:effectLst/>
                          <a:latin typeface="Times New Roman" panose="02020603050405020304" pitchFamily="18" charset="0"/>
                        </a:rPr>
                        <a:t> 136</a:t>
                      </a:r>
                    </a:p>
                  </a:txBody>
                  <a:tcPr marL="4982" marR="4982" marT="49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85920271"/>
                  </a:ext>
                </a:extLst>
              </a:tr>
              <a:tr h="520798">
                <a:tc>
                  <a:txBody>
                    <a:bodyPr/>
                    <a:lstStyle/>
                    <a:p>
                      <a:pPr algn="ctr" fontAlgn="ctr"/>
                      <a:r>
                        <a:rPr lang="en-US" sz="1400" b="0" i="0" u="none" strike="noStrike">
                          <a:solidFill>
                            <a:srgbClr val="000000"/>
                          </a:solidFill>
                          <a:effectLst/>
                          <a:latin typeface="Times New Roman" panose="02020603050405020304" pitchFamily="18" charset="0"/>
                        </a:rPr>
                        <a:t>23</a:t>
                      </a:r>
                    </a:p>
                  </a:txBody>
                  <a:tcPr marL="4982" marR="4982" marT="49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400" b="0" i="0" u="none" strike="noStrike">
                          <a:solidFill>
                            <a:srgbClr val="000000"/>
                          </a:solidFill>
                          <a:effectLst/>
                          <a:latin typeface="Times New Roman" panose="02020603050405020304" pitchFamily="18" charset="0"/>
                        </a:rPr>
                        <a:t>Nghị định số 131/2025/NĐ-CP ngày 12/6/2025 quy định phân định thẩm quyền của chính quyền địa phương 02 cấp trong lĩnh vực quản lý nhà nước của Bộ Nông nghiệp và Môi trường</a:t>
                      </a:r>
                    </a:p>
                  </a:txBody>
                  <a:tcPr marL="4982" marR="4982" marT="49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Times New Roman" panose="02020603050405020304" pitchFamily="18" charset="0"/>
                        </a:rPr>
                        <a:t>NĐ </a:t>
                      </a:r>
                      <a:r>
                        <a:rPr lang="en-US" sz="1400" b="0" i="0" u="none" strike="noStrike" dirty="0" err="1">
                          <a:solidFill>
                            <a:srgbClr val="000000"/>
                          </a:solidFill>
                          <a:effectLst/>
                          <a:latin typeface="Times New Roman" panose="02020603050405020304" pitchFamily="18" charset="0"/>
                        </a:rPr>
                        <a:t>số</a:t>
                      </a:r>
                      <a:r>
                        <a:rPr lang="en-US" sz="1400" b="0" i="0" u="none" strike="noStrike" dirty="0">
                          <a:solidFill>
                            <a:srgbClr val="000000"/>
                          </a:solidFill>
                          <a:effectLst/>
                          <a:latin typeface="Times New Roman" panose="02020603050405020304" pitchFamily="18" charset="0"/>
                        </a:rPr>
                        <a:t> 131</a:t>
                      </a:r>
                    </a:p>
                  </a:txBody>
                  <a:tcPr marL="4982" marR="4982" marT="49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68942632"/>
                  </a:ext>
                </a:extLst>
              </a:tr>
              <a:tr h="520798">
                <a:tc>
                  <a:txBody>
                    <a:bodyPr/>
                    <a:lstStyle/>
                    <a:p>
                      <a:pPr algn="ctr" fontAlgn="ctr"/>
                      <a:r>
                        <a:rPr lang="en-US" sz="1400" b="0" i="0" u="none" strike="noStrike">
                          <a:solidFill>
                            <a:srgbClr val="000000"/>
                          </a:solidFill>
                          <a:effectLst/>
                          <a:latin typeface="Times New Roman" panose="02020603050405020304" pitchFamily="18" charset="0"/>
                        </a:rPr>
                        <a:t>24</a:t>
                      </a:r>
                    </a:p>
                  </a:txBody>
                  <a:tcPr marL="4982" marR="4982" marT="49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400" b="0" i="0" u="none" strike="noStrike">
                          <a:solidFill>
                            <a:srgbClr val="000000"/>
                          </a:solidFill>
                          <a:effectLst/>
                          <a:latin typeface="Times New Roman" panose="02020603050405020304" pitchFamily="18" charset="0"/>
                        </a:rPr>
                        <a:t>Nghị định số 140/2025/NĐ-CP ngày 12/6/2025 của Chính phủ quy định về phân định thẩm quyền của chính quyền địa phương 02 cấp trong lĩnh vực quản lý nhà nước của Bộ Xây dựng.</a:t>
                      </a:r>
                    </a:p>
                  </a:txBody>
                  <a:tcPr marL="4982" marR="4982" marT="49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Times New Roman" panose="02020603050405020304" pitchFamily="18" charset="0"/>
                        </a:rPr>
                        <a:t>NĐ </a:t>
                      </a:r>
                      <a:r>
                        <a:rPr lang="en-US" sz="1400" b="0" i="0" u="none" strike="noStrike" dirty="0" err="1">
                          <a:solidFill>
                            <a:srgbClr val="000000"/>
                          </a:solidFill>
                          <a:effectLst/>
                          <a:latin typeface="Times New Roman" panose="02020603050405020304" pitchFamily="18" charset="0"/>
                        </a:rPr>
                        <a:t>số</a:t>
                      </a:r>
                      <a:r>
                        <a:rPr lang="en-US" sz="1400" b="0" i="0" u="none" strike="noStrike" dirty="0">
                          <a:solidFill>
                            <a:srgbClr val="000000"/>
                          </a:solidFill>
                          <a:effectLst/>
                          <a:latin typeface="Times New Roman" panose="02020603050405020304" pitchFamily="18" charset="0"/>
                        </a:rPr>
                        <a:t> 140</a:t>
                      </a:r>
                    </a:p>
                  </a:txBody>
                  <a:tcPr marL="4982" marR="4982" marT="498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54439466"/>
                  </a:ext>
                </a:extLst>
              </a:tr>
            </a:tbl>
          </a:graphicData>
        </a:graphic>
      </p:graphicFrame>
    </p:spTree>
    <p:extLst>
      <p:ext uri="{BB962C8B-B14F-4D97-AF65-F5344CB8AC3E}">
        <p14:creationId xmlns:p14="http://schemas.microsoft.com/office/powerpoint/2010/main" val="18029497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DEECA-11E1-F63B-A6A6-A069385AABA8}"/>
            </a:ext>
          </a:extLst>
        </p:cNvPr>
        <p:cNvGrpSpPr/>
        <p:nvPr/>
      </p:nvGrpSpPr>
      <p:grpSpPr>
        <a:xfrm>
          <a:off x="0" y="0"/>
          <a:ext cx="0" cy="0"/>
          <a:chOff x="0" y="0"/>
          <a:chExt cx="0" cy="0"/>
        </a:xfrm>
      </p:grpSpPr>
      <p:sp>
        <p:nvSpPr>
          <p:cNvPr id="4" name="Title 10">
            <a:extLst>
              <a:ext uri="{FF2B5EF4-FFF2-40B4-BE49-F238E27FC236}">
                <a16:creationId xmlns:a16="http://schemas.microsoft.com/office/drawing/2014/main" id="{1E484C6F-34C3-2BD0-2071-4E7355D5E047}"/>
              </a:ext>
            </a:extLst>
          </p:cNvPr>
          <p:cNvSpPr txBox="1">
            <a:spLocks/>
          </p:cNvSpPr>
          <p:nvPr/>
        </p:nvSpPr>
        <p:spPr>
          <a:xfrm>
            <a:off x="1290828" y="155448"/>
            <a:ext cx="9025128" cy="32918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defTabSz="914400" rtl="0" eaLnBrk="1" fontAlgn="auto" latinLnBrk="0" hangingPunct="1">
              <a:lnSpc>
                <a:spcPts val="1000"/>
              </a:lnSpc>
              <a:spcBef>
                <a:spcPct val="0"/>
              </a:spcBef>
              <a:spcAft>
                <a:spcPts val="0"/>
              </a:spcAft>
              <a:buClrTx/>
              <a:buSzTx/>
              <a:buFontTx/>
              <a:buNone/>
              <a:tabLst/>
              <a:defRPr/>
            </a:pPr>
            <a:r>
              <a:rPr kumimoji="0" lang="en-US" sz="1500" b="1"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Các </a:t>
            </a:r>
            <a:r>
              <a:rPr kumimoji="0" lang="en-US" sz="1500" b="1" i="0" u="none" strike="noStrike" kern="1200" cap="none" spc="0" normalizeH="0" baseline="0" noProof="0" dirty="0" err="1">
                <a:ln>
                  <a:noFill/>
                </a:ln>
                <a:solidFill>
                  <a:prstClr val="black"/>
                </a:solidFill>
                <a:effectLst/>
                <a:uLnTx/>
                <a:uFillTx/>
                <a:latin typeface="Times New Roman" panose="02020603050405020304" pitchFamily="18" charset="0"/>
                <a:ea typeface="+mj-ea"/>
                <a:cs typeface="Times New Roman" panose="02020603050405020304" pitchFamily="18" charset="0"/>
              </a:rPr>
              <a:t>căn</a:t>
            </a:r>
            <a:r>
              <a:rPr kumimoji="0" lang="en-US" sz="1500" b="1"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 </a:t>
            </a:r>
            <a:r>
              <a:rPr kumimoji="0" lang="en-US" sz="1500" b="1" i="0" u="none" strike="noStrike" kern="1200" cap="none" spc="0" normalizeH="0" baseline="0" noProof="0" dirty="0" err="1">
                <a:ln>
                  <a:noFill/>
                </a:ln>
                <a:solidFill>
                  <a:prstClr val="black"/>
                </a:solidFill>
                <a:effectLst/>
                <a:uLnTx/>
                <a:uFillTx/>
                <a:latin typeface="Times New Roman" panose="02020603050405020304" pitchFamily="18" charset="0"/>
                <a:ea typeface="+mj-ea"/>
                <a:cs typeface="Times New Roman" panose="02020603050405020304" pitchFamily="18" charset="0"/>
              </a:rPr>
              <a:t>cứ</a:t>
            </a:r>
            <a:r>
              <a:rPr kumimoji="0" lang="en-US" sz="1500" b="1"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 </a:t>
            </a:r>
            <a:r>
              <a:rPr kumimoji="0" lang="en-US" sz="1500" b="1" i="0" u="none" strike="noStrike" kern="1200" cap="none" spc="0" normalizeH="0" baseline="0" noProof="0" dirty="0" err="1">
                <a:ln>
                  <a:noFill/>
                </a:ln>
                <a:solidFill>
                  <a:prstClr val="black"/>
                </a:solidFill>
                <a:effectLst/>
                <a:uLnTx/>
                <a:uFillTx/>
                <a:latin typeface="Times New Roman" panose="02020603050405020304" pitchFamily="18" charset="0"/>
                <a:ea typeface="+mj-ea"/>
                <a:cs typeface="Times New Roman" panose="02020603050405020304" pitchFamily="18" charset="0"/>
              </a:rPr>
              <a:t>pháp</a:t>
            </a:r>
            <a:r>
              <a:rPr kumimoji="0" lang="en-US" sz="1500" b="1"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 </a:t>
            </a:r>
            <a:r>
              <a:rPr kumimoji="0" lang="en-US" sz="1500" b="1" i="0" u="none" strike="noStrike" kern="1200" cap="none" spc="0" normalizeH="0" baseline="0" noProof="0" dirty="0" err="1">
                <a:ln>
                  <a:noFill/>
                </a:ln>
                <a:solidFill>
                  <a:prstClr val="black"/>
                </a:solidFill>
                <a:effectLst/>
                <a:uLnTx/>
                <a:uFillTx/>
                <a:latin typeface="Times New Roman" panose="02020603050405020304" pitchFamily="18" charset="0"/>
                <a:ea typeface="+mj-ea"/>
                <a:cs typeface="Times New Roman" panose="02020603050405020304" pitchFamily="18" charset="0"/>
              </a:rPr>
              <a:t>lý</a:t>
            </a:r>
            <a:endParaRPr kumimoji="0" lang="en-US" sz="4400" b="1"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endParaRPr>
          </a:p>
        </p:txBody>
      </p:sp>
      <p:graphicFrame>
        <p:nvGraphicFramePr>
          <p:cNvPr id="3" name="Table 2">
            <a:extLst>
              <a:ext uri="{FF2B5EF4-FFF2-40B4-BE49-F238E27FC236}">
                <a16:creationId xmlns:a16="http://schemas.microsoft.com/office/drawing/2014/main" id="{55B648CE-93DC-A6C6-AF02-06E18DAEE32F}"/>
              </a:ext>
            </a:extLst>
          </p:cNvPr>
          <p:cNvGraphicFramePr>
            <a:graphicFrameLocks noGrp="1"/>
          </p:cNvGraphicFramePr>
          <p:nvPr>
            <p:extLst>
              <p:ext uri="{D42A27DB-BD31-4B8C-83A1-F6EECF244321}">
                <p14:modId xmlns:p14="http://schemas.microsoft.com/office/powerpoint/2010/main" val="677503771"/>
              </p:ext>
            </p:extLst>
          </p:nvPr>
        </p:nvGraphicFramePr>
        <p:xfrm>
          <a:off x="987552" y="484632"/>
          <a:ext cx="10570464" cy="5895456"/>
        </p:xfrm>
        <a:graphic>
          <a:graphicData uri="http://schemas.openxmlformats.org/drawingml/2006/table">
            <a:tbl>
              <a:tblPr/>
              <a:tblGrid>
                <a:gridCol w="391499">
                  <a:extLst>
                    <a:ext uri="{9D8B030D-6E8A-4147-A177-3AD203B41FA5}">
                      <a16:colId xmlns:a16="http://schemas.microsoft.com/office/drawing/2014/main" val="2549195357"/>
                    </a:ext>
                  </a:extLst>
                </a:gridCol>
                <a:gridCol w="8221471">
                  <a:extLst>
                    <a:ext uri="{9D8B030D-6E8A-4147-A177-3AD203B41FA5}">
                      <a16:colId xmlns:a16="http://schemas.microsoft.com/office/drawing/2014/main" val="1472285876"/>
                    </a:ext>
                  </a:extLst>
                </a:gridCol>
                <a:gridCol w="1957494">
                  <a:extLst>
                    <a:ext uri="{9D8B030D-6E8A-4147-A177-3AD203B41FA5}">
                      <a16:colId xmlns:a16="http://schemas.microsoft.com/office/drawing/2014/main" val="2601532782"/>
                    </a:ext>
                  </a:extLst>
                </a:gridCol>
              </a:tblGrid>
              <a:tr h="155833">
                <a:tc>
                  <a:txBody>
                    <a:bodyPr/>
                    <a:lstStyle/>
                    <a:p>
                      <a:pPr algn="ctr" fontAlgn="ctr"/>
                      <a:r>
                        <a:rPr lang="en-US" sz="1400" b="1" i="0" u="none" strike="noStrike" dirty="0" err="1">
                          <a:solidFill>
                            <a:srgbClr val="000000"/>
                          </a:solidFill>
                          <a:effectLst/>
                          <a:latin typeface="Times New Roman" panose="02020603050405020304" pitchFamily="18" charset="0"/>
                        </a:rPr>
                        <a:t>Stt</a:t>
                      </a:r>
                      <a:endParaRPr lang="en-US" sz="1400" b="1" i="0" u="none" strike="noStrike" dirty="0">
                        <a:solidFill>
                          <a:srgbClr val="000000"/>
                        </a:solidFill>
                        <a:effectLst/>
                        <a:latin typeface="Times New Roman" panose="02020603050405020304" pitchFamily="18" charset="0"/>
                      </a:endParaRP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0000"/>
                          </a:solidFill>
                          <a:effectLst/>
                          <a:latin typeface="Times New Roman" panose="02020603050405020304" pitchFamily="18" charset="0"/>
                        </a:rPr>
                        <a:t>Văn bản pháp luật</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0000"/>
                          </a:solidFill>
                          <a:effectLst/>
                          <a:latin typeface="Times New Roman" panose="02020603050405020304" pitchFamily="18" charset="0"/>
                        </a:rPr>
                        <a:t>Chữ viết tắt</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98770395"/>
                  </a:ext>
                </a:extLst>
              </a:tr>
              <a:tr h="467497">
                <a:tc>
                  <a:txBody>
                    <a:bodyPr/>
                    <a:lstStyle/>
                    <a:p>
                      <a:pPr algn="ctr" fontAlgn="ctr"/>
                      <a:r>
                        <a:rPr lang="en-US" sz="1400" b="0" i="0" u="none" strike="noStrike">
                          <a:solidFill>
                            <a:srgbClr val="000000"/>
                          </a:solidFill>
                          <a:effectLst/>
                          <a:latin typeface="Times New Roman" panose="02020603050405020304" pitchFamily="18" charset="0"/>
                        </a:rPr>
                        <a:t>25</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400" b="0" i="0" u="none" strike="noStrike" dirty="0">
                          <a:solidFill>
                            <a:srgbClr val="000000"/>
                          </a:solidFill>
                          <a:effectLst/>
                          <a:latin typeface="Times New Roman" panose="02020603050405020304" pitchFamily="18" charset="0"/>
                        </a:rPr>
                        <a:t>Nghị định số 145/2025/NĐ-CP quy định về phân định thẩm quyền của chính quyền địa phương 02 cấp, phân quyền, phân cấp trong lĩnh vực quy hoạch đô thị và nông thôn.</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a:solidFill>
                            <a:srgbClr val="000000"/>
                          </a:solidFill>
                          <a:effectLst/>
                          <a:latin typeface="Times New Roman" panose="02020603050405020304" pitchFamily="18" charset="0"/>
                        </a:rPr>
                        <a:t>NĐ số 145</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73071347"/>
                  </a:ext>
                </a:extLst>
              </a:tr>
              <a:tr h="467497">
                <a:tc>
                  <a:txBody>
                    <a:bodyPr/>
                    <a:lstStyle/>
                    <a:p>
                      <a:pPr algn="ctr" fontAlgn="ctr"/>
                      <a:r>
                        <a:rPr lang="en-US" sz="1400" b="0" i="0" u="none" strike="noStrike">
                          <a:solidFill>
                            <a:srgbClr val="000000"/>
                          </a:solidFill>
                          <a:effectLst/>
                          <a:latin typeface="Times New Roman" panose="02020603050405020304" pitchFamily="18" charset="0"/>
                        </a:rPr>
                        <a:t>26</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400" b="0" i="0" u="none" strike="noStrike" dirty="0">
                          <a:solidFill>
                            <a:srgbClr val="000000"/>
                          </a:solidFill>
                          <a:effectLst/>
                          <a:latin typeface="Times New Roman" panose="02020603050405020304" pitchFamily="18" charset="0"/>
                        </a:rPr>
                        <a:t>Quyết định số 15/2022/QĐ-UBND ngày 30 tháng 3 năm 2022 của UBND Thành phố Hà Nội về việc ban hành Quy định một số nội dung quản lý chương trình, dự án đầu tư công của thành phố Hà Nội</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a:solidFill>
                            <a:srgbClr val="000000"/>
                          </a:solidFill>
                          <a:effectLst/>
                          <a:latin typeface="Times New Roman" panose="02020603050405020304" pitchFamily="18" charset="0"/>
                        </a:rPr>
                        <a:t>QĐ số 15</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71140745"/>
                  </a:ext>
                </a:extLst>
              </a:tr>
              <a:tr h="311666">
                <a:tc>
                  <a:txBody>
                    <a:bodyPr/>
                    <a:lstStyle/>
                    <a:p>
                      <a:pPr algn="ctr" fontAlgn="ctr"/>
                      <a:r>
                        <a:rPr lang="en-US" sz="1400" b="0" i="0" u="none" strike="noStrike">
                          <a:solidFill>
                            <a:srgbClr val="000000"/>
                          </a:solidFill>
                          <a:effectLst/>
                          <a:latin typeface="Times New Roman" panose="02020603050405020304" pitchFamily="18" charset="0"/>
                        </a:rPr>
                        <a:t>27</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400" b="0" i="0" u="none" strike="noStrike" dirty="0">
                          <a:solidFill>
                            <a:srgbClr val="000000"/>
                          </a:solidFill>
                          <a:effectLst/>
                          <a:latin typeface="Times New Roman" panose="02020603050405020304" pitchFamily="18" charset="0"/>
                        </a:rPr>
                        <a:t>Thông tư số 02/2023/TT-BXD ngày 3 tháng 3 năm 2023 của Bộ Xây dựng hướng dẫn một số nội dung về hợp đồng xây dựng</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a:solidFill>
                            <a:srgbClr val="000000"/>
                          </a:solidFill>
                          <a:effectLst/>
                          <a:latin typeface="Times New Roman" panose="02020603050405020304" pitchFamily="18" charset="0"/>
                        </a:rPr>
                        <a:t>TT số 02</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64167044"/>
                  </a:ext>
                </a:extLst>
              </a:tr>
              <a:tr h="467497">
                <a:tc>
                  <a:txBody>
                    <a:bodyPr/>
                    <a:lstStyle/>
                    <a:p>
                      <a:pPr algn="ctr" fontAlgn="ctr"/>
                      <a:r>
                        <a:rPr lang="en-US" sz="1400" b="0" i="0" u="none" strike="noStrike">
                          <a:solidFill>
                            <a:srgbClr val="000000"/>
                          </a:solidFill>
                          <a:effectLst/>
                          <a:latin typeface="Times New Roman" panose="02020603050405020304" pitchFamily="18" charset="0"/>
                        </a:rPr>
                        <a:t>28</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400" b="0" i="0" u="none" strike="noStrike">
                          <a:solidFill>
                            <a:srgbClr val="000000"/>
                          </a:solidFill>
                          <a:effectLst/>
                          <a:latin typeface="Times New Roman" panose="02020603050405020304" pitchFamily="18" charset="0"/>
                        </a:rPr>
                        <a:t>Thông tư số 79/2025/TT-BTC ngày 04 tháng 08 năm 2025 hướng dẫn việc cung cấp, đăng tải thông tin về LCNT thầu và mẫu hồ sơ đấu thầu trên Hệ thống mạng đấu thầu QG.</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a:solidFill>
                            <a:srgbClr val="000000"/>
                          </a:solidFill>
                          <a:effectLst/>
                          <a:latin typeface="Times New Roman" panose="02020603050405020304" pitchFamily="18" charset="0"/>
                        </a:rPr>
                        <a:t>TT số 79</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99056148"/>
                  </a:ext>
                </a:extLst>
              </a:tr>
              <a:tr h="467497">
                <a:tc>
                  <a:txBody>
                    <a:bodyPr/>
                    <a:lstStyle/>
                    <a:p>
                      <a:pPr algn="ctr" fontAlgn="ctr"/>
                      <a:r>
                        <a:rPr lang="en-US" sz="1400" b="0" i="0" u="none" strike="noStrike">
                          <a:solidFill>
                            <a:srgbClr val="000000"/>
                          </a:solidFill>
                          <a:effectLst/>
                          <a:latin typeface="Times New Roman" panose="02020603050405020304" pitchFamily="18" charset="0"/>
                        </a:rPr>
                        <a:t>29</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400" b="0" i="0" u="none" strike="noStrike" dirty="0">
                          <a:solidFill>
                            <a:srgbClr val="000000"/>
                          </a:solidFill>
                          <a:effectLst/>
                          <a:latin typeface="Times New Roman" panose="02020603050405020304" pitchFamily="18" charset="0"/>
                        </a:rPr>
                        <a:t>Thông tư số 80/2025/TT-BTC ngày 08 tháng 9 năm 2025 của Bộ Tài chính quy định chi tiết mẫu hồ sơ yêu cầu, báo cáo đánh giá, báo cáo thẩm định, kiểm tra, báo cáo tình hình thực hiện hoạt động đấu thầu.</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a:solidFill>
                            <a:srgbClr val="000000"/>
                          </a:solidFill>
                          <a:effectLst/>
                          <a:latin typeface="Times New Roman" panose="02020603050405020304" pitchFamily="18" charset="0"/>
                        </a:rPr>
                        <a:t>TT số 80</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56343008"/>
                  </a:ext>
                </a:extLst>
              </a:tr>
              <a:tr h="311666">
                <a:tc>
                  <a:txBody>
                    <a:bodyPr/>
                    <a:lstStyle/>
                    <a:p>
                      <a:pPr algn="ctr" fontAlgn="ctr"/>
                      <a:r>
                        <a:rPr lang="en-US" sz="1400" b="0" i="0" u="none" strike="noStrike">
                          <a:solidFill>
                            <a:srgbClr val="000000"/>
                          </a:solidFill>
                          <a:effectLst/>
                          <a:latin typeface="Times New Roman" panose="02020603050405020304" pitchFamily="18" charset="0"/>
                        </a:rPr>
                        <a:t>30</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400" b="0" i="0" u="none" strike="noStrike" dirty="0">
                          <a:solidFill>
                            <a:srgbClr val="000000"/>
                          </a:solidFill>
                          <a:effectLst/>
                          <a:latin typeface="Times New Roman" panose="02020603050405020304" pitchFamily="18" charset="0"/>
                        </a:rPr>
                        <a:t>Thông tư số 91/2025/TT-BTC ngày 26 tháng 9 năm 2025 của Bộ Tài chính Quy định về hệ thống biểu mẫu sử dụng trong công tác quyết toán</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a:solidFill>
                            <a:srgbClr val="000000"/>
                          </a:solidFill>
                          <a:effectLst/>
                          <a:latin typeface="Times New Roman" panose="02020603050405020304" pitchFamily="18" charset="0"/>
                        </a:rPr>
                        <a:t>TT số 91 BTC</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06443519"/>
                  </a:ext>
                </a:extLst>
              </a:tr>
              <a:tr h="467497">
                <a:tc>
                  <a:txBody>
                    <a:bodyPr/>
                    <a:lstStyle/>
                    <a:p>
                      <a:pPr algn="ctr" fontAlgn="ctr"/>
                      <a:r>
                        <a:rPr lang="en-US" sz="1400" b="0" i="0" u="none" strike="noStrike">
                          <a:solidFill>
                            <a:srgbClr val="000000"/>
                          </a:solidFill>
                          <a:effectLst/>
                          <a:latin typeface="Times New Roman" panose="02020603050405020304" pitchFamily="18" charset="0"/>
                        </a:rPr>
                        <a:t>31</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400" b="0" i="0" u="none" strike="noStrike" dirty="0" err="1">
                          <a:solidFill>
                            <a:srgbClr val="000000"/>
                          </a:solidFill>
                          <a:effectLst/>
                          <a:latin typeface="Times New Roman" panose="02020603050405020304" pitchFamily="18" charset="0"/>
                        </a:rPr>
                        <a:t>Nghị</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quyết</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số</a:t>
                      </a:r>
                      <a:r>
                        <a:rPr lang="en-US" sz="1400" b="0" i="0" u="none" strike="noStrike" dirty="0">
                          <a:solidFill>
                            <a:srgbClr val="000000"/>
                          </a:solidFill>
                          <a:effectLst/>
                          <a:latin typeface="Times New Roman" panose="02020603050405020304" pitchFamily="18" charset="0"/>
                        </a:rPr>
                        <a:t> 28/2025/NQ-HĐND </a:t>
                      </a:r>
                      <a:r>
                        <a:rPr lang="en-US" sz="1400" b="0" i="0" u="none" strike="noStrike" dirty="0" err="1">
                          <a:solidFill>
                            <a:srgbClr val="000000"/>
                          </a:solidFill>
                          <a:effectLst/>
                          <a:latin typeface="Times New Roman" panose="02020603050405020304" pitchFamily="18" charset="0"/>
                        </a:rPr>
                        <a:t>ngày</a:t>
                      </a:r>
                      <a:r>
                        <a:rPr lang="en-US" sz="1400" b="0" i="0" u="none" strike="noStrike" dirty="0">
                          <a:solidFill>
                            <a:srgbClr val="000000"/>
                          </a:solidFill>
                          <a:effectLst/>
                          <a:latin typeface="Times New Roman" panose="02020603050405020304" pitchFamily="18" charset="0"/>
                        </a:rPr>
                        <a:t> 29/9/2025 </a:t>
                      </a:r>
                      <a:r>
                        <a:rPr lang="en-US" sz="1400" b="0" i="0" u="none" strike="noStrike" dirty="0" err="1">
                          <a:solidFill>
                            <a:srgbClr val="000000"/>
                          </a:solidFill>
                          <a:effectLst/>
                          <a:latin typeface="Times New Roman" panose="02020603050405020304" pitchFamily="18" charset="0"/>
                        </a:rPr>
                        <a:t>của</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Hội</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đồng</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nhân</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dân</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thành</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phố</a:t>
                      </a:r>
                      <a:r>
                        <a:rPr lang="en-US" sz="1400" b="0" i="0" u="none" strike="noStrike" dirty="0">
                          <a:solidFill>
                            <a:srgbClr val="000000"/>
                          </a:solidFill>
                          <a:effectLst/>
                          <a:latin typeface="Times New Roman" panose="02020603050405020304" pitchFamily="18" charset="0"/>
                        </a:rPr>
                        <a:t> Hà </a:t>
                      </a:r>
                      <a:r>
                        <a:rPr lang="en-US" sz="1400" b="0" i="0" u="none" strike="noStrike" dirty="0" err="1">
                          <a:solidFill>
                            <a:srgbClr val="000000"/>
                          </a:solidFill>
                          <a:effectLst/>
                          <a:latin typeface="Times New Roman" panose="02020603050405020304" pitchFamily="18" charset="0"/>
                        </a:rPr>
                        <a:t>Nội</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về</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phân</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cấp</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nguồn</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thu</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nhiệm</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vụ</a:t>
                      </a:r>
                      <a:r>
                        <a:rPr lang="en-US" sz="1400" b="0" i="0" u="none" strike="noStrike" dirty="0">
                          <a:solidFill>
                            <a:srgbClr val="000000"/>
                          </a:solidFill>
                          <a:effectLst/>
                          <a:latin typeface="Times New Roman" panose="02020603050405020304" pitchFamily="18" charset="0"/>
                        </a:rPr>
                        <a:t> chi </a:t>
                      </a:r>
                      <a:r>
                        <a:rPr lang="en-US" sz="1400" b="0" i="0" u="none" strike="noStrike" dirty="0" err="1">
                          <a:solidFill>
                            <a:srgbClr val="000000"/>
                          </a:solidFill>
                          <a:effectLst/>
                          <a:latin typeface="Times New Roman" panose="02020603050405020304" pitchFamily="18" charset="0"/>
                        </a:rPr>
                        <a:t>giữa</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các</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cấp</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ngân</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sách</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của</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thành</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phố</a:t>
                      </a:r>
                      <a:r>
                        <a:rPr lang="en-US" sz="1400" b="0" i="0" u="none" strike="noStrike" dirty="0">
                          <a:solidFill>
                            <a:srgbClr val="000000"/>
                          </a:solidFill>
                          <a:effectLst/>
                          <a:latin typeface="Times New Roman" panose="02020603050405020304" pitchFamily="18" charset="0"/>
                        </a:rPr>
                        <a:t> Hà </a:t>
                      </a:r>
                      <a:r>
                        <a:rPr lang="en-US" sz="1400" b="0" i="0" u="none" strike="noStrike" dirty="0" err="1">
                          <a:solidFill>
                            <a:srgbClr val="000000"/>
                          </a:solidFill>
                          <a:effectLst/>
                          <a:latin typeface="Times New Roman" panose="02020603050405020304" pitchFamily="18" charset="0"/>
                        </a:rPr>
                        <a:t>Nội</a:t>
                      </a:r>
                      <a:endParaRPr lang="en-US" sz="1400" b="0" i="0" u="none" strike="noStrike" dirty="0">
                        <a:solidFill>
                          <a:srgbClr val="000000"/>
                        </a:solidFill>
                        <a:effectLst/>
                        <a:latin typeface="Times New Roman" panose="02020603050405020304" pitchFamily="18" charset="0"/>
                      </a:endParaRP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a:solidFill>
                            <a:srgbClr val="000000"/>
                          </a:solidFill>
                          <a:effectLst/>
                          <a:latin typeface="Times New Roman" panose="02020603050405020304" pitchFamily="18" charset="0"/>
                        </a:rPr>
                        <a:t>NQ số 28</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28152121"/>
                  </a:ext>
                </a:extLst>
              </a:tr>
              <a:tr h="467497">
                <a:tc>
                  <a:txBody>
                    <a:bodyPr/>
                    <a:lstStyle/>
                    <a:p>
                      <a:pPr algn="ctr" fontAlgn="ctr"/>
                      <a:r>
                        <a:rPr lang="en-US" sz="1400" b="0" i="0" u="none" strike="noStrike">
                          <a:solidFill>
                            <a:srgbClr val="000000"/>
                          </a:solidFill>
                          <a:effectLst/>
                          <a:latin typeface="Times New Roman" panose="02020603050405020304" pitchFamily="18" charset="0"/>
                        </a:rPr>
                        <a:t>32</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400" b="0" i="0" u="none" strike="noStrike" dirty="0" err="1">
                          <a:solidFill>
                            <a:srgbClr val="000000"/>
                          </a:solidFill>
                          <a:effectLst/>
                          <a:latin typeface="Times New Roman" panose="02020603050405020304" pitchFamily="18" charset="0"/>
                        </a:rPr>
                        <a:t>Nghị</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quyết</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số</a:t>
                      </a:r>
                      <a:r>
                        <a:rPr lang="en-US" sz="1400" b="0" i="0" u="none" strike="noStrike" dirty="0">
                          <a:solidFill>
                            <a:srgbClr val="000000"/>
                          </a:solidFill>
                          <a:effectLst/>
                          <a:latin typeface="Times New Roman" panose="02020603050405020304" pitchFamily="18" charset="0"/>
                        </a:rPr>
                        <a:t> 46/2025/NQ-HĐND </a:t>
                      </a:r>
                      <a:r>
                        <a:rPr lang="en-US" sz="1400" b="0" i="0" u="none" strike="noStrike" dirty="0" err="1">
                          <a:solidFill>
                            <a:srgbClr val="000000"/>
                          </a:solidFill>
                          <a:effectLst/>
                          <a:latin typeface="Times New Roman" panose="02020603050405020304" pitchFamily="18" charset="0"/>
                        </a:rPr>
                        <a:t>ngày</a:t>
                      </a:r>
                      <a:r>
                        <a:rPr lang="en-US" sz="1400" b="0" i="0" u="none" strike="noStrike" dirty="0">
                          <a:solidFill>
                            <a:srgbClr val="000000"/>
                          </a:solidFill>
                          <a:effectLst/>
                          <a:latin typeface="Times New Roman" panose="02020603050405020304" pitchFamily="18" charset="0"/>
                        </a:rPr>
                        <a:t> 13/11/2025 </a:t>
                      </a:r>
                      <a:r>
                        <a:rPr lang="en-US" sz="1400" b="0" i="0" u="none" strike="noStrike" dirty="0" err="1">
                          <a:solidFill>
                            <a:srgbClr val="000000"/>
                          </a:solidFill>
                          <a:effectLst/>
                          <a:latin typeface="Times New Roman" panose="02020603050405020304" pitchFamily="18" charset="0"/>
                        </a:rPr>
                        <a:t>của</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Hội</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đồng</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nhân</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dân</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thành</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phố</a:t>
                      </a:r>
                      <a:r>
                        <a:rPr lang="en-US" sz="1400" b="0" i="0" u="none" strike="noStrike" dirty="0">
                          <a:solidFill>
                            <a:srgbClr val="000000"/>
                          </a:solidFill>
                          <a:effectLst/>
                          <a:latin typeface="Times New Roman" panose="02020603050405020304" pitchFamily="18" charset="0"/>
                        </a:rPr>
                        <a:t> Hà </a:t>
                      </a:r>
                      <a:r>
                        <a:rPr lang="en-US" sz="1400" b="0" i="0" u="none" strike="noStrike" dirty="0" err="1">
                          <a:solidFill>
                            <a:srgbClr val="000000"/>
                          </a:solidFill>
                          <a:effectLst/>
                          <a:latin typeface="Times New Roman" panose="02020603050405020304" pitchFamily="18" charset="0"/>
                        </a:rPr>
                        <a:t>Nội</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về</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sửa</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đổi</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bổ</a:t>
                      </a:r>
                      <a:r>
                        <a:rPr lang="en-US" sz="1400" b="0" i="0" u="none" strike="noStrike" dirty="0">
                          <a:solidFill>
                            <a:srgbClr val="000000"/>
                          </a:solidFill>
                          <a:effectLst/>
                          <a:latin typeface="Times New Roman" panose="02020603050405020304" pitchFamily="18" charset="0"/>
                        </a:rPr>
                        <a:t> sung </a:t>
                      </a:r>
                      <a:r>
                        <a:rPr lang="en-US" sz="1400" b="0" i="0" u="none" strike="noStrike" dirty="0" err="1">
                          <a:solidFill>
                            <a:srgbClr val="000000"/>
                          </a:solidFill>
                          <a:effectLst/>
                          <a:latin typeface="Times New Roman" panose="02020603050405020304" pitchFamily="18" charset="0"/>
                        </a:rPr>
                        <a:t>một</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số</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nội</a:t>
                      </a:r>
                      <a:r>
                        <a:rPr lang="en-US" sz="1400" b="0" i="0" u="none" strike="noStrike" dirty="0">
                          <a:solidFill>
                            <a:srgbClr val="000000"/>
                          </a:solidFill>
                          <a:effectLst/>
                          <a:latin typeface="Times New Roman" panose="02020603050405020304" pitchFamily="18" charset="0"/>
                        </a:rPr>
                        <a:t> dung </a:t>
                      </a:r>
                      <a:r>
                        <a:rPr lang="en-US" sz="1400" b="0" i="0" u="none" strike="noStrike" dirty="0" err="1">
                          <a:solidFill>
                            <a:srgbClr val="000000"/>
                          </a:solidFill>
                          <a:effectLst/>
                          <a:latin typeface="Times New Roman" panose="02020603050405020304" pitchFamily="18" charset="0"/>
                        </a:rPr>
                        <a:t>tại</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Nghị</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quyết</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số</a:t>
                      </a:r>
                      <a:r>
                        <a:rPr lang="en-US" sz="1400" b="0" i="0" u="none" strike="noStrike" dirty="0">
                          <a:solidFill>
                            <a:srgbClr val="000000"/>
                          </a:solidFill>
                          <a:effectLst/>
                          <a:latin typeface="Times New Roman" panose="02020603050405020304" pitchFamily="18" charset="0"/>
                        </a:rPr>
                        <a:t> 28/2025/NQ-HĐND </a:t>
                      </a:r>
                      <a:r>
                        <a:rPr lang="en-US" sz="1400" b="0" i="0" u="none" strike="noStrike" dirty="0" err="1">
                          <a:solidFill>
                            <a:srgbClr val="000000"/>
                          </a:solidFill>
                          <a:effectLst/>
                          <a:latin typeface="Times New Roman" panose="02020603050405020304" pitchFamily="18" charset="0"/>
                        </a:rPr>
                        <a:t>ngày</a:t>
                      </a:r>
                      <a:r>
                        <a:rPr lang="en-US" sz="1400" b="0" i="0" u="none" strike="noStrike" dirty="0">
                          <a:solidFill>
                            <a:srgbClr val="000000"/>
                          </a:solidFill>
                          <a:effectLst/>
                          <a:latin typeface="Times New Roman" panose="02020603050405020304" pitchFamily="18" charset="0"/>
                        </a:rPr>
                        <a:t> 29/9/2025;</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a:solidFill>
                            <a:srgbClr val="000000"/>
                          </a:solidFill>
                          <a:effectLst/>
                          <a:latin typeface="Times New Roman" panose="02020603050405020304" pitchFamily="18" charset="0"/>
                        </a:rPr>
                        <a:t>NQ số 46</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72847214"/>
                  </a:ext>
                </a:extLst>
              </a:tr>
              <a:tr h="467497">
                <a:tc>
                  <a:txBody>
                    <a:bodyPr/>
                    <a:lstStyle/>
                    <a:p>
                      <a:pPr algn="ctr" fontAlgn="ctr"/>
                      <a:r>
                        <a:rPr lang="en-US" sz="1400" b="0" i="0" u="none" strike="noStrike">
                          <a:solidFill>
                            <a:srgbClr val="000000"/>
                          </a:solidFill>
                          <a:effectLst/>
                          <a:latin typeface="Times New Roman" panose="02020603050405020304" pitchFamily="18" charset="0"/>
                        </a:rPr>
                        <a:t>33</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400" b="0" i="0" u="none" strike="noStrike" dirty="0">
                          <a:solidFill>
                            <a:srgbClr val="000000"/>
                          </a:solidFill>
                          <a:effectLst/>
                          <a:latin typeface="Times New Roman" panose="02020603050405020304" pitchFamily="18" charset="0"/>
                        </a:rPr>
                        <a:t>Quyết định số 61/2025/QĐUBND ngày 26/9/2025 về phân cấp và quy định thẩm quyền quản lý nhà nước một số lĩnh vực kinh tế-xã hội trên địa bàn thành phố Hà Nội;</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a:solidFill>
                            <a:srgbClr val="000000"/>
                          </a:solidFill>
                          <a:effectLst/>
                          <a:latin typeface="Times New Roman" panose="02020603050405020304" pitchFamily="18" charset="0"/>
                        </a:rPr>
                        <a:t>QĐ số 61</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83830311"/>
                  </a:ext>
                </a:extLst>
              </a:tr>
              <a:tr h="467497">
                <a:tc>
                  <a:txBody>
                    <a:bodyPr/>
                    <a:lstStyle/>
                    <a:p>
                      <a:pPr algn="ctr" fontAlgn="ctr"/>
                      <a:r>
                        <a:rPr lang="en-US" sz="1400" b="0" i="0" u="none" strike="noStrike">
                          <a:solidFill>
                            <a:srgbClr val="000000"/>
                          </a:solidFill>
                          <a:effectLst/>
                          <a:latin typeface="Times New Roman" panose="02020603050405020304" pitchFamily="18" charset="0"/>
                        </a:rPr>
                        <a:t>34</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400" b="0" i="0" u="none" strike="noStrike" dirty="0" err="1">
                          <a:solidFill>
                            <a:srgbClr val="000000"/>
                          </a:solidFill>
                          <a:effectLst/>
                          <a:latin typeface="Times New Roman" panose="02020603050405020304" pitchFamily="18" charset="0"/>
                        </a:rPr>
                        <a:t>Quyết</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định</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số</a:t>
                      </a:r>
                      <a:r>
                        <a:rPr lang="en-US" sz="1400" b="0" i="0" u="none" strike="noStrike" dirty="0">
                          <a:solidFill>
                            <a:srgbClr val="000000"/>
                          </a:solidFill>
                          <a:effectLst/>
                          <a:latin typeface="Times New Roman" panose="02020603050405020304" pitchFamily="18" charset="0"/>
                        </a:rPr>
                        <a:t> 69/2025/QĐ-UBND </a:t>
                      </a:r>
                      <a:r>
                        <a:rPr lang="en-US" sz="1400" b="0" i="0" u="none" strike="noStrike" dirty="0" err="1">
                          <a:solidFill>
                            <a:srgbClr val="000000"/>
                          </a:solidFill>
                          <a:effectLst/>
                          <a:latin typeface="Times New Roman" panose="02020603050405020304" pitchFamily="18" charset="0"/>
                        </a:rPr>
                        <a:t>ngày</a:t>
                      </a:r>
                      <a:r>
                        <a:rPr lang="en-US" sz="1400" b="0" i="0" u="none" strike="noStrike" dirty="0">
                          <a:solidFill>
                            <a:srgbClr val="000000"/>
                          </a:solidFill>
                          <a:effectLst/>
                          <a:latin typeface="Times New Roman" panose="02020603050405020304" pitchFamily="18" charset="0"/>
                        </a:rPr>
                        <a:t> 12/11/2025 </a:t>
                      </a:r>
                      <a:r>
                        <a:rPr lang="en-US" sz="1400" b="0" i="0" u="none" strike="noStrike" dirty="0" err="1">
                          <a:solidFill>
                            <a:srgbClr val="000000"/>
                          </a:solidFill>
                          <a:effectLst/>
                          <a:latin typeface="Times New Roman" panose="02020603050405020304" pitchFamily="18" charset="0"/>
                        </a:rPr>
                        <a:t>về</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việc</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sửa</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đổi</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bổ</a:t>
                      </a:r>
                      <a:r>
                        <a:rPr lang="en-US" sz="1400" b="0" i="0" u="none" strike="noStrike" dirty="0">
                          <a:solidFill>
                            <a:srgbClr val="000000"/>
                          </a:solidFill>
                          <a:effectLst/>
                          <a:latin typeface="Times New Roman" panose="02020603050405020304" pitchFamily="18" charset="0"/>
                        </a:rPr>
                        <a:t> sung </a:t>
                      </a:r>
                      <a:r>
                        <a:rPr lang="en-US" sz="1400" b="0" i="0" u="none" strike="noStrike" dirty="0" err="1">
                          <a:solidFill>
                            <a:srgbClr val="000000"/>
                          </a:solidFill>
                          <a:effectLst/>
                          <a:latin typeface="Times New Roman" panose="02020603050405020304" pitchFamily="18" charset="0"/>
                        </a:rPr>
                        <a:t>một</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số</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điều</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của</a:t>
                      </a:r>
                      <a:r>
                        <a:rPr lang="en-US" sz="1400" b="0" i="0" u="none" strike="noStrike" dirty="0">
                          <a:solidFill>
                            <a:srgbClr val="000000"/>
                          </a:solidFill>
                          <a:effectLst/>
                          <a:latin typeface="Times New Roman" panose="02020603050405020304" pitchFamily="18" charset="0"/>
                        </a:rPr>
                        <a:t> Quy </a:t>
                      </a:r>
                      <a:r>
                        <a:rPr lang="en-US" sz="1400" b="0" i="0" u="none" strike="noStrike" dirty="0" err="1">
                          <a:solidFill>
                            <a:srgbClr val="000000"/>
                          </a:solidFill>
                          <a:effectLst/>
                          <a:latin typeface="Times New Roman" panose="02020603050405020304" pitchFamily="18" charset="0"/>
                        </a:rPr>
                        <a:t>định</a:t>
                      </a:r>
                      <a:r>
                        <a:rPr lang="en-US" sz="1400" b="0" i="0" u="none" strike="noStrike" dirty="0">
                          <a:solidFill>
                            <a:srgbClr val="000000"/>
                          </a:solidFill>
                          <a:effectLst/>
                          <a:latin typeface="Times New Roman" panose="02020603050405020304" pitchFamily="18" charset="0"/>
                        </a:rPr>
                        <a:t> ban </a:t>
                      </a:r>
                      <a:r>
                        <a:rPr lang="en-US" sz="1400" b="0" i="0" u="none" strike="noStrike" dirty="0" err="1">
                          <a:solidFill>
                            <a:srgbClr val="000000"/>
                          </a:solidFill>
                          <a:effectLst/>
                          <a:latin typeface="Times New Roman" panose="02020603050405020304" pitchFamily="18" charset="0"/>
                        </a:rPr>
                        <a:t>hành</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kèm</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theo</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Quyết</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định</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số</a:t>
                      </a:r>
                      <a:r>
                        <a:rPr lang="en-US" sz="1400" b="0" i="0" u="none" strike="noStrike" dirty="0">
                          <a:solidFill>
                            <a:srgbClr val="000000"/>
                          </a:solidFill>
                          <a:effectLst/>
                          <a:latin typeface="Times New Roman" panose="02020603050405020304" pitchFamily="18" charset="0"/>
                        </a:rPr>
                        <a:t> 61/2025/QĐ-UBND </a:t>
                      </a:r>
                      <a:r>
                        <a:rPr lang="en-US" sz="1400" b="0" i="0" u="none" strike="noStrike" dirty="0" err="1">
                          <a:solidFill>
                            <a:srgbClr val="000000"/>
                          </a:solidFill>
                          <a:effectLst/>
                          <a:latin typeface="Times New Roman" panose="02020603050405020304" pitchFamily="18" charset="0"/>
                        </a:rPr>
                        <a:t>ngày</a:t>
                      </a:r>
                      <a:r>
                        <a:rPr lang="en-US" sz="1400" b="0" i="0" u="none" strike="noStrike" dirty="0">
                          <a:solidFill>
                            <a:srgbClr val="000000"/>
                          </a:solidFill>
                          <a:effectLst/>
                          <a:latin typeface="Times New Roman" panose="02020603050405020304" pitchFamily="18" charset="0"/>
                        </a:rPr>
                        <a:t> 26/09/2025;</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a:solidFill>
                            <a:srgbClr val="000000"/>
                          </a:solidFill>
                          <a:effectLst/>
                          <a:latin typeface="Times New Roman" panose="02020603050405020304" pitchFamily="18" charset="0"/>
                        </a:rPr>
                        <a:t>QĐ số 69</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41458257"/>
                  </a:ext>
                </a:extLst>
              </a:tr>
              <a:tr h="392698">
                <a:tc>
                  <a:txBody>
                    <a:bodyPr/>
                    <a:lstStyle/>
                    <a:p>
                      <a:pPr algn="ctr" fontAlgn="ctr"/>
                      <a:r>
                        <a:rPr lang="en-US" sz="1400" b="0" i="0" u="none" strike="noStrike">
                          <a:solidFill>
                            <a:srgbClr val="000000"/>
                          </a:solidFill>
                          <a:effectLst/>
                          <a:latin typeface="Times New Roman" panose="02020603050405020304" pitchFamily="18" charset="0"/>
                        </a:rPr>
                        <a:t>35</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400" b="0" i="0" u="none" strike="noStrike" dirty="0" err="1">
                          <a:solidFill>
                            <a:srgbClr val="000000"/>
                          </a:solidFill>
                          <a:effectLst/>
                          <a:latin typeface="Times New Roman" panose="02020603050405020304" pitchFamily="18" charset="0"/>
                        </a:rPr>
                        <a:t>Quyết</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định</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số</a:t>
                      </a:r>
                      <a:r>
                        <a:rPr lang="en-US" sz="1400" b="0" i="0" u="none" strike="noStrike" dirty="0">
                          <a:solidFill>
                            <a:srgbClr val="000000"/>
                          </a:solidFill>
                          <a:effectLst/>
                          <a:latin typeface="Times New Roman" panose="02020603050405020304" pitchFamily="18" charset="0"/>
                        </a:rPr>
                        <a:t> 74/2025/QĐ-UBND </a:t>
                      </a:r>
                      <a:r>
                        <a:rPr lang="en-US" sz="1400" b="0" i="0" u="none" strike="noStrike" dirty="0" err="1">
                          <a:solidFill>
                            <a:srgbClr val="000000"/>
                          </a:solidFill>
                          <a:effectLst/>
                          <a:latin typeface="Times New Roman" panose="02020603050405020304" pitchFamily="18" charset="0"/>
                        </a:rPr>
                        <a:t>ngày</a:t>
                      </a:r>
                      <a:r>
                        <a:rPr lang="en-US" sz="1400" b="0" i="0" u="none" strike="noStrike" dirty="0">
                          <a:solidFill>
                            <a:srgbClr val="000000"/>
                          </a:solidFill>
                          <a:effectLst/>
                          <a:latin typeface="Times New Roman" panose="02020603050405020304" pitchFamily="18" charset="0"/>
                        </a:rPr>
                        <a:t> 04/12/2025 ban </a:t>
                      </a:r>
                      <a:r>
                        <a:rPr lang="en-US" sz="1400" b="0" i="0" u="none" strike="noStrike" dirty="0" err="1">
                          <a:solidFill>
                            <a:srgbClr val="000000"/>
                          </a:solidFill>
                          <a:effectLst/>
                          <a:latin typeface="Times New Roman" panose="02020603050405020304" pitchFamily="18" charset="0"/>
                        </a:rPr>
                        <a:t>hành</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quy</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định</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về</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phân</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cấp</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một</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số</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nội</a:t>
                      </a:r>
                      <a:r>
                        <a:rPr lang="en-US" sz="1400" b="0" i="0" u="none" strike="noStrike" dirty="0">
                          <a:solidFill>
                            <a:srgbClr val="000000"/>
                          </a:solidFill>
                          <a:effectLst/>
                          <a:latin typeface="Times New Roman" panose="02020603050405020304" pitchFamily="18" charset="0"/>
                        </a:rPr>
                        <a:t> dung </a:t>
                      </a:r>
                      <a:r>
                        <a:rPr lang="en-US" sz="1400" b="0" i="0" u="none" strike="noStrike" dirty="0" err="1">
                          <a:solidFill>
                            <a:srgbClr val="000000"/>
                          </a:solidFill>
                          <a:effectLst/>
                          <a:latin typeface="Times New Roman" panose="02020603050405020304" pitchFamily="18" charset="0"/>
                        </a:rPr>
                        <a:t>thuộc</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lĩnh</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vực</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xây</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dựng</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giao</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thông</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trên</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địa</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bàn</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thành</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phố</a:t>
                      </a:r>
                      <a:r>
                        <a:rPr lang="en-US" sz="1400" b="0" i="0" u="none" strike="noStrike" dirty="0">
                          <a:solidFill>
                            <a:srgbClr val="000000"/>
                          </a:solidFill>
                          <a:effectLst/>
                          <a:latin typeface="Times New Roman" panose="02020603050405020304" pitchFamily="18" charset="0"/>
                        </a:rPr>
                        <a:t> HN</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a:solidFill>
                            <a:srgbClr val="000000"/>
                          </a:solidFill>
                          <a:effectLst/>
                          <a:latin typeface="Times New Roman" panose="02020603050405020304" pitchFamily="18" charset="0"/>
                        </a:rPr>
                        <a:t>QĐ số 74</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80784964"/>
                  </a:ext>
                </a:extLst>
              </a:tr>
              <a:tr h="623330">
                <a:tc>
                  <a:txBody>
                    <a:bodyPr/>
                    <a:lstStyle/>
                    <a:p>
                      <a:pPr algn="ctr" fontAlgn="ctr"/>
                      <a:r>
                        <a:rPr lang="en-US" sz="1400" b="0" i="0" u="none" strike="noStrike">
                          <a:solidFill>
                            <a:srgbClr val="000000"/>
                          </a:solidFill>
                          <a:effectLst/>
                          <a:latin typeface="Times New Roman" panose="02020603050405020304" pitchFamily="18" charset="0"/>
                        </a:rPr>
                        <a:t>36</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400" b="0" i="0" u="none" strike="noStrike" dirty="0">
                          <a:solidFill>
                            <a:srgbClr val="000000"/>
                          </a:solidFill>
                          <a:effectLst/>
                          <a:latin typeface="Times New Roman" panose="02020603050405020304" pitchFamily="18" charset="0"/>
                        </a:rPr>
                        <a:t>Quyết định số 1315/QĐ-UBND ngày 25/3/2026 về việc ủy quyền cho Giám đốc Sở Nông nghiệp và Môi trường; Chủ tích UBND cấp xã giải quyết thủ tục hành chính thuộc lĩnh vực về bảo vệ môi trường, bảo tồn thiên nhiên và đa dạng sinh học thuộc thẩm quyền giải quyết của Chủ tịch UBND thành phố</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Times New Roman" panose="02020603050405020304" pitchFamily="18" charset="0"/>
                        </a:rPr>
                        <a:t>QĐ </a:t>
                      </a:r>
                      <a:r>
                        <a:rPr lang="en-US" sz="1400" b="0" i="0" u="none" strike="noStrike" dirty="0" err="1">
                          <a:solidFill>
                            <a:srgbClr val="000000"/>
                          </a:solidFill>
                          <a:effectLst/>
                          <a:latin typeface="Times New Roman" panose="02020603050405020304" pitchFamily="18" charset="0"/>
                        </a:rPr>
                        <a:t>số</a:t>
                      </a:r>
                      <a:r>
                        <a:rPr lang="en-US" sz="1400" b="0" i="0" u="none" strike="noStrike" dirty="0">
                          <a:solidFill>
                            <a:srgbClr val="000000"/>
                          </a:solidFill>
                          <a:effectLst/>
                          <a:latin typeface="Times New Roman" panose="02020603050405020304" pitchFamily="18" charset="0"/>
                        </a:rPr>
                        <a:t> 1315</a:t>
                      </a:r>
                    </a:p>
                  </a:txBody>
                  <a:tcPr marL="4376" marR="4376" marT="43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73217437"/>
                  </a:ext>
                </a:extLst>
              </a:tr>
            </a:tbl>
          </a:graphicData>
        </a:graphic>
      </p:graphicFrame>
    </p:spTree>
    <p:extLst>
      <p:ext uri="{BB962C8B-B14F-4D97-AF65-F5344CB8AC3E}">
        <p14:creationId xmlns:p14="http://schemas.microsoft.com/office/powerpoint/2010/main" val="31161472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0">
            <a:extLst>
              <a:ext uri="{FF2B5EF4-FFF2-40B4-BE49-F238E27FC236}">
                <a16:creationId xmlns:a16="http://schemas.microsoft.com/office/drawing/2014/main" id="{A0A45BA3-90BF-0874-44A5-060CCACF8D99}"/>
              </a:ext>
            </a:extLst>
          </p:cNvPr>
          <p:cNvSpPr txBox="1">
            <a:spLocks/>
          </p:cNvSpPr>
          <p:nvPr/>
        </p:nvSpPr>
        <p:spPr>
          <a:xfrm>
            <a:off x="804672" y="731521"/>
            <a:ext cx="10698480" cy="201167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1000"/>
              </a:lnSpc>
            </a:pPr>
            <a:r>
              <a:rPr lang="en-US" b="1" dirty="0">
                <a:latin typeface="Times New Roman" panose="02020603050405020304" pitchFamily="18" charset="0"/>
                <a:cs typeface="Times New Roman" panose="02020603050405020304" pitchFamily="18" charset="0"/>
              </a:rPr>
              <a:t>PHẦN I</a:t>
            </a:r>
            <a:br>
              <a:rPr lang="en-US" b="1" dirty="0">
                <a:latin typeface="Times New Roman" panose="02020603050405020304" pitchFamily="18" charset="0"/>
                <a:cs typeface="Times New Roman" panose="02020603050405020304" pitchFamily="18" charset="0"/>
              </a:rPr>
            </a:br>
            <a:endParaRPr lang="en-US" b="1" dirty="0">
              <a:latin typeface="Times New Roman" panose="02020603050405020304" pitchFamily="18" charset="0"/>
              <a:cs typeface="Times New Roman" panose="02020603050405020304" pitchFamily="18" charset="0"/>
            </a:endParaRPr>
          </a:p>
          <a:p>
            <a:pPr algn="ctr">
              <a:lnSpc>
                <a:spcPts val="1000"/>
              </a:lnSpc>
            </a:pPr>
            <a:endParaRPr lang="en-US" b="1" dirty="0">
              <a:latin typeface="Times New Roman" panose="02020603050405020304" pitchFamily="18" charset="0"/>
              <a:cs typeface="Times New Roman" panose="02020603050405020304" pitchFamily="18" charset="0"/>
            </a:endParaRPr>
          </a:p>
          <a:p>
            <a:pPr algn="ctr">
              <a:lnSpc>
                <a:spcPts val="1000"/>
              </a:lnSpc>
            </a:pPr>
            <a:endParaRPr lang="en-US" b="1" dirty="0">
              <a:latin typeface="Times New Roman" panose="02020603050405020304" pitchFamily="18" charset="0"/>
              <a:cs typeface="Times New Roman" panose="02020603050405020304" pitchFamily="18" charset="0"/>
            </a:endParaRPr>
          </a:p>
          <a:p>
            <a:pPr algn="ctr">
              <a:lnSpc>
                <a:spcPts val="1000"/>
              </a:lnSpc>
            </a:pPr>
            <a:endParaRPr lang="en-US" b="1" dirty="0">
              <a:latin typeface="Times New Roman" panose="02020603050405020304" pitchFamily="18" charset="0"/>
              <a:cs typeface="Times New Roman" panose="02020603050405020304" pitchFamily="18" charset="0"/>
            </a:endParaRPr>
          </a:p>
          <a:p>
            <a:pPr algn="ctr">
              <a:lnSpc>
                <a:spcPts val="1000"/>
              </a:lnSpc>
            </a:pPr>
            <a:endParaRPr lang="en-US" b="1" dirty="0">
              <a:latin typeface="Times New Roman" panose="02020603050405020304" pitchFamily="18" charset="0"/>
              <a:cs typeface="Times New Roman" panose="02020603050405020304" pitchFamily="18" charset="0"/>
            </a:endParaRPr>
          </a:p>
          <a:p>
            <a:pPr algn="ctr">
              <a:lnSpc>
                <a:spcPts val="1000"/>
              </a:lnSpc>
            </a:pPr>
            <a:r>
              <a:rPr lang="en-US" b="1" dirty="0">
                <a:latin typeface="Times New Roman" panose="02020603050405020304" pitchFamily="18" charset="0"/>
                <a:cs typeface="Times New Roman" panose="02020603050405020304" pitchFamily="18" charset="0"/>
              </a:rPr>
              <a:t>QUYẾT ĐỊNH CHỦ TRƯƠNG ĐẦU TƯ</a:t>
            </a:r>
          </a:p>
        </p:txBody>
      </p:sp>
      <p:sp>
        <p:nvSpPr>
          <p:cNvPr id="5" name="Title 10">
            <a:extLst>
              <a:ext uri="{FF2B5EF4-FFF2-40B4-BE49-F238E27FC236}">
                <a16:creationId xmlns:a16="http://schemas.microsoft.com/office/drawing/2014/main" id="{DB46F8F8-2E3E-22F5-6072-758A7CE10481}"/>
              </a:ext>
            </a:extLst>
          </p:cNvPr>
          <p:cNvSpPr txBox="1">
            <a:spLocks/>
          </p:cNvSpPr>
          <p:nvPr/>
        </p:nvSpPr>
        <p:spPr>
          <a:xfrm>
            <a:off x="1379220" y="2743200"/>
            <a:ext cx="9025128" cy="201167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3000"/>
              </a:lnSpc>
            </a:pPr>
            <a:r>
              <a:rPr lang="en-US" sz="2000" b="1" dirty="0">
                <a:latin typeface="Times New Roman" panose="02020603050405020304" pitchFamily="18" charset="0"/>
                <a:cs typeface="Times New Roman" panose="02020603050405020304" pitchFamily="18" charset="0"/>
              </a:rPr>
              <a:t>QUY TRÌNH ÁP DỤNG</a:t>
            </a:r>
          </a:p>
          <a:p>
            <a:pPr algn="ctr">
              <a:lnSpc>
                <a:spcPts val="3000"/>
              </a:lnSpc>
            </a:pPr>
            <a:r>
              <a:rPr lang="en-US" sz="2000" b="1" dirty="0">
                <a:latin typeface="Times New Roman" panose="02020603050405020304" pitchFamily="18" charset="0"/>
                <a:cs typeface="Times New Roman" panose="02020603050405020304" pitchFamily="18" charset="0"/>
              </a:rPr>
              <a:t>ĐỐI VỚI DỰ ÁN ĐẦU TƯ CÔNG THÔNG THƯỜNG</a:t>
            </a:r>
          </a:p>
          <a:p>
            <a:pPr algn="ctr">
              <a:lnSpc>
                <a:spcPts val="3000"/>
              </a:lnSpc>
            </a:pPr>
            <a:r>
              <a:rPr lang="en-US" sz="2000" b="1" dirty="0">
                <a:latin typeface="Times New Roman" panose="02020603050405020304" pitchFamily="18" charset="0"/>
                <a:cs typeface="Times New Roman" panose="02020603050405020304" pitchFamily="18" charset="0"/>
              </a:rPr>
              <a:t>SỬ DỤNG NGUỒN VỐN ĐẦU TƯ CÔNG</a:t>
            </a:r>
            <a:br>
              <a:rPr lang="en-US" sz="2000" b="1" dirty="0">
                <a:latin typeface="Times New Roman" panose="02020603050405020304" pitchFamily="18" charset="0"/>
                <a:cs typeface="Times New Roman" panose="02020603050405020304" pitchFamily="18" charset="0"/>
              </a:rPr>
            </a:br>
            <a:endParaRPr lang="en-US" sz="2000" b="1" dirty="0">
              <a:latin typeface="Times New Roman" panose="02020603050405020304" pitchFamily="18" charset="0"/>
              <a:cs typeface="Times New Roman" panose="02020603050405020304" pitchFamily="18" charset="0"/>
            </a:endParaRPr>
          </a:p>
          <a:p>
            <a:pPr algn="ctr">
              <a:lnSpc>
                <a:spcPts val="1000"/>
              </a:lnSpc>
            </a:pPr>
            <a:endParaRPr lang="en-US" sz="2000" b="1" dirty="0">
              <a:latin typeface="Times New Roman" panose="02020603050405020304" pitchFamily="18" charset="0"/>
              <a:cs typeface="Times New Roman" panose="02020603050405020304" pitchFamily="18" charset="0"/>
            </a:endParaRPr>
          </a:p>
          <a:p>
            <a:pPr algn="ctr">
              <a:lnSpc>
                <a:spcPts val="1000"/>
              </a:lnSpc>
            </a:pPr>
            <a:endParaRPr lang="en-US" sz="2000" b="1" dirty="0">
              <a:latin typeface="Times New Roman" panose="02020603050405020304" pitchFamily="18" charset="0"/>
              <a:cs typeface="Times New Roman" panose="02020603050405020304" pitchFamily="18" charset="0"/>
            </a:endParaRPr>
          </a:p>
          <a:p>
            <a:pPr algn="ctr">
              <a:lnSpc>
                <a:spcPts val="1000"/>
              </a:lnSpc>
            </a:pP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84975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6D842-9076-1AC0-FA96-56F6264B99C2}"/>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6B53C070-1F45-A145-41FA-1036B902FBCB}"/>
              </a:ext>
            </a:extLst>
          </p:cNvPr>
          <p:cNvSpPr/>
          <p:nvPr/>
        </p:nvSpPr>
        <p:spPr>
          <a:xfrm>
            <a:off x="4201668" y="1495183"/>
            <a:ext cx="3788664" cy="46636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prstClr val="black"/>
                </a:solidFill>
                <a:latin typeface="Times New Roman" panose="02020603050405020304" pitchFamily="18" charset="0"/>
                <a:cs typeface="Times New Roman" panose="02020603050405020304" pitchFamily="18" charset="0"/>
              </a:rPr>
              <a:t>BƯỚC 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Lập</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BCNCTKT/Báo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cáo</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đề</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xuất</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CTrĐT</a:t>
            </a:r>
            <a:endPar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6" name="Rectangle 15">
            <a:extLst>
              <a:ext uri="{FF2B5EF4-FFF2-40B4-BE49-F238E27FC236}">
                <a16:creationId xmlns:a16="http://schemas.microsoft.com/office/drawing/2014/main" id="{91264E91-9E49-6D99-4A3C-A44FB25A693A}"/>
              </a:ext>
            </a:extLst>
          </p:cNvPr>
          <p:cNvSpPr/>
          <p:nvPr/>
        </p:nvSpPr>
        <p:spPr>
          <a:xfrm>
            <a:off x="4201668" y="2463369"/>
            <a:ext cx="3777998" cy="63709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prstClr val="black"/>
                </a:solidFill>
                <a:latin typeface="Times New Roman" panose="02020603050405020304" pitchFamily="18" charset="0"/>
                <a:cs typeface="Times New Roman" panose="02020603050405020304" pitchFamily="18" charset="0"/>
              </a:rPr>
              <a:t>BƯỚC 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Thẩm</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định</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BC NCTKT/ Báo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cáo</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đề</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xuất</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CTrĐT</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nguồn</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vốn</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khả</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năng</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cân</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đối</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vốn</a:t>
            </a:r>
            <a:endPar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7" name="Rectangle 16">
            <a:extLst>
              <a:ext uri="{FF2B5EF4-FFF2-40B4-BE49-F238E27FC236}">
                <a16:creationId xmlns:a16="http://schemas.microsoft.com/office/drawing/2014/main" id="{450492A2-0860-F22A-0E56-367923293DE9}"/>
              </a:ext>
            </a:extLst>
          </p:cNvPr>
          <p:cNvSpPr/>
          <p:nvPr/>
        </p:nvSpPr>
        <p:spPr>
          <a:xfrm>
            <a:off x="4201668" y="3610340"/>
            <a:ext cx="3788664" cy="43198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BƯỚC 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Hoàn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chỉnh</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BCNCTKT/Báo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cáo</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lang="en-US" sz="1400" b="1" dirty="0">
                <a:solidFill>
                  <a:prstClr val="black"/>
                </a:solidFill>
                <a:latin typeface="Times New Roman" panose="02020603050405020304" pitchFamily="18" charset="0"/>
                <a:cs typeface="Times New Roman" panose="02020603050405020304" pitchFamily="18" charset="0"/>
              </a:rPr>
              <a:t>ĐX</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CTĐT</a:t>
            </a:r>
          </a:p>
        </p:txBody>
      </p:sp>
      <p:sp>
        <p:nvSpPr>
          <p:cNvPr id="18" name="Rectangle 17">
            <a:extLst>
              <a:ext uri="{FF2B5EF4-FFF2-40B4-BE49-F238E27FC236}">
                <a16:creationId xmlns:a16="http://schemas.microsoft.com/office/drawing/2014/main" id="{AB32DF7A-2D22-A5BD-B78E-316B1692A2D5}"/>
              </a:ext>
            </a:extLst>
          </p:cNvPr>
          <p:cNvSpPr/>
          <p:nvPr/>
        </p:nvSpPr>
        <p:spPr>
          <a:xfrm>
            <a:off x="4191002" y="4517941"/>
            <a:ext cx="3788664" cy="39341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BƯỚC 4</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Quyết</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định</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CTrĐT</a:t>
            </a:r>
            <a:endPar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9" name="Rectangle 18">
            <a:extLst>
              <a:ext uri="{FF2B5EF4-FFF2-40B4-BE49-F238E27FC236}">
                <a16:creationId xmlns:a16="http://schemas.microsoft.com/office/drawing/2014/main" id="{0B6AFA5F-833D-7187-0040-8E0B203CD531}"/>
              </a:ext>
            </a:extLst>
          </p:cNvPr>
          <p:cNvSpPr/>
          <p:nvPr/>
        </p:nvSpPr>
        <p:spPr>
          <a:xfrm>
            <a:off x="4201668" y="5397174"/>
            <a:ext cx="3788664" cy="45377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BƯỚC5</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Giao CĐT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dự</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án</a:t>
            </a:r>
            <a:endPar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20" name="Arrow: Down 19">
            <a:extLst>
              <a:ext uri="{FF2B5EF4-FFF2-40B4-BE49-F238E27FC236}">
                <a16:creationId xmlns:a16="http://schemas.microsoft.com/office/drawing/2014/main" id="{559F8541-29EC-0DE9-FB83-CAF6EF2F9E2B}"/>
              </a:ext>
            </a:extLst>
          </p:cNvPr>
          <p:cNvSpPr/>
          <p:nvPr/>
        </p:nvSpPr>
        <p:spPr>
          <a:xfrm>
            <a:off x="6038088" y="1981543"/>
            <a:ext cx="240796" cy="46466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1" name="Arrow: Down 20">
            <a:extLst>
              <a:ext uri="{FF2B5EF4-FFF2-40B4-BE49-F238E27FC236}">
                <a16:creationId xmlns:a16="http://schemas.microsoft.com/office/drawing/2014/main" id="{816B5564-B33A-D69A-8D00-48FBCF16DDF0}"/>
              </a:ext>
            </a:extLst>
          </p:cNvPr>
          <p:cNvSpPr/>
          <p:nvPr/>
        </p:nvSpPr>
        <p:spPr>
          <a:xfrm>
            <a:off x="6035044" y="3124573"/>
            <a:ext cx="240796" cy="47556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2" name="Arrow: Down 21">
            <a:extLst>
              <a:ext uri="{FF2B5EF4-FFF2-40B4-BE49-F238E27FC236}">
                <a16:creationId xmlns:a16="http://schemas.microsoft.com/office/drawing/2014/main" id="{C2606625-6CF5-C03B-A325-FA79DEA32394}"/>
              </a:ext>
            </a:extLst>
          </p:cNvPr>
          <p:cNvSpPr/>
          <p:nvPr/>
        </p:nvSpPr>
        <p:spPr>
          <a:xfrm>
            <a:off x="6038088" y="4933194"/>
            <a:ext cx="240796" cy="45377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Arrow: Down 22">
            <a:extLst>
              <a:ext uri="{FF2B5EF4-FFF2-40B4-BE49-F238E27FC236}">
                <a16:creationId xmlns:a16="http://schemas.microsoft.com/office/drawing/2014/main" id="{F83DF081-86C0-4EAA-7BAE-DE5A46B18456}"/>
              </a:ext>
            </a:extLst>
          </p:cNvPr>
          <p:cNvSpPr/>
          <p:nvPr/>
        </p:nvSpPr>
        <p:spPr>
          <a:xfrm>
            <a:off x="6038088" y="4069244"/>
            <a:ext cx="240796" cy="43198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0">
            <a:extLst>
              <a:ext uri="{FF2B5EF4-FFF2-40B4-BE49-F238E27FC236}">
                <a16:creationId xmlns:a16="http://schemas.microsoft.com/office/drawing/2014/main" id="{8E9A49EE-3913-500F-44CB-62F5AB5F82A8}"/>
              </a:ext>
            </a:extLst>
          </p:cNvPr>
          <p:cNvSpPr>
            <a:spLocks noGrp="1"/>
          </p:cNvSpPr>
          <p:nvPr>
            <p:ph type="ctrTitle"/>
          </p:nvPr>
        </p:nvSpPr>
        <p:spPr>
          <a:xfrm>
            <a:off x="4400556" y="449087"/>
            <a:ext cx="3509772" cy="570022"/>
          </a:xfrm>
        </p:spPr>
        <p:txBody>
          <a:bodyPr>
            <a:noAutofit/>
          </a:bodyPr>
          <a:lstStyle/>
          <a:p>
            <a:pPr>
              <a:lnSpc>
                <a:spcPts val="1000"/>
              </a:lnSpc>
            </a:pP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SƠ ĐỒ TỔNG QUÁT</a:t>
            </a:r>
          </a:p>
        </p:txBody>
      </p:sp>
    </p:spTree>
    <p:extLst>
      <p:ext uri="{BB962C8B-B14F-4D97-AF65-F5344CB8AC3E}">
        <p14:creationId xmlns:p14="http://schemas.microsoft.com/office/powerpoint/2010/main" val="1486458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BCBA0808-587B-F2E4-D336-11774FEFB3DE}"/>
              </a:ext>
            </a:extLst>
          </p:cNvPr>
          <p:cNvGraphicFramePr>
            <a:graphicFrameLocks noGrp="1"/>
          </p:cNvGraphicFramePr>
          <p:nvPr>
            <p:extLst>
              <p:ext uri="{D42A27DB-BD31-4B8C-83A1-F6EECF244321}">
                <p14:modId xmlns:p14="http://schemas.microsoft.com/office/powerpoint/2010/main" val="1542491699"/>
              </p:ext>
            </p:extLst>
          </p:nvPr>
        </p:nvGraphicFramePr>
        <p:xfrm>
          <a:off x="804672" y="1216151"/>
          <a:ext cx="10817351" cy="4887563"/>
        </p:xfrm>
        <a:graphic>
          <a:graphicData uri="http://schemas.openxmlformats.org/drawingml/2006/table">
            <a:tbl>
              <a:tblPr/>
              <a:tblGrid>
                <a:gridCol w="866067">
                  <a:extLst>
                    <a:ext uri="{9D8B030D-6E8A-4147-A177-3AD203B41FA5}">
                      <a16:colId xmlns:a16="http://schemas.microsoft.com/office/drawing/2014/main" val="2940415481"/>
                    </a:ext>
                  </a:extLst>
                </a:gridCol>
                <a:gridCol w="3907101">
                  <a:extLst>
                    <a:ext uri="{9D8B030D-6E8A-4147-A177-3AD203B41FA5}">
                      <a16:colId xmlns:a16="http://schemas.microsoft.com/office/drawing/2014/main" val="1295858138"/>
                    </a:ext>
                  </a:extLst>
                </a:gridCol>
                <a:gridCol w="2048256">
                  <a:extLst>
                    <a:ext uri="{9D8B030D-6E8A-4147-A177-3AD203B41FA5}">
                      <a16:colId xmlns:a16="http://schemas.microsoft.com/office/drawing/2014/main" val="4231769812"/>
                    </a:ext>
                  </a:extLst>
                </a:gridCol>
                <a:gridCol w="2029968">
                  <a:extLst>
                    <a:ext uri="{9D8B030D-6E8A-4147-A177-3AD203B41FA5}">
                      <a16:colId xmlns:a16="http://schemas.microsoft.com/office/drawing/2014/main" val="3627648991"/>
                    </a:ext>
                  </a:extLst>
                </a:gridCol>
                <a:gridCol w="1965959">
                  <a:extLst>
                    <a:ext uri="{9D8B030D-6E8A-4147-A177-3AD203B41FA5}">
                      <a16:colId xmlns:a16="http://schemas.microsoft.com/office/drawing/2014/main" val="1055479800"/>
                    </a:ext>
                  </a:extLst>
                </a:gridCol>
              </a:tblGrid>
              <a:tr h="357218">
                <a:tc>
                  <a:txBody>
                    <a:bodyPr/>
                    <a:lstStyle/>
                    <a:p>
                      <a:pPr algn="ctr" fontAlgn="ctr">
                        <a:buNone/>
                      </a:pPr>
                      <a:r>
                        <a:rPr lang="vi-VN" sz="1400" b="1" i="0" u="none" strike="noStrike" dirty="0">
                          <a:solidFill>
                            <a:srgbClr val="000000"/>
                          </a:solidFill>
                          <a:effectLst/>
                          <a:latin typeface="Times New Roman" panose="02020603050405020304" pitchFamily="18" charset="0"/>
                        </a:rPr>
                        <a:t>Bước 1</a:t>
                      </a:r>
                    </a:p>
                  </a:txBody>
                  <a:tcPr marL="7009" marR="7009" marT="70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400" b="1" i="0" u="none" strike="noStrike">
                          <a:solidFill>
                            <a:srgbClr val="000000"/>
                          </a:solidFill>
                          <a:effectLst/>
                          <a:latin typeface="Times New Roman" panose="02020603050405020304" pitchFamily="18" charset="0"/>
                        </a:rPr>
                        <a:t>Lập BCNCTKT/ Báo cáo đề xuất CTrĐT</a:t>
                      </a:r>
                    </a:p>
                  </a:txBody>
                  <a:tcPr marL="7009" marR="7009" marT="70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1" i="0" u="none" strike="noStrike">
                          <a:solidFill>
                            <a:srgbClr val="000000"/>
                          </a:solidFill>
                          <a:effectLst/>
                          <a:latin typeface="Times New Roman" panose="02020603050405020304" pitchFamily="18" charset="0"/>
                        </a:rPr>
                        <a:t> </a:t>
                      </a:r>
                    </a:p>
                  </a:txBody>
                  <a:tcPr marL="7009" marR="7009" marT="70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1" i="0" u="none" strike="noStrike">
                          <a:solidFill>
                            <a:srgbClr val="000000"/>
                          </a:solidFill>
                          <a:effectLst/>
                          <a:latin typeface="Times New Roman" panose="02020603050405020304" pitchFamily="18" charset="0"/>
                        </a:rPr>
                        <a:t> </a:t>
                      </a:r>
                    </a:p>
                  </a:txBody>
                  <a:tcPr marL="7009" marR="7009" marT="70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1" i="0" u="none" strike="noStrike">
                          <a:solidFill>
                            <a:srgbClr val="000000"/>
                          </a:solidFill>
                          <a:effectLst/>
                          <a:latin typeface="Times New Roman" panose="02020603050405020304" pitchFamily="18" charset="0"/>
                        </a:rPr>
                        <a:t> </a:t>
                      </a:r>
                    </a:p>
                  </a:txBody>
                  <a:tcPr marL="7009" marR="7009" marT="70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98889174"/>
                  </a:ext>
                </a:extLst>
              </a:tr>
              <a:tr h="194988">
                <a:tc>
                  <a:txBody>
                    <a:bodyPr/>
                    <a:lstStyle/>
                    <a:p>
                      <a:pPr algn="ctr" fontAlgn="ctr">
                        <a:buNone/>
                      </a:pPr>
                      <a:r>
                        <a:rPr lang="en-US" sz="1400" b="1" i="0" u="none" strike="noStrike">
                          <a:solidFill>
                            <a:srgbClr val="000000"/>
                          </a:solidFill>
                          <a:effectLst/>
                          <a:latin typeface="Times New Roman" panose="02020603050405020304" pitchFamily="18" charset="0"/>
                        </a:rPr>
                        <a:t>Stt</a:t>
                      </a:r>
                    </a:p>
                  </a:txBody>
                  <a:tcPr marL="7009" marR="7009" marT="70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1" i="0" u="none" strike="noStrike" dirty="0" err="1">
                          <a:solidFill>
                            <a:srgbClr val="000000"/>
                          </a:solidFill>
                          <a:effectLst/>
                          <a:latin typeface="Times New Roman" panose="02020603050405020304" pitchFamily="18" charset="0"/>
                        </a:rPr>
                        <a:t>Nội</a:t>
                      </a:r>
                      <a:r>
                        <a:rPr lang="en-US" sz="1400" b="1" i="0" u="none" strike="noStrike" dirty="0">
                          <a:solidFill>
                            <a:srgbClr val="000000"/>
                          </a:solidFill>
                          <a:effectLst/>
                          <a:latin typeface="Times New Roman" panose="02020603050405020304" pitchFamily="18" charset="0"/>
                        </a:rPr>
                        <a:t> dung</a:t>
                      </a:r>
                    </a:p>
                  </a:txBody>
                  <a:tcPr marL="7009" marR="7009" marT="70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vi-VN" sz="1400" b="1" i="0" u="none" strike="noStrike">
                          <a:solidFill>
                            <a:srgbClr val="000000"/>
                          </a:solidFill>
                          <a:effectLst/>
                          <a:latin typeface="Times New Roman" panose="02020603050405020304" pitchFamily="18" charset="0"/>
                        </a:rPr>
                        <a:t>Đơn vị thực hiện</a:t>
                      </a:r>
                    </a:p>
                  </a:txBody>
                  <a:tcPr marL="7009" marR="7009" marT="70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1" i="0" u="none" strike="noStrike">
                          <a:solidFill>
                            <a:srgbClr val="000000"/>
                          </a:solidFill>
                          <a:effectLst/>
                          <a:latin typeface="Times New Roman" panose="02020603050405020304" pitchFamily="18" charset="0"/>
                        </a:rPr>
                        <a:t>Điều, khoản áp dụng</a:t>
                      </a:r>
                    </a:p>
                  </a:txBody>
                  <a:tcPr marL="7009" marR="7009" marT="70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1" i="0" u="none" strike="noStrike">
                          <a:solidFill>
                            <a:srgbClr val="000000"/>
                          </a:solidFill>
                          <a:effectLst/>
                          <a:latin typeface="Times New Roman" panose="02020603050405020304" pitchFamily="18" charset="0"/>
                        </a:rPr>
                        <a:t>Ghi chú</a:t>
                      </a:r>
                    </a:p>
                  </a:txBody>
                  <a:tcPr marL="7009" marR="7009" marT="70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89215314"/>
                  </a:ext>
                </a:extLst>
              </a:tr>
              <a:tr h="995182">
                <a:tc>
                  <a:txBody>
                    <a:bodyPr/>
                    <a:lstStyle/>
                    <a:p>
                      <a:pPr algn="ctr" fontAlgn="ctr">
                        <a:buNone/>
                      </a:pPr>
                      <a:r>
                        <a:rPr lang="en-US" sz="1400" b="0" i="0" u="none" strike="noStrike">
                          <a:solidFill>
                            <a:srgbClr val="000000"/>
                          </a:solidFill>
                          <a:effectLst/>
                          <a:latin typeface="Times New Roman" panose="02020603050405020304" pitchFamily="18" charset="0"/>
                        </a:rPr>
                        <a:t>1</a:t>
                      </a:r>
                    </a:p>
                  </a:txBody>
                  <a:tcPr marL="7009" marR="7009" marT="70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400" b="0" i="0" u="none" strike="noStrike" dirty="0" err="1">
                          <a:solidFill>
                            <a:srgbClr val="000000"/>
                          </a:solidFill>
                          <a:effectLst/>
                          <a:latin typeface="Times New Roman" panose="02020603050405020304" pitchFamily="18" charset="0"/>
                        </a:rPr>
                        <a:t>Rà</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soát</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nghiên</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cứu</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dự</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án</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Lập</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tờ</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trình</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đề</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xuất</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giao</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nhiệm</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vụ</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lập</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báo</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cáo</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nghiên</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cứu</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tiền</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khả</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thi</a:t>
                      </a:r>
                      <a:r>
                        <a:rPr lang="en-US" sz="1400" b="0" i="0" u="none" strike="noStrike" dirty="0">
                          <a:solidFill>
                            <a:srgbClr val="000000"/>
                          </a:solidFill>
                          <a:effectLst/>
                          <a:latin typeface="Times New Roman" panose="02020603050405020304" pitchFamily="18" charset="0"/>
                        </a:rPr>
                        <a:t>/ Báo </a:t>
                      </a:r>
                      <a:r>
                        <a:rPr lang="en-US" sz="1400" b="0" i="0" u="none" strike="noStrike" dirty="0" err="1">
                          <a:solidFill>
                            <a:srgbClr val="000000"/>
                          </a:solidFill>
                          <a:effectLst/>
                          <a:latin typeface="Times New Roman" panose="02020603050405020304" pitchFamily="18" charset="0"/>
                        </a:rPr>
                        <a:t>cáo</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đề</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xuất</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CTrĐT</a:t>
                      </a:r>
                      <a:endParaRPr lang="en-US" sz="1400" b="0" i="0" u="none" strike="noStrike" dirty="0">
                        <a:solidFill>
                          <a:srgbClr val="000000"/>
                        </a:solidFill>
                        <a:effectLst/>
                        <a:latin typeface="Times New Roman" panose="02020603050405020304" pitchFamily="18" charset="0"/>
                      </a:endParaRPr>
                    </a:p>
                  </a:txBody>
                  <a:tcPr marL="7009" marR="7009" marT="70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vi-VN" sz="1400" b="0" i="0" u="none" strike="noStrike" dirty="0">
                          <a:solidFill>
                            <a:srgbClr val="000000"/>
                          </a:solidFill>
                          <a:effectLst/>
                          <a:latin typeface="Times New Roman" panose="02020603050405020304" pitchFamily="18" charset="0"/>
                        </a:rPr>
                        <a:t>Đơn vị trực thuộc bao gồm cả đơn vị sự nghiệp công lập trực thuộc hoặc Ủy ban nhân dân cấp xã</a:t>
                      </a:r>
                    </a:p>
                  </a:txBody>
                  <a:tcPr marL="7009" marR="7009" marT="70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dirty="0">
                          <a:solidFill>
                            <a:srgbClr val="000000"/>
                          </a:solidFill>
                          <a:effectLst/>
                          <a:latin typeface="Times New Roman" panose="02020603050405020304" pitchFamily="18" charset="0"/>
                        </a:rPr>
                        <a:t> </a:t>
                      </a:r>
                    </a:p>
                  </a:txBody>
                  <a:tcPr marL="7009" marR="7009" marT="70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1" i="0" u="none" strike="noStrike">
                          <a:solidFill>
                            <a:srgbClr val="000000"/>
                          </a:solidFill>
                          <a:effectLst/>
                          <a:latin typeface="Times New Roman" panose="02020603050405020304" pitchFamily="18" charset="0"/>
                        </a:rPr>
                        <a:t> </a:t>
                      </a:r>
                    </a:p>
                  </a:txBody>
                  <a:tcPr marL="7009" marR="7009" marT="70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87261546"/>
                  </a:ext>
                </a:extLst>
              </a:tr>
              <a:tr h="1169927">
                <a:tc>
                  <a:txBody>
                    <a:bodyPr/>
                    <a:lstStyle/>
                    <a:p>
                      <a:pPr algn="ctr" fontAlgn="ctr">
                        <a:buNone/>
                      </a:pPr>
                      <a:r>
                        <a:rPr lang="en-US" sz="1400" b="0" i="0" u="none" strike="noStrike">
                          <a:solidFill>
                            <a:srgbClr val="000000"/>
                          </a:solidFill>
                          <a:effectLst/>
                          <a:latin typeface="Times New Roman" panose="02020603050405020304" pitchFamily="18" charset="0"/>
                        </a:rPr>
                        <a:t>2</a:t>
                      </a:r>
                    </a:p>
                  </a:txBody>
                  <a:tcPr marL="7009" marR="7009" marT="70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400" b="0" i="0" u="none" strike="noStrike" dirty="0">
                          <a:solidFill>
                            <a:srgbClr val="000000"/>
                          </a:solidFill>
                          <a:effectLst/>
                          <a:latin typeface="Times New Roman" panose="02020603050405020304" pitchFamily="18" charset="0"/>
                        </a:rPr>
                        <a:t>Giao đơn vị trực thuộc bao gồm cả đơn vị sự nghiệp công lập trực thuộc hoặc Ủy ban nhân dân cấp xã lập báo cáo nghiên cứu tiền khả thi/ Báo cáo đề xuất CTrĐT</a:t>
                      </a:r>
                    </a:p>
                  </a:txBody>
                  <a:tcPr marL="7009" marR="7009" marT="70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dirty="0" err="1">
                          <a:solidFill>
                            <a:srgbClr val="000000"/>
                          </a:solidFill>
                          <a:effectLst/>
                          <a:latin typeface="Times New Roman" panose="02020603050405020304" pitchFamily="18" charset="0"/>
                        </a:rPr>
                        <a:t>Chủ</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tịch</a:t>
                      </a:r>
                      <a:r>
                        <a:rPr lang="en-US" sz="1400" b="0" i="0" u="none" strike="noStrike" dirty="0">
                          <a:solidFill>
                            <a:srgbClr val="000000"/>
                          </a:solidFill>
                          <a:effectLst/>
                          <a:latin typeface="Times New Roman" panose="02020603050405020304" pitchFamily="18" charset="0"/>
                        </a:rPr>
                        <a:t> UBND</a:t>
                      </a:r>
                      <a:br>
                        <a:rPr lang="en-US" sz="1400" b="0" i="0" u="none" strike="noStrike" dirty="0">
                          <a:solidFill>
                            <a:srgbClr val="000000"/>
                          </a:solidFill>
                          <a:effectLst/>
                          <a:latin typeface="Times New Roman" panose="02020603050405020304" pitchFamily="18" charset="0"/>
                        </a:rPr>
                      </a:br>
                      <a:r>
                        <a:rPr lang="en-US" sz="1400" b="0" i="0" u="none" strike="noStrike" dirty="0" err="1">
                          <a:solidFill>
                            <a:srgbClr val="000000"/>
                          </a:solidFill>
                          <a:effectLst/>
                          <a:latin typeface="Times New Roman" panose="02020603050405020304" pitchFamily="18" charset="0"/>
                        </a:rPr>
                        <a:t>các</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cấp</a:t>
                      </a:r>
                      <a:endParaRPr lang="en-US" sz="1400" b="0" i="0" u="none" strike="noStrike" dirty="0">
                        <a:solidFill>
                          <a:srgbClr val="000000"/>
                        </a:solidFill>
                        <a:effectLst/>
                        <a:latin typeface="Times New Roman" panose="02020603050405020304" pitchFamily="18" charset="0"/>
                      </a:endParaRPr>
                    </a:p>
                  </a:txBody>
                  <a:tcPr marL="7009" marR="7009" marT="70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vi-VN" sz="1400" b="0" i="0" u="none" strike="noStrike" dirty="0">
                          <a:solidFill>
                            <a:srgbClr val="000000"/>
                          </a:solidFill>
                          <a:effectLst/>
                          <a:latin typeface="Times New Roman" panose="02020603050405020304" pitchFamily="18" charset="0"/>
                        </a:rPr>
                        <a:t>Điểm a K1 của các điều 25, 28 Luật Đầu tư công số 58</a:t>
                      </a:r>
                    </a:p>
                  </a:txBody>
                  <a:tcPr marL="7009" marR="7009" marT="70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400" b="0" i="0" u="none" strike="noStrike">
                          <a:solidFill>
                            <a:srgbClr val="000000"/>
                          </a:solidFill>
                          <a:effectLst/>
                          <a:latin typeface="Times New Roman" panose="02020603050405020304" pitchFamily="18" charset="0"/>
                        </a:rPr>
                        <a:t> </a:t>
                      </a:r>
                    </a:p>
                  </a:txBody>
                  <a:tcPr marL="7009" marR="7009" marT="700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24863950"/>
                  </a:ext>
                </a:extLst>
              </a:tr>
              <a:tr h="2144867">
                <a:tc>
                  <a:txBody>
                    <a:bodyPr/>
                    <a:lstStyle/>
                    <a:p>
                      <a:pPr algn="ctr" fontAlgn="ctr">
                        <a:buNone/>
                      </a:pPr>
                      <a:r>
                        <a:rPr lang="en-US" sz="1400" b="0" i="0" u="none" strike="noStrike">
                          <a:solidFill>
                            <a:srgbClr val="000000"/>
                          </a:solidFill>
                          <a:effectLst/>
                          <a:latin typeface="Times New Roman" panose="02020603050405020304" pitchFamily="18" charset="0"/>
                        </a:rPr>
                        <a:t>3</a:t>
                      </a:r>
                    </a:p>
                  </a:txBody>
                  <a:tcPr marL="7009" marR="7009" marT="70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400" b="0" i="0" u="none" strike="noStrike">
                          <a:solidFill>
                            <a:srgbClr val="000000"/>
                          </a:solidFill>
                          <a:effectLst/>
                          <a:latin typeface="Times New Roman" panose="02020603050405020304" pitchFamily="18" charset="0"/>
                        </a:rPr>
                        <a:t>Lập BCNCTKT/Báo cáo đề xuất CTrĐT, thành phần hồ sơ như sau:  </a:t>
                      </a:r>
                      <a:br>
                        <a:rPr lang="vi-VN" sz="1400" b="0" i="0" u="none" strike="noStrike">
                          <a:solidFill>
                            <a:srgbClr val="000000"/>
                          </a:solidFill>
                          <a:effectLst/>
                          <a:latin typeface="Times New Roman" panose="02020603050405020304" pitchFamily="18" charset="0"/>
                        </a:rPr>
                      </a:br>
                      <a:r>
                        <a:rPr lang="vi-VN" sz="1400" b="0" i="1" u="none" strike="noStrike">
                          <a:solidFill>
                            <a:srgbClr val="000000"/>
                          </a:solidFill>
                          <a:effectLst/>
                          <a:latin typeface="Times New Roman" panose="02020603050405020304" pitchFamily="18" charset="0"/>
                        </a:rPr>
                        <a:t>- Tờ trình đề nghị cấp có thẩm quyền quyết định CTrĐT; </a:t>
                      </a:r>
                      <a:br>
                        <a:rPr lang="vi-VN" sz="1400" b="0" i="1" u="none" strike="noStrike">
                          <a:solidFill>
                            <a:srgbClr val="000000"/>
                          </a:solidFill>
                          <a:effectLst/>
                          <a:latin typeface="Times New Roman" panose="02020603050405020304" pitchFamily="18" charset="0"/>
                        </a:rPr>
                      </a:br>
                      <a:r>
                        <a:rPr lang="vi-VN" sz="1400" b="0" i="1" u="none" strike="noStrike">
                          <a:solidFill>
                            <a:srgbClr val="000000"/>
                          </a:solidFill>
                          <a:effectLst/>
                          <a:latin typeface="Times New Roman" panose="02020603050405020304" pitchFamily="18" charset="0"/>
                        </a:rPr>
                        <a:t>- BCNCTKT dự án nhóm A/Báo cáo đề xuất CTrĐT chương trình, dự án nhóm B, C theo nội dung tại Điều 34, Điều 35 Luật ĐTC số 58</a:t>
                      </a:r>
                      <a:endParaRPr lang="vi-VN" sz="1400" b="0" i="0" u="none" strike="noStrike">
                        <a:solidFill>
                          <a:srgbClr val="000000"/>
                        </a:solidFill>
                        <a:effectLst/>
                        <a:latin typeface="Times New Roman" panose="02020603050405020304" pitchFamily="18" charset="0"/>
                      </a:endParaRPr>
                    </a:p>
                  </a:txBody>
                  <a:tcPr marL="7009" marR="7009" marT="70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vi-VN" sz="1400" b="0" i="0" u="none" strike="noStrike">
                          <a:solidFill>
                            <a:srgbClr val="000000"/>
                          </a:solidFill>
                          <a:effectLst/>
                          <a:latin typeface="Times New Roman" panose="02020603050405020304" pitchFamily="18" charset="0"/>
                        </a:rPr>
                        <a:t>Đơn vị trực thuộc,</a:t>
                      </a:r>
                      <a:br>
                        <a:rPr lang="vi-VN" sz="1400" b="0" i="0" u="none" strike="noStrike">
                          <a:solidFill>
                            <a:srgbClr val="000000"/>
                          </a:solidFill>
                          <a:effectLst/>
                          <a:latin typeface="Times New Roman" panose="02020603050405020304" pitchFamily="18" charset="0"/>
                        </a:rPr>
                      </a:br>
                      <a:r>
                        <a:rPr lang="vi-VN" sz="1400" b="0" i="0" u="none" strike="noStrike">
                          <a:solidFill>
                            <a:srgbClr val="000000"/>
                          </a:solidFill>
                          <a:effectLst/>
                          <a:latin typeface="Times New Roman" panose="02020603050405020304" pitchFamily="18" charset="0"/>
                        </a:rPr>
                        <a:t>bao gồm cả đơn vị</a:t>
                      </a:r>
                      <a:br>
                        <a:rPr lang="vi-VN" sz="1400" b="0" i="0" u="none" strike="noStrike">
                          <a:solidFill>
                            <a:srgbClr val="000000"/>
                          </a:solidFill>
                          <a:effectLst/>
                          <a:latin typeface="Times New Roman" panose="02020603050405020304" pitchFamily="18" charset="0"/>
                        </a:rPr>
                      </a:br>
                      <a:r>
                        <a:rPr lang="vi-VN" sz="1400" b="0" i="0" u="none" strike="noStrike">
                          <a:solidFill>
                            <a:srgbClr val="000000"/>
                          </a:solidFill>
                          <a:effectLst/>
                          <a:latin typeface="Times New Roman" panose="02020603050405020304" pitchFamily="18" charset="0"/>
                        </a:rPr>
                        <a:t>sự nghiệp công lập</a:t>
                      </a:r>
                      <a:br>
                        <a:rPr lang="vi-VN" sz="1400" b="0" i="0" u="none" strike="noStrike">
                          <a:solidFill>
                            <a:srgbClr val="000000"/>
                          </a:solidFill>
                          <a:effectLst/>
                          <a:latin typeface="Times New Roman" panose="02020603050405020304" pitchFamily="18" charset="0"/>
                        </a:rPr>
                      </a:br>
                      <a:r>
                        <a:rPr lang="vi-VN" sz="1400" b="0" i="0" u="none" strike="noStrike">
                          <a:solidFill>
                            <a:srgbClr val="000000"/>
                          </a:solidFill>
                          <a:effectLst/>
                          <a:latin typeface="Times New Roman" panose="02020603050405020304" pitchFamily="18" charset="0"/>
                        </a:rPr>
                        <a:t>trực thuộc hoặc</a:t>
                      </a:r>
                      <a:br>
                        <a:rPr lang="vi-VN" sz="1400" b="0" i="0" u="none" strike="noStrike">
                          <a:solidFill>
                            <a:srgbClr val="000000"/>
                          </a:solidFill>
                          <a:effectLst/>
                          <a:latin typeface="Times New Roman" panose="02020603050405020304" pitchFamily="18" charset="0"/>
                        </a:rPr>
                      </a:br>
                      <a:r>
                        <a:rPr lang="vi-VN" sz="1400" b="0" i="0" u="none" strike="noStrike">
                          <a:solidFill>
                            <a:srgbClr val="000000"/>
                          </a:solidFill>
                          <a:effectLst/>
                          <a:latin typeface="Times New Roman" panose="02020603050405020304" pitchFamily="18" charset="0"/>
                        </a:rPr>
                        <a:t>UBND cấp xã</a:t>
                      </a:r>
                    </a:p>
                  </a:txBody>
                  <a:tcPr marL="7009" marR="7009" marT="70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vi-VN" sz="1400" b="0" i="0" u="none" strike="noStrike" dirty="0">
                          <a:solidFill>
                            <a:srgbClr val="000000"/>
                          </a:solidFill>
                          <a:effectLst/>
                          <a:latin typeface="Times New Roman" panose="02020603050405020304" pitchFamily="18" charset="0"/>
                        </a:rPr>
                        <a:t>Nội dung Báo cáo nghiên cứu tiền khả thi được quy định tai Đ34 Luật ĐTC số 58, báo cáo đề xuất chủ trương đầu tư được quy định tại Đ35 Luật Đầu tư công số 58</a:t>
                      </a:r>
                    </a:p>
                  </a:txBody>
                  <a:tcPr marL="7009" marR="7009" marT="70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400" b="0" i="0" u="none" strike="noStrike" dirty="0">
                          <a:solidFill>
                            <a:srgbClr val="000000"/>
                          </a:solidFill>
                          <a:effectLst/>
                          <a:latin typeface="Times New Roman" panose="02020603050405020304" pitchFamily="18" charset="0"/>
                        </a:rPr>
                        <a:t> </a:t>
                      </a:r>
                    </a:p>
                  </a:txBody>
                  <a:tcPr marL="7009" marR="7009" marT="70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85829232"/>
                  </a:ext>
                </a:extLst>
              </a:tr>
            </a:tbl>
          </a:graphicData>
        </a:graphic>
      </p:graphicFrame>
      <p:sp>
        <p:nvSpPr>
          <p:cNvPr id="5" name="Title 10">
            <a:extLst>
              <a:ext uri="{FF2B5EF4-FFF2-40B4-BE49-F238E27FC236}">
                <a16:creationId xmlns:a16="http://schemas.microsoft.com/office/drawing/2014/main" id="{C2118715-1A02-B2BC-A3F4-10F59427B22B}"/>
              </a:ext>
            </a:extLst>
          </p:cNvPr>
          <p:cNvSpPr txBox="1">
            <a:spLocks/>
          </p:cNvSpPr>
          <p:nvPr/>
        </p:nvSpPr>
        <p:spPr>
          <a:xfrm>
            <a:off x="4221480" y="585216"/>
            <a:ext cx="3749040" cy="43891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1000"/>
              </a:lnSpc>
            </a:pP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QUY TRÌNH CHI TIẾT</a:t>
            </a:r>
          </a:p>
        </p:txBody>
      </p:sp>
    </p:spTree>
    <p:extLst>
      <p:ext uri="{BB962C8B-B14F-4D97-AF65-F5344CB8AC3E}">
        <p14:creationId xmlns:p14="http://schemas.microsoft.com/office/powerpoint/2010/main" val="40216877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8A6731-0E9F-3B2A-9905-FCBE668528ED}"/>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736063F5-706C-67AE-456C-E8A74374BCF2}"/>
              </a:ext>
            </a:extLst>
          </p:cNvPr>
          <p:cNvGraphicFramePr>
            <a:graphicFrameLocks noGrp="1"/>
          </p:cNvGraphicFramePr>
          <p:nvPr>
            <p:extLst>
              <p:ext uri="{D42A27DB-BD31-4B8C-83A1-F6EECF244321}">
                <p14:modId xmlns:p14="http://schemas.microsoft.com/office/powerpoint/2010/main" val="188485583"/>
              </p:ext>
            </p:extLst>
          </p:nvPr>
        </p:nvGraphicFramePr>
        <p:xfrm>
          <a:off x="768096" y="1325880"/>
          <a:ext cx="10945367" cy="4407408"/>
        </p:xfrm>
        <a:graphic>
          <a:graphicData uri="http://schemas.openxmlformats.org/drawingml/2006/table">
            <a:tbl>
              <a:tblPr/>
              <a:tblGrid>
                <a:gridCol w="876316">
                  <a:extLst>
                    <a:ext uri="{9D8B030D-6E8A-4147-A177-3AD203B41FA5}">
                      <a16:colId xmlns:a16="http://schemas.microsoft.com/office/drawing/2014/main" val="1453843027"/>
                    </a:ext>
                  </a:extLst>
                </a:gridCol>
                <a:gridCol w="3178796">
                  <a:extLst>
                    <a:ext uri="{9D8B030D-6E8A-4147-A177-3AD203B41FA5}">
                      <a16:colId xmlns:a16="http://schemas.microsoft.com/office/drawing/2014/main" val="2351375692"/>
                    </a:ext>
                  </a:extLst>
                </a:gridCol>
                <a:gridCol w="1358136">
                  <a:extLst>
                    <a:ext uri="{9D8B030D-6E8A-4147-A177-3AD203B41FA5}">
                      <a16:colId xmlns:a16="http://schemas.microsoft.com/office/drawing/2014/main" val="1940144935"/>
                    </a:ext>
                  </a:extLst>
                </a:gridCol>
                <a:gridCol w="3858768">
                  <a:extLst>
                    <a:ext uri="{9D8B030D-6E8A-4147-A177-3AD203B41FA5}">
                      <a16:colId xmlns:a16="http://schemas.microsoft.com/office/drawing/2014/main" val="4113969826"/>
                    </a:ext>
                  </a:extLst>
                </a:gridCol>
                <a:gridCol w="1673351">
                  <a:extLst>
                    <a:ext uri="{9D8B030D-6E8A-4147-A177-3AD203B41FA5}">
                      <a16:colId xmlns:a16="http://schemas.microsoft.com/office/drawing/2014/main" val="4216328372"/>
                    </a:ext>
                  </a:extLst>
                </a:gridCol>
              </a:tblGrid>
              <a:tr h="429768">
                <a:tc>
                  <a:txBody>
                    <a:bodyPr/>
                    <a:lstStyle/>
                    <a:p>
                      <a:pPr algn="ctr" fontAlgn="ctr">
                        <a:buNone/>
                      </a:pPr>
                      <a:r>
                        <a:rPr lang="vi-VN" sz="1400" b="1" i="0" u="none" strike="noStrike" dirty="0">
                          <a:solidFill>
                            <a:srgbClr val="000000"/>
                          </a:solidFill>
                          <a:effectLst/>
                          <a:latin typeface="Times New Roman" panose="02020603050405020304" pitchFamily="18" charset="0"/>
                        </a:rPr>
                        <a:t>Bước 2</a:t>
                      </a:r>
                    </a:p>
                  </a:txBody>
                  <a:tcPr marL="6197" marR="6197" marT="61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4">
                  <a:txBody>
                    <a:bodyPr/>
                    <a:lstStyle/>
                    <a:p>
                      <a:pPr algn="l" fontAlgn="ctr">
                        <a:buNone/>
                      </a:pPr>
                      <a:r>
                        <a:rPr lang="en-US" sz="1400" b="1" i="0" u="none" strike="noStrike" dirty="0" err="1">
                          <a:solidFill>
                            <a:srgbClr val="000000"/>
                          </a:solidFill>
                          <a:effectLst/>
                          <a:latin typeface="Times New Roman" panose="02020603050405020304" pitchFamily="18" charset="0"/>
                        </a:rPr>
                        <a:t>Thẩm</a:t>
                      </a:r>
                      <a:r>
                        <a:rPr lang="en-US" sz="1400" b="1" i="0" u="none" strike="noStrike" dirty="0">
                          <a:solidFill>
                            <a:srgbClr val="000000"/>
                          </a:solidFill>
                          <a:effectLst/>
                          <a:latin typeface="Times New Roman" panose="02020603050405020304" pitchFamily="18" charset="0"/>
                        </a:rPr>
                        <a:t> </a:t>
                      </a:r>
                      <a:r>
                        <a:rPr lang="en-US" sz="1400" b="1" i="0" u="none" strike="noStrike" dirty="0" err="1">
                          <a:solidFill>
                            <a:srgbClr val="000000"/>
                          </a:solidFill>
                          <a:effectLst/>
                          <a:latin typeface="Times New Roman" panose="02020603050405020304" pitchFamily="18" charset="0"/>
                        </a:rPr>
                        <a:t>định</a:t>
                      </a:r>
                      <a:r>
                        <a:rPr lang="en-US" sz="1400" b="1" i="0" u="none" strike="noStrike" dirty="0">
                          <a:solidFill>
                            <a:srgbClr val="000000"/>
                          </a:solidFill>
                          <a:effectLst/>
                          <a:latin typeface="Times New Roman" panose="02020603050405020304" pitchFamily="18" charset="0"/>
                        </a:rPr>
                        <a:t> BCNCTKT/ </a:t>
                      </a:r>
                      <a:r>
                        <a:rPr lang="en-US" sz="1400" b="1" i="0" u="none" strike="noStrike" dirty="0" err="1">
                          <a:solidFill>
                            <a:srgbClr val="000000"/>
                          </a:solidFill>
                          <a:effectLst/>
                          <a:latin typeface="Times New Roman" panose="02020603050405020304" pitchFamily="18" charset="0"/>
                        </a:rPr>
                        <a:t>Báo</a:t>
                      </a:r>
                      <a:r>
                        <a:rPr lang="en-US" sz="1400" b="1" i="0" u="none" strike="noStrike" dirty="0">
                          <a:solidFill>
                            <a:srgbClr val="000000"/>
                          </a:solidFill>
                          <a:effectLst/>
                          <a:latin typeface="Times New Roman" panose="02020603050405020304" pitchFamily="18" charset="0"/>
                        </a:rPr>
                        <a:t> </a:t>
                      </a:r>
                      <a:r>
                        <a:rPr lang="en-US" sz="1400" b="1" i="0" u="none" strike="noStrike" dirty="0" err="1">
                          <a:solidFill>
                            <a:srgbClr val="000000"/>
                          </a:solidFill>
                          <a:effectLst/>
                          <a:latin typeface="Times New Roman" panose="02020603050405020304" pitchFamily="18" charset="0"/>
                        </a:rPr>
                        <a:t>cáo</a:t>
                      </a:r>
                      <a:r>
                        <a:rPr lang="en-US" sz="1400" b="1" i="0" u="none" strike="noStrike" dirty="0">
                          <a:solidFill>
                            <a:srgbClr val="000000"/>
                          </a:solidFill>
                          <a:effectLst/>
                          <a:latin typeface="Times New Roman" panose="02020603050405020304" pitchFamily="18" charset="0"/>
                        </a:rPr>
                        <a:t> </a:t>
                      </a:r>
                      <a:r>
                        <a:rPr lang="en-US" sz="1400" b="1" i="0" u="none" strike="noStrike" dirty="0" err="1">
                          <a:solidFill>
                            <a:srgbClr val="000000"/>
                          </a:solidFill>
                          <a:effectLst/>
                          <a:latin typeface="Times New Roman" panose="02020603050405020304" pitchFamily="18" charset="0"/>
                        </a:rPr>
                        <a:t>đề</a:t>
                      </a:r>
                      <a:r>
                        <a:rPr lang="en-US" sz="1400" b="1" i="0" u="none" strike="noStrike" dirty="0">
                          <a:solidFill>
                            <a:srgbClr val="000000"/>
                          </a:solidFill>
                          <a:effectLst/>
                          <a:latin typeface="Times New Roman" panose="02020603050405020304" pitchFamily="18" charset="0"/>
                        </a:rPr>
                        <a:t> </a:t>
                      </a:r>
                      <a:r>
                        <a:rPr lang="en-US" sz="1400" b="1" i="0" u="none" strike="noStrike" dirty="0" err="1">
                          <a:solidFill>
                            <a:srgbClr val="000000"/>
                          </a:solidFill>
                          <a:effectLst/>
                          <a:latin typeface="Times New Roman" panose="02020603050405020304" pitchFamily="18" charset="0"/>
                        </a:rPr>
                        <a:t>xuất</a:t>
                      </a:r>
                      <a:r>
                        <a:rPr lang="en-US" sz="1400" b="1" i="0" u="none" strike="noStrike" dirty="0">
                          <a:solidFill>
                            <a:srgbClr val="000000"/>
                          </a:solidFill>
                          <a:effectLst/>
                          <a:latin typeface="Times New Roman" panose="02020603050405020304" pitchFamily="18" charset="0"/>
                        </a:rPr>
                        <a:t> </a:t>
                      </a:r>
                      <a:r>
                        <a:rPr lang="en-US" sz="1400" b="1" i="0" u="none" strike="noStrike" dirty="0" err="1">
                          <a:solidFill>
                            <a:srgbClr val="000000"/>
                          </a:solidFill>
                          <a:effectLst/>
                          <a:latin typeface="Times New Roman" panose="02020603050405020304" pitchFamily="18" charset="0"/>
                        </a:rPr>
                        <a:t>CTrĐT</a:t>
                      </a:r>
                      <a:r>
                        <a:rPr lang="en-US" sz="1400" b="1" i="0" u="none" strike="noStrike" dirty="0">
                          <a:solidFill>
                            <a:srgbClr val="000000"/>
                          </a:solidFill>
                          <a:effectLst/>
                          <a:latin typeface="Times New Roman" panose="02020603050405020304" pitchFamily="18" charset="0"/>
                        </a:rPr>
                        <a:t>, </a:t>
                      </a:r>
                      <a:r>
                        <a:rPr lang="en-US" sz="1400" b="1" i="0" u="none" strike="noStrike" dirty="0" err="1">
                          <a:solidFill>
                            <a:srgbClr val="000000"/>
                          </a:solidFill>
                          <a:effectLst/>
                          <a:latin typeface="Times New Roman" panose="02020603050405020304" pitchFamily="18" charset="0"/>
                        </a:rPr>
                        <a:t>nguồn</a:t>
                      </a:r>
                      <a:r>
                        <a:rPr lang="en-US" sz="1400" b="1" i="0" u="none" strike="noStrike" dirty="0">
                          <a:solidFill>
                            <a:srgbClr val="000000"/>
                          </a:solidFill>
                          <a:effectLst/>
                          <a:latin typeface="Times New Roman" panose="02020603050405020304" pitchFamily="18" charset="0"/>
                        </a:rPr>
                        <a:t> </a:t>
                      </a:r>
                      <a:r>
                        <a:rPr lang="en-US" sz="1400" b="1" i="0" u="none" strike="noStrike" dirty="0" err="1">
                          <a:solidFill>
                            <a:srgbClr val="000000"/>
                          </a:solidFill>
                          <a:effectLst/>
                          <a:latin typeface="Times New Roman" panose="02020603050405020304" pitchFamily="18" charset="0"/>
                        </a:rPr>
                        <a:t>vốn</a:t>
                      </a:r>
                      <a:r>
                        <a:rPr lang="en-US" sz="1400" b="1" i="0" u="none" strike="noStrike" dirty="0">
                          <a:solidFill>
                            <a:srgbClr val="000000"/>
                          </a:solidFill>
                          <a:effectLst/>
                          <a:latin typeface="Times New Roman" panose="02020603050405020304" pitchFamily="18" charset="0"/>
                        </a:rPr>
                        <a:t> </a:t>
                      </a:r>
                      <a:r>
                        <a:rPr lang="en-US" sz="1400" b="1" i="0" u="none" strike="noStrike" dirty="0" err="1">
                          <a:solidFill>
                            <a:srgbClr val="000000"/>
                          </a:solidFill>
                          <a:effectLst/>
                          <a:latin typeface="Times New Roman" panose="02020603050405020304" pitchFamily="18" charset="0"/>
                        </a:rPr>
                        <a:t>và</a:t>
                      </a:r>
                      <a:r>
                        <a:rPr lang="en-US" sz="1400" b="1" i="0" u="none" strike="noStrike" dirty="0">
                          <a:solidFill>
                            <a:srgbClr val="000000"/>
                          </a:solidFill>
                          <a:effectLst/>
                          <a:latin typeface="Times New Roman" panose="02020603050405020304" pitchFamily="18" charset="0"/>
                        </a:rPr>
                        <a:t> </a:t>
                      </a:r>
                      <a:r>
                        <a:rPr lang="en-US" sz="1400" b="1" i="0" u="none" strike="noStrike" dirty="0" err="1">
                          <a:solidFill>
                            <a:srgbClr val="000000"/>
                          </a:solidFill>
                          <a:effectLst/>
                          <a:latin typeface="Times New Roman" panose="02020603050405020304" pitchFamily="18" charset="0"/>
                        </a:rPr>
                        <a:t>khả</a:t>
                      </a:r>
                      <a:r>
                        <a:rPr lang="en-US" sz="1400" b="1" i="0" u="none" strike="noStrike" dirty="0">
                          <a:solidFill>
                            <a:srgbClr val="000000"/>
                          </a:solidFill>
                          <a:effectLst/>
                          <a:latin typeface="Times New Roman" panose="02020603050405020304" pitchFamily="18" charset="0"/>
                        </a:rPr>
                        <a:t> </a:t>
                      </a:r>
                      <a:r>
                        <a:rPr lang="en-US" sz="1400" b="1" i="0" u="none" strike="noStrike" dirty="0" err="1">
                          <a:solidFill>
                            <a:srgbClr val="000000"/>
                          </a:solidFill>
                          <a:effectLst/>
                          <a:latin typeface="Times New Roman" panose="02020603050405020304" pitchFamily="18" charset="0"/>
                        </a:rPr>
                        <a:t>năng</a:t>
                      </a:r>
                      <a:r>
                        <a:rPr lang="en-US" sz="1400" b="1" i="0" u="none" strike="noStrike" dirty="0">
                          <a:solidFill>
                            <a:srgbClr val="000000"/>
                          </a:solidFill>
                          <a:effectLst/>
                          <a:latin typeface="Times New Roman" panose="02020603050405020304" pitchFamily="18" charset="0"/>
                        </a:rPr>
                        <a:t> </a:t>
                      </a:r>
                      <a:r>
                        <a:rPr lang="en-US" sz="1400" b="1" i="0" u="none" strike="noStrike" dirty="0" err="1">
                          <a:solidFill>
                            <a:srgbClr val="000000"/>
                          </a:solidFill>
                          <a:effectLst/>
                          <a:latin typeface="Times New Roman" panose="02020603050405020304" pitchFamily="18" charset="0"/>
                        </a:rPr>
                        <a:t>cân</a:t>
                      </a:r>
                      <a:r>
                        <a:rPr lang="en-US" sz="1400" b="1" i="0" u="none" strike="noStrike" dirty="0">
                          <a:solidFill>
                            <a:srgbClr val="000000"/>
                          </a:solidFill>
                          <a:effectLst/>
                          <a:latin typeface="Times New Roman" panose="02020603050405020304" pitchFamily="18" charset="0"/>
                        </a:rPr>
                        <a:t> </a:t>
                      </a:r>
                      <a:r>
                        <a:rPr lang="en-US" sz="1400" b="1" i="0" u="none" strike="noStrike" dirty="0" err="1">
                          <a:solidFill>
                            <a:srgbClr val="000000"/>
                          </a:solidFill>
                          <a:effectLst/>
                          <a:latin typeface="Times New Roman" panose="02020603050405020304" pitchFamily="18" charset="0"/>
                        </a:rPr>
                        <a:t>đối</a:t>
                      </a:r>
                      <a:r>
                        <a:rPr lang="en-US" sz="1400" b="1" i="0" u="none" strike="noStrike" dirty="0">
                          <a:solidFill>
                            <a:srgbClr val="000000"/>
                          </a:solidFill>
                          <a:effectLst/>
                          <a:latin typeface="Times New Roman" panose="02020603050405020304" pitchFamily="18" charset="0"/>
                        </a:rPr>
                        <a:t> </a:t>
                      </a:r>
                      <a:r>
                        <a:rPr lang="en-US" sz="1400" b="1" i="0" u="none" strike="noStrike" dirty="0" err="1">
                          <a:solidFill>
                            <a:srgbClr val="000000"/>
                          </a:solidFill>
                          <a:effectLst/>
                          <a:latin typeface="Times New Roman" panose="02020603050405020304" pitchFamily="18" charset="0"/>
                        </a:rPr>
                        <a:t>vốn</a:t>
                      </a:r>
                      <a:endParaRPr lang="en-US" sz="1400" b="1" i="0" u="none" strike="noStrike" dirty="0">
                        <a:solidFill>
                          <a:srgbClr val="000000"/>
                        </a:solidFill>
                        <a:effectLst/>
                        <a:latin typeface="Times New Roman" panose="02020603050405020304" pitchFamily="18" charset="0"/>
                      </a:endParaRPr>
                    </a:p>
                  </a:txBody>
                  <a:tcPr marL="6197" marR="6197" marT="61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a:p>
                  </a:txBody>
                  <a:tcPr marL="6197" marR="6197" marT="61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a:p>
                  </a:txBody>
                  <a:tcPr marL="6197" marR="6197" marT="61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dirty="0"/>
                    </a:p>
                  </a:txBody>
                  <a:tcPr marL="6197" marR="6197" marT="61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18924174"/>
                  </a:ext>
                </a:extLst>
              </a:tr>
              <a:tr h="172710">
                <a:tc>
                  <a:txBody>
                    <a:bodyPr/>
                    <a:lstStyle/>
                    <a:p>
                      <a:pPr algn="ctr" fontAlgn="ctr">
                        <a:buNone/>
                      </a:pPr>
                      <a:r>
                        <a:rPr lang="en-US" sz="1400" b="1" i="0" u="none" strike="noStrike">
                          <a:solidFill>
                            <a:srgbClr val="000000"/>
                          </a:solidFill>
                          <a:effectLst/>
                          <a:latin typeface="Times New Roman" panose="02020603050405020304" pitchFamily="18" charset="0"/>
                        </a:rPr>
                        <a:t>Stt</a:t>
                      </a:r>
                    </a:p>
                  </a:txBody>
                  <a:tcPr marL="6197" marR="6197" marT="61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1" i="0" u="none" strike="noStrike" dirty="0" err="1">
                          <a:solidFill>
                            <a:srgbClr val="000000"/>
                          </a:solidFill>
                          <a:effectLst/>
                          <a:latin typeface="Times New Roman" panose="02020603050405020304" pitchFamily="18" charset="0"/>
                        </a:rPr>
                        <a:t>Nội</a:t>
                      </a:r>
                      <a:r>
                        <a:rPr lang="en-US" sz="1400" b="1" i="0" u="none" strike="noStrike" dirty="0">
                          <a:solidFill>
                            <a:srgbClr val="000000"/>
                          </a:solidFill>
                          <a:effectLst/>
                          <a:latin typeface="Times New Roman" panose="02020603050405020304" pitchFamily="18" charset="0"/>
                        </a:rPr>
                        <a:t> dung</a:t>
                      </a:r>
                    </a:p>
                  </a:txBody>
                  <a:tcPr marL="6197" marR="6197" marT="61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vi-VN" sz="1400" b="1" i="0" u="none" strike="noStrike">
                          <a:solidFill>
                            <a:srgbClr val="000000"/>
                          </a:solidFill>
                          <a:effectLst/>
                          <a:latin typeface="Times New Roman" panose="02020603050405020304" pitchFamily="18" charset="0"/>
                        </a:rPr>
                        <a:t>Đơn vị thực hiện</a:t>
                      </a:r>
                    </a:p>
                  </a:txBody>
                  <a:tcPr marL="6197" marR="6197" marT="61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1" i="0" u="none" strike="noStrike" dirty="0" err="1">
                          <a:solidFill>
                            <a:srgbClr val="000000"/>
                          </a:solidFill>
                          <a:effectLst/>
                          <a:latin typeface="Times New Roman" panose="02020603050405020304" pitchFamily="18" charset="0"/>
                        </a:rPr>
                        <a:t>Điều</a:t>
                      </a:r>
                      <a:r>
                        <a:rPr lang="en-US" sz="1400" b="1" i="0" u="none" strike="noStrike" dirty="0">
                          <a:solidFill>
                            <a:srgbClr val="000000"/>
                          </a:solidFill>
                          <a:effectLst/>
                          <a:latin typeface="Times New Roman" panose="02020603050405020304" pitchFamily="18" charset="0"/>
                        </a:rPr>
                        <a:t>, </a:t>
                      </a:r>
                      <a:r>
                        <a:rPr lang="en-US" sz="1400" b="1" i="0" u="none" strike="noStrike" dirty="0" err="1">
                          <a:solidFill>
                            <a:srgbClr val="000000"/>
                          </a:solidFill>
                          <a:effectLst/>
                          <a:latin typeface="Times New Roman" panose="02020603050405020304" pitchFamily="18" charset="0"/>
                        </a:rPr>
                        <a:t>khoản</a:t>
                      </a:r>
                      <a:r>
                        <a:rPr lang="en-US" sz="1400" b="1" i="0" u="none" strike="noStrike" dirty="0">
                          <a:solidFill>
                            <a:srgbClr val="000000"/>
                          </a:solidFill>
                          <a:effectLst/>
                          <a:latin typeface="Times New Roman" panose="02020603050405020304" pitchFamily="18" charset="0"/>
                        </a:rPr>
                        <a:t> </a:t>
                      </a:r>
                      <a:r>
                        <a:rPr lang="en-US" sz="1400" b="1" i="0" u="none" strike="noStrike" dirty="0" err="1">
                          <a:solidFill>
                            <a:srgbClr val="000000"/>
                          </a:solidFill>
                          <a:effectLst/>
                          <a:latin typeface="Times New Roman" panose="02020603050405020304" pitchFamily="18" charset="0"/>
                        </a:rPr>
                        <a:t>áp</a:t>
                      </a:r>
                      <a:r>
                        <a:rPr lang="en-US" sz="1400" b="1" i="0" u="none" strike="noStrike" dirty="0">
                          <a:solidFill>
                            <a:srgbClr val="000000"/>
                          </a:solidFill>
                          <a:effectLst/>
                          <a:latin typeface="Times New Roman" panose="02020603050405020304" pitchFamily="18" charset="0"/>
                        </a:rPr>
                        <a:t> </a:t>
                      </a:r>
                      <a:r>
                        <a:rPr lang="en-US" sz="1400" b="1" i="0" u="none" strike="noStrike" dirty="0" err="1">
                          <a:solidFill>
                            <a:srgbClr val="000000"/>
                          </a:solidFill>
                          <a:effectLst/>
                          <a:latin typeface="Times New Roman" panose="02020603050405020304" pitchFamily="18" charset="0"/>
                        </a:rPr>
                        <a:t>dụng</a:t>
                      </a:r>
                      <a:endParaRPr lang="en-US" sz="1400" b="1" i="0" u="none" strike="noStrike" dirty="0">
                        <a:solidFill>
                          <a:srgbClr val="000000"/>
                        </a:solidFill>
                        <a:effectLst/>
                        <a:latin typeface="Times New Roman" panose="02020603050405020304" pitchFamily="18" charset="0"/>
                      </a:endParaRPr>
                    </a:p>
                  </a:txBody>
                  <a:tcPr marL="6197" marR="6197" marT="61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1" i="0" u="none" strike="noStrike">
                          <a:solidFill>
                            <a:srgbClr val="000000"/>
                          </a:solidFill>
                          <a:effectLst/>
                          <a:latin typeface="Times New Roman" panose="02020603050405020304" pitchFamily="18" charset="0"/>
                        </a:rPr>
                        <a:t>Ghi chú</a:t>
                      </a:r>
                    </a:p>
                  </a:txBody>
                  <a:tcPr marL="6197" marR="6197" marT="61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49668025"/>
                  </a:ext>
                </a:extLst>
              </a:tr>
              <a:tr h="863551">
                <a:tc>
                  <a:txBody>
                    <a:bodyPr/>
                    <a:lstStyle/>
                    <a:p>
                      <a:pPr algn="ctr" fontAlgn="ctr">
                        <a:buNone/>
                      </a:pPr>
                      <a:r>
                        <a:rPr lang="en-US" sz="1400" b="0" i="0" u="none" strike="noStrike">
                          <a:solidFill>
                            <a:srgbClr val="000000"/>
                          </a:solidFill>
                          <a:effectLst/>
                          <a:latin typeface="Times New Roman" panose="02020603050405020304" pitchFamily="18" charset="0"/>
                        </a:rPr>
                        <a:t>1</a:t>
                      </a:r>
                    </a:p>
                  </a:txBody>
                  <a:tcPr marL="6197" marR="6197" marT="61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400" b="0" i="0" u="none" strike="noStrike" dirty="0">
                          <a:solidFill>
                            <a:srgbClr val="000000"/>
                          </a:solidFill>
                          <a:effectLst/>
                          <a:latin typeface="Times New Roman" panose="02020603050405020304" pitchFamily="18" charset="0"/>
                        </a:rPr>
                        <a:t>Thành lập Hội đồng thẩm định hoặc giao đơn vị có chức năng để thẩm định báo cáo đề xuất chủ trương đầu tư dự án thuộc cấp mình quản lý</a:t>
                      </a:r>
                    </a:p>
                  </a:txBody>
                  <a:tcPr marL="6197" marR="6197" marT="61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dirty="0" err="1">
                          <a:solidFill>
                            <a:srgbClr val="000000"/>
                          </a:solidFill>
                          <a:effectLst/>
                          <a:latin typeface="Times New Roman" panose="02020603050405020304" pitchFamily="18" charset="0"/>
                        </a:rPr>
                        <a:t>Chủ</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tịch</a:t>
                      </a:r>
                      <a:r>
                        <a:rPr lang="en-US" sz="1400" b="0" i="0" u="none" strike="noStrike" dirty="0">
                          <a:solidFill>
                            <a:srgbClr val="000000"/>
                          </a:solidFill>
                          <a:effectLst/>
                          <a:latin typeface="Times New Roman" panose="02020603050405020304" pitchFamily="18" charset="0"/>
                        </a:rPr>
                        <a:t> UBND</a:t>
                      </a:r>
                      <a:br>
                        <a:rPr lang="en-US" sz="1400" b="0" i="0" u="none" strike="noStrike" dirty="0">
                          <a:solidFill>
                            <a:srgbClr val="000000"/>
                          </a:solidFill>
                          <a:effectLst/>
                          <a:latin typeface="Times New Roman" panose="02020603050405020304" pitchFamily="18" charset="0"/>
                        </a:rPr>
                      </a:br>
                      <a:r>
                        <a:rPr lang="en-US" sz="1400" b="0" i="0" u="none" strike="noStrike" dirty="0" err="1">
                          <a:solidFill>
                            <a:srgbClr val="000000"/>
                          </a:solidFill>
                          <a:effectLst/>
                          <a:latin typeface="Times New Roman" panose="02020603050405020304" pitchFamily="18" charset="0"/>
                        </a:rPr>
                        <a:t>các</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cấp</a:t>
                      </a:r>
                      <a:endParaRPr lang="en-US" sz="1400" b="0" i="0" u="none" strike="noStrike" dirty="0">
                        <a:solidFill>
                          <a:srgbClr val="000000"/>
                        </a:solidFill>
                        <a:effectLst/>
                        <a:latin typeface="Times New Roman" panose="02020603050405020304" pitchFamily="18" charset="0"/>
                      </a:endParaRPr>
                    </a:p>
                  </a:txBody>
                  <a:tcPr marL="6197" marR="6197" marT="61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vi-VN" sz="1400" b="0" i="0" u="none" strike="noStrike">
                          <a:solidFill>
                            <a:srgbClr val="000000"/>
                          </a:solidFill>
                          <a:effectLst/>
                          <a:latin typeface="Times New Roman" panose="02020603050405020304" pitchFamily="18" charset="0"/>
                        </a:rPr>
                        <a:t>Điểm b K1 của các điều 25, 28 Luật Đầu tư công số 58</a:t>
                      </a:r>
                    </a:p>
                  </a:txBody>
                  <a:tcPr marL="6197" marR="6197" marT="61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400" b="0" i="0" u="none" strike="noStrike">
                          <a:solidFill>
                            <a:srgbClr val="000000"/>
                          </a:solidFill>
                          <a:effectLst/>
                          <a:latin typeface="Times New Roman" panose="02020603050405020304" pitchFamily="18" charset="0"/>
                        </a:rPr>
                        <a:t> </a:t>
                      </a:r>
                    </a:p>
                  </a:txBody>
                  <a:tcPr marL="6197" marR="6197" marT="61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66112133"/>
                  </a:ext>
                </a:extLst>
              </a:tr>
              <a:tr h="2248255">
                <a:tc>
                  <a:txBody>
                    <a:bodyPr/>
                    <a:lstStyle/>
                    <a:p>
                      <a:pPr algn="ctr" fontAlgn="ctr">
                        <a:buNone/>
                      </a:pPr>
                      <a:r>
                        <a:rPr lang="en-US" sz="1400" b="0" i="0" u="none" strike="noStrike">
                          <a:solidFill>
                            <a:srgbClr val="000000"/>
                          </a:solidFill>
                          <a:effectLst/>
                          <a:latin typeface="Times New Roman" panose="02020603050405020304" pitchFamily="18" charset="0"/>
                        </a:rPr>
                        <a:t>2</a:t>
                      </a:r>
                    </a:p>
                  </a:txBody>
                  <a:tcPr marL="6197" marR="6197" marT="61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400" b="0" i="0" u="none" strike="noStrike">
                          <a:solidFill>
                            <a:srgbClr val="000000"/>
                          </a:solidFill>
                          <a:effectLst/>
                          <a:latin typeface="Times New Roman" panose="02020603050405020304" pitchFamily="18" charset="0"/>
                        </a:rPr>
                        <a:t>Tiếp nhận, xin ý kiến các cơ quan, đơn vị có liên quan và tổng hợp, thẩm định BCNCTKT đối với DA nhóm A, báo cáo đề xuất chủ trương đầu tư đối với dự án nhóm B,C; thẩm định về nguồn vốn và khả năng cân đối vốn.</a:t>
                      </a:r>
                      <a:br>
                        <a:rPr lang="vi-VN" sz="1400" b="0" i="0" u="none" strike="noStrike">
                          <a:solidFill>
                            <a:srgbClr val="000000"/>
                          </a:solidFill>
                          <a:effectLst/>
                          <a:latin typeface="Times New Roman" panose="02020603050405020304" pitchFamily="18" charset="0"/>
                        </a:rPr>
                      </a:br>
                      <a:r>
                        <a:rPr lang="vi-VN" sz="1400" b="0" i="1" u="none" strike="noStrike">
                          <a:solidFill>
                            <a:srgbClr val="000000"/>
                          </a:solidFill>
                          <a:effectLst/>
                          <a:latin typeface="Times New Roman" panose="02020603050405020304" pitchFamily="18" charset="0"/>
                        </a:rPr>
                        <a:t>Lưu ý: Nội dung thẩm định, nội dung đánh giá sơ bộ ĐTM được thẩm định đồng thời với việc thẩm định hồ sơ đề nghị quyết định CTrĐT.</a:t>
                      </a:r>
                      <a:endParaRPr lang="vi-VN" sz="1400" b="0" i="0" u="none" strike="noStrike">
                        <a:solidFill>
                          <a:srgbClr val="000000"/>
                        </a:solidFill>
                        <a:effectLst/>
                        <a:latin typeface="Times New Roman" panose="02020603050405020304" pitchFamily="18" charset="0"/>
                      </a:endParaRPr>
                    </a:p>
                  </a:txBody>
                  <a:tcPr marL="6197" marR="6197" marT="61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vi-VN" sz="1400" b="0" i="0" u="none" strike="noStrike" dirty="0">
                          <a:solidFill>
                            <a:srgbClr val="000000"/>
                          </a:solidFill>
                          <a:effectLst/>
                          <a:latin typeface="Times New Roman" panose="02020603050405020304" pitchFamily="18" charset="0"/>
                        </a:rPr>
                        <a:t>Cơ quan chủ trì thẩm định</a:t>
                      </a:r>
                    </a:p>
                  </a:txBody>
                  <a:tcPr marL="6197" marR="6197" marT="61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400" b="0" i="0" u="none" strike="noStrike" dirty="0">
                          <a:solidFill>
                            <a:srgbClr val="000000"/>
                          </a:solidFill>
                          <a:effectLst/>
                          <a:latin typeface="Times New Roman" panose="02020603050405020304" pitchFamily="18" charset="0"/>
                        </a:rPr>
                        <a:t>- Nội dung thẩm định chủ trương đầu tư dự án được quy định tại K3 Đ11 NĐ85</a:t>
                      </a:r>
                      <a:br>
                        <a:rPr lang="vi-VN" sz="1400" b="0" i="0" u="none" strike="noStrike" dirty="0">
                          <a:solidFill>
                            <a:srgbClr val="000000"/>
                          </a:solidFill>
                          <a:effectLst/>
                          <a:latin typeface="Times New Roman" panose="02020603050405020304" pitchFamily="18" charset="0"/>
                        </a:rPr>
                      </a:br>
                      <a:r>
                        <a:rPr lang="vi-VN" sz="1400" b="0" i="0" u="none" strike="noStrike" dirty="0">
                          <a:solidFill>
                            <a:srgbClr val="000000"/>
                          </a:solidFill>
                          <a:effectLst/>
                          <a:latin typeface="Times New Roman" panose="02020603050405020304" pitchFamily="18" charset="0"/>
                        </a:rPr>
                        <a:t>- Thẩm định nguồn vốn và khả năng cân đối vốn: thực hiện theo quy định tại K5 Đ36 Luật Đầu tư công số 58 và K4, Đ11 NĐ85</a:t>
                      </a:r>
                      <a:br>
                        <a:rPr lang="vi-VN" sz="1400" b="0" i="0" u="none" strike="noStrike" dirty="0">
                          <a:solidFill>
                            <a:srgbClr val="000000"/>
                          </a:solidFill>
                          <a:effectLst/>
                          <a:latin typeface="Times New Roman" panose="02020603050405020304" pitchFamily="18" charset="0"/>
                        </a:rPr>
                      </a:br>
                      <a:r>
                        <a:rPr lang="vi-VN" sz="1400" b="0" i="0" u="none" strike="noStrike" dirty="0">
                          <a:solidFill>
                            <a:srgbClr val="000000"/>
                          </a:solidFill>
                          <a:effectLst/>
                          <a:latin typeface="Times New Roman" panose="02020603050405020304" pitchFamily="18" charset="0"/>
                        </a:rPr>
                        <a:t>- Hạn mức để thẩm định nguồn vốn và khả năng cân đối nguồn vốn được quy định tại điều 36a Luật Đầu tư công số 58</a:t>
                      </a:r>
                      <a:br>
                        <a:rPr lang="vi-VN" sz="1400" b="0" i="0" u="none" strike="noStrike" dirty="0">
                          <a:solidFill>
                            <a:srgbClr val="000000"/>
                          </a:solidFill>
                          <a:effectLst/>
                          <a:latin typeface="Times New Roman" panose="02020603050405020304" pitchFamily="18" charset="0"/>
                        </a:rPr>
                      </a:br>
                      <a:endParaRPr lang="vi-VN" sz="1400" b="0" i="0" u="none" strike="noStrike" dirty="0">
                        <a:solidFill>
                          <a:srgbClr val="000000"/>
                        </a:solidFill>
                        <a:effectLst/>
                        <a:latin typeface="Times New Roman" panose="02020603050405020304" pitchFamily="18" charset="0"/>
                      </a:endParaRPr>
                    </a:p>
                  </a:txBody>
                  <a:tcPr marL="6197" marR="6197" marT="61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400" b="0" i="0" u="none" strike="noStrike" dirty="0">
                          <a:solidFill>
                            <a:srgbClr val="000000"/>
                          </a:solidFill>
                          <a:effectLst/>
                          <a:latin typeface="Times New Roman" panose="02020603050405020304" pitchFamily="18" charset="0"/>
                        </a:rPr>
                        <a:t> </a:t>
                      </a:r>
                    </a:p>
                  </a:txBody>
                  <a:tcPr marL="6197" marR="6197" marT="61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61465743"/>
                  </a:ext>
                </a:extLst>
              </a:tr>
              <a:tr h="580306">
                <a:tc>
                  <a:txBody>
                    <a:bodyPr/>
                    <a:lstStyle/>
                    <a:p>
                      <a:pPr algn="ctr" fontAlgn="ctr">
                        <a:buNone/>
                      </a:pPr>
                      <a:r>
                        <a:rPr lang="en-US" sz="1400" b="0" i="1" u="none" strike="noStrike">
                          <a:solidFill>
                            <a:srgbClr val="000000"/>
                          </a:solidFill>
                          <a:effectLst/>
                          <a:latin typeface="Times New Roman" panose="02020603050405020304" pitchFamily="18" charset="0"/>
                        </a:rPr>
                        <a:t>*</a:t>
                      </a:r>
                    </a:p>
                  </a:txBody>
                  <a:tcPr marL="6197" marR="6197" marT="61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400" b="0" i="1" u="none" strike="noStrike">
                          <a:solidFill>
                            <a:srgbClr val="000000"/>
                          </a:solidFill>
                          <a:effectLst/>
                          <a:latin typeface="Times New Roman" panose="02020603050405020304" pitchFamily="18" charset="0"/>
                        </a:rPr>
                        <a:t>Thời gian thẩm định:</a:t>
                      </a:r>
                      <a:br>
                        <a:rPr lang="en-US" sz="1400" b="0" i="1" u="none" strike="noStrike">
                          <a:solidFill>
                            <a:srgbClr val="000000"/>
                          </a:solidFill>
                          <a:effectLst/>
                          <a:latin typeface="Times New Roman" panose="02020603050405020304" pitchFamily="18" charset="0"/>
                        </a:rPr>
                      </a:br>
                      <a:r>
                        <a:rPr lang="en-US" sz="1400" b="0" i="1" u="none" strike="noStrike">
                          <a:solidFill>
                            <a:srgbClr val="000000"/>
                          </a:solidFill>
                          <a:effectLst/>
                          <a:latin typeface="Times New Roman" panose="02020603050405020304" pitchFamily="18" charset="0"/>
                        </a:rPr>
                        <a:t>- DA nhóm A: Không quá 30 ngày; </a:t>
                      </a:r>
                      <a:br>
                        <a:rPr lang="en-US" sz="1400" b="0" i="1" u="none" strike="noStrike">
                          <a:solidFill>
                            <a:srgbClr val="000000"/>
                          </a:solidFill>
                          <a:effectLst/>
                          <a:latin typeface="Times New Roman" panose="02020603050405020304" pitchFamily="18" charset="0"/>
                        </a:rPr>
                      </a:br>
                      <a:r>
                        <a:rPr lang="en-US" sz="1400" b="0" i="1" u="none" strike="noStrike">
                          <a:solidFill>
                            <a:srgbClr val="000000"/>
                          </a:solidFill>
                          <a:effectLst/>
                          <a:latin typeface="Times New Roman" panose="02020603050405020304" pitchFamily="18" charset="0"/>
                        </a:rPr>
                        <a:t>- DA nhóm B, C: Không quá 20 ngày.</a:t>
                      </a:r>
                    </a:p>
                  </a:txBody>
                  <a:tcPr marL="6197" marR="6197" marT="61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1" u="none" strike="noStrike">
                          <a:solidFill>
                            <a:srgbClr val="000000"/>
                          </a:solidFill>
                          <a:effectLst/>
                          <a:latin typeface="Times New Roman" panose="02020603050405020304" pitchFamily="18" charset="0"/>
                        </a:rPr>
                        <a:t> </a:t>
                      </a:r>
                    </a:p>
                  </a:txBody>
                  <a:tcPr marL="6197" marR="6197" marT="61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1" u="none" strike="noStrike">
                          <a:solidFill>
                            <a:srgbClr val="000000"/>
                          </a:solidFill>
                          <a:effectLst/>
                          <a:latin typeface="Times New Roman" panose="02020603050405020304" pitchFamily="18" charset="0"/>
                        </a:rPr>
                        <a:t>K5 Đ11 NĐ số 85</a:t>
                      </a:r>
                    </a:p>
                  </a:txBody>
                  <a:tcPr marL="6197" marR="6197" marT="61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400" b="0" i="1" u="none" strike="noStrike" dirty="0">
                          <a:solidFill>
                            <a:srgbClr val="000000"/>
                          </a:solidFill>
                          <a:effectLst/>
                          <a:latin typeface="Times New Roman" panose="02020603050405020304" pitchFamily="18" charset="0"/>
                        </a:rPr>
                        <a:t> </a:t>
                      </a:r>
                    </a:p>
                  </a:txBody>
                  <a:tcPr marL="6197" marR="6197" marT="619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64769007"/>
                  </a:ext>
                </a:extLst>
              </a:tr>
            </a:tbl>
          </a:graphicData>
        </a:graphic>
      </p:graphicFrame>
      <p:sp>
        <p:nvSpPr>
          <p:cNvPr id="6" name="Title 10">
            <a:extLst>
              <a:ext uri="{FF2B5EF4-FFF2-40B4-BE49-F238E27FC236}">
                <a16:creationId xmlns:a16="http://schemas.microsoft.com/office/drawing/2014/main" id="{334DDF03-06F7-0EF4-1F39-E3626576851B}"/>
              </a:ext>
            </a:extLst>
          </p:cNvPr>
          <p:cNvSpPr txBox="1">
            <a:spLocks/>
          </p:cNvSpPr>
          <p:nvPr/>
        </p:nvSpPr>
        <p:spPr>
          <a:xfrm>
            <a:off x="4221480" y="585216"/>
            <a:ext cx="3749040" cy="43891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1000"/>
              </a:lnSpc>
            </a:pP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QUY TRÌNH CHI TIẾT</a:t>
            </a:r>
          </a:p>
        </p:txBody>
      </p:sp>
    </p:spTree>
    <p:extLst>
      <p:ext uri="{BB962C8B-B14F-4D97-AF65-F5344CB8AC3E}">
        <p14:creationId xmlns:p14="http://schemas.microsoft.com/office/powerpoint/2010/main" val="19374822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15028-CC60-EB02-0CDE-E7D0146FB6A4}"/>
            </a:ext>
          </a:extLst>
        </p:cNvPr>
        <p:cNvGrpSpPr/>
        <p:nvPr/>
      </p:nvGrpSpPr>
      <p:grpSpPr>
        <a:xfrm>
          <a:off x="0" y="0"/>
          <a:ext cx="0" cy="0"/>
          <a:chOff x="0" y="0"/>
          <a:chExt cx="0" cy="0"/>
        </a:xfrm>
      </p:grpSpPr>
      <p:sp>
        <p:nvSpPr>
          <p:cNvPr id="7" name="Title 10">
            <a:extLst>
              <a:ext uri="{FF2B5EF4-FFF2-40B4-BE49-F238E27FC236}">
                <a16:creationId xmlns:a16="http://schemas.microsoft.com/office/drawing/2014/main" id="{4F067791-7080-199D-D0E8-39BF1F3600FC}"/>
              </a:ext>
            </a:extLst>
          </p:cNvPr>
          <p:cNvSpPr txBox="1">
            <a:spLocks/>
          </p:cNvSpPr>
          <p:nvPr/>
        </p:nvSpPr>
        <p:spPr>
          <a:xfrm>
            <a:off x="4221480" y="585216"/>
            <a:ext cx="3749040" cy="43891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1000"/>
              </a:lnSpc>
            </a:pP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QUY TRÌNH CHI TIẾT</a:t>
            </a:r>
          </a:p>
        </p:txBody>
      </p:sp>
      <p:graphicFrame>
        <p:nvGraphicFramePr>
          <p:cNvPr id="2" name="Table 1">
            <a:extLst>
              <a:ext uri="{FF2B5EF4-FFF2-40B4-BE49-F238E27FC236}">
                <a16:creationId xmlns:a16="http://schemas.microsoft.com/office/drawing/2014/main" id="{47FB8A55-3041-1BA3-1155-9BACFC2D8BDF}"/>
              </a:ext>
            </a:extLst>
          </p:cNvPr>
          <p:cNvGraphicFramePr>
            <a:graphicFrameLocks noGrp="1"/>
          </p:cNvGraphicFramePr>
          <p:nvPr>
            <p:extLst>
              <p:ext uri="{D42A27DB-BD31-4B8C-83A1-F6EECF244321}">
                <p14:modId xmlns:p14="http://schemas.microsoft.com/office/powerpoint/2010/main" val="1407932834"/>
              </p:ext>
            </p:extLst>
          </p:nvPr>
        </p:nvGraphicFramePr>
        <p:xfrm>
          <a:off x="1060704" y="1115569"/>
          <a:ext cx="10323575" cy="5259449"/>
        </p:xfrm>
        <a:graphic>
          <a:graphicData uri="http://schemas.openxmlformats.org/drawingml/2006/table">
            <a:tbl>
              <a:tblPr/>
              <a:tblGrid>
                <a:gridCol w="826535">
                  <a:extLst>
                    <a:ext uri="{9D8B030D-6E8A-4147-A177-3AD203B41FA5}">
                      <a16:colId xmlns:a16="http://schemas.microsoft.com/office/drawing/2014/main" val="2760212059"/>
                    </a:ext>
                  </a:extLst>
                </a:gridCol>
                <a:gridCol w="3955777">
                  <a:extLst>
                    <a:ext uri="{9D8B030D-6E8A-4147-A177-3AD203B41FA5}">
                      <a16:colId xmlns:a16="http://schemas.microsoft.com/office/drawing/2014/main" val="502874747"/>
                    </a:ext>
                  </a:extLst>
                </a:gridCol>
                <a:gridCol w="2084832">
                  <a:extLst>
                    <a:ext uri="{9D8B030D-6E8A-4147-A177-3AD203B41FA5}">
                      <a16:colId xmlns:a16="http://schemas.microsoft.com/office/drawing/2014/main" val="417569997"/>
                    </a:ext>
                  </a:extLst>
                </a:gridCol>
                <a:gridCol w="2249424">
                  <a:extLst>
                    <a:ext uri="{9D8B030D-6E8A-4147-A177-3AD203B41FA5}">
                      <a16:colId xmlns:a16="http://schemas.microsoft.com/office/drawing/2014/main" val="3236928584"/>
                    </a:ext>
                  </a:extLst>
                </a:gridCol>
                <a:gridCol w="1207007">
                  <a:extLst>
                    <a:ext uri="{9D8B030D-6E8A-4147-A177-3AD203B41FA5}">
                      <a16:colId xmlns:a16="http://schemas.microsoft.com/office/drawing/2014/main" val="3371687074"/>
                    </a:ext>
                  </a:extLst>
                </a:gridCol>
              </a:tblGrid>
              <a:tr h="210311">
                <a:tc>
                  <a:txBody>
                    <a:bodyPr/>
                    <a:lstStyle/>
                    <a:p>
                      <a:pPr algn="ctr" fontAlgn="ctr"/>
                      <a:r>
                        <a:rPr lang="en-US" sz="1400" b="1" i="0" u="none" strike="noStrike" dirty="0" err="1">
                          <a:solidFill>
                            <a:srgbClr val="000000"/>
                          </a:solidFill>
                          <a:effectLst/>
                          <a:latin typeface="Times New Roman" panose="02020603050405020304" pitchFamily="18" charset="0"/>
                        </a:rPr>
                        <a:t>Stt</a:t>
                      </a:r>
                      <a:endParaRPr lang="en-US" sz="1400" b="1" i="0" u="none" strike="noStrike" dirty="0">
                        <a:solidFill>
                          <a:srgbClr val="000000"/>
                        </a:solidFill>
                        <a:effectLst/>
                        <a:latin typeface="Times New Roman" panose="02020603050405020304" pitchFamily="18" charset="0"/>
                      </a:endParaRPr>
                    </a:p>
                  </a:txBody>
                  <a:tcPr marL="4451" marR="4451" marT="44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0000"/>
                          </a:solidFill>
                          <a:effectLst/>
                          <a:latin typeface="Times New Roman" panose="02020603050405020304" pitchFamily="18" charset="0"/>
                        </a:rPr>
                        <a:t>Nội dung</a:t>
                      </a:r>
                    </a:p>
                  </a:txBody>
                  <a:tcPr marL="4451" marR="4451" marT="44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vi-VN" sz="1400" b="1" i="0" u="none" strike="noStrike">
                          <a:solidFill>
                            <a:srgbClr val="000000"/>
                          </a:solidFill>
                          <a:effectLst/>
                          <a:latin typeface="Times New Roman" panose="02020603050405020304" pitchFamily="18" charset="0"/>
                        </a:rPr>
                        <a:t>Đơn vị thực hiện</a:t>
                      </a:r>
                    </a:p>
                  </a:txBody>
                  <a:tcPr marL="4451" marR="4451" marT="44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0000"/>
                          </a:solidFill>
                          <a:effectLst/>
                          <a:latin typeface="Times New Roman" panose="02020603050405020304" pitchFamily="18" charset="0"/>
                        </a:rPr>
                        <a:t>Điều, khoản áp dụng</a:t>
                      </a:r>
                    </a:p>
                  </a:txBody>
                  <a:tcPr marL="4451" marR="4451" marT="44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0000"/>
                          </a:solidFill>
                          <a:effectLst/>
                          <a:latin typeface="Times New Roman" panose="02020603050405020304" pitchFamily="18" charset="0"/>
                        </a:rPr>
                        <a:t>Ghi chú</a:t>
                      </a:r>
                    </a:p>
                  </a:txBody>
                  <a:tcPr marL="4451" marR="4451" marT="44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69823619"/>
                  </a:ext>
                </a:extLst>
              </a:tr>
              <a:tr h="371013">
                <a:tc>
                  <a:txBody>
                    <a:bodyPr/>
                    <a:lstStyle/>
                    <a:p>
                      <a:pPr algn="ctr" fontAlgn="ctr"/>
                      <a:r>
                        <a:rPr lang="vi-VN" sz="1400" b="1" i="0" u="none" strike="noStrike" dirty="0">
                          <a:solidFill>
                            <a:srgbClr val="000000"/>
                          </a:solidFill>
                          <a:effectLst/>
                          <a:latin typeface="Times New Roman" panose="02020603050405020304" pitchFamily="18" charset="0"/>
                        </a:rPr>
                        <a:t>Bước 3</a:t>
                      </a:r>
                    </a:p>
                  </a:txBody>
                  <a:tcPr marL="4451" marR="4451" marT="44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400" b="1" i="0" u="none" strike="noStrike" dirty="0">
                          <a:solidFill>
                            <a:srgbClr val="000000"/>
                          </a:solidFill>
                          <a:effectLst/>
                          <a:latin typeface="Times New Roman" panose="02020603050405020304" pitchFamily="18" charset="0"/>
                        </a:rPr>
                        <a:t>Hoàn </a:t>
                      </a:r>
                      <a:r>
                        <a:rPr lang="en-US" sz="1400" b="1" i="0" u="none" strike="noStrike" dirty="0" err="1">
                          <a:solidFill>
                            <a:srgbClr val="000000"/>
                          </a:solidFill>
                          <a:effectLst/>
                          <a:latin typeface="Times New Roman" panose="02020603050405020304" pitchFamily="18" charset="0"/>
                        </a:rPr>
                        <a:t>chỉnh</a:t>
                      </a:r>
                      <a:r>
                        <a:rPr lang="en-US" sz="1400" b="1" i="0" u="none" strike="noStrike" dirty="0">
                          <a:solidFill>
                            <a:srgbClr val="000000"/>
                          </a:solidFill>
                          <a:effectLst/>
                          <a:latin typeface="Times New Roman" panose="02020603050405020304" pitchFamily="18" charset="0"/>
                        </a:rPr>
                        <a:t> BCNCTKT (NCTKT)/ </a:t>
                      </a:r>
                      <a:r>
                        <a:rPr lang="en-US" sz="1400" b="1" i="0" u="none" strike="noStrike" dirty="0" err="1">
                          <a:solidFill>
                            <a:srgbClr val="000000"/>
                          </a:solidFill>
                          <a:effectLst/>
                          <a:latin typeface="Times New Roman" panose="02020603050405020304" pitchFamily="18" charset="0"/>
                        </a:rPr>
                        <a:t>Báo</a:t>
                      </a:r>
                      <a:r>
                        <a:rPr lang="en-US" sz="1400" b="1" i="0" u="none" strike="noStrike" dirty="0">
                          <a:solidFill>
                            <a:srgbClr val="000000"/>
                          </a:solidFill>
                          <a:effectLst/>
                          <a:latin typeface="Times New Roman" panose="02020603050405020304" pitchFamily="18" charset="0"/>
                        </a:rPr>
                        <a:t> </a:t>
                      </a:r>
                      <a:r>
                        <a:rPr lang="en-US" sz="1400" b="1" i="0" u="none" strike="noStrike" dirty="0" err="1">
                          <a:solidFill>
                            <a:srgbClr val="000000"/>
                          </a:solidFill>
                          <a:effectLst/>
                          <a:latin typeface="Times New Roman" panose="02020603050405020304" pitchFamily="18" charset="0"/>
                        </a:rPr>
                        <a:t>cáo</a:t>
                      </a:r>
                      <a:r>
                        <a:rPr lang="en-US" sz="1400" b="1" i="0" u="none" strike="noStrike" dirty="0">
                          <a:solidFill>
                            <a:srgbClr val="000000"/>
                          </a:solidFill>
                          <a:effectLst/>
                          <a:latin typeface="Times New Roman" panose="02020603050405020304" pitchFamily="18" charset="0"/>
                        </a:rPr>
                        <a:t> </a:t>
                      </a:r>
                      <a:r>
                        <a:rPr lang="en-US" sz="1400" b="1" i="0" u="none" strike="noStrike" dirty="0" err="1">
                          <a:solidFill>
                            <a:srgbClr val="000000"/>
                          </a:solidFill>
                          <a:effectLst/>
                          <a:latin typeface="Times New Roman" panose="02020603050405020304" pitchFamily="18" charset="0"/>
                        </a:rPr>
                        <a:t>đề</a:t>
                      </a:r>
                      <a:r>
                        <a:rPr lang="en-US" sz="1400" b="1" i="0" u="none" strike="noStrike" dirty="0">
                          <a:solidFill>
                            <a:srgbClr val="000000"/>
                          </a:solidFill>
                          <a:effectLst/>
                          <a:latin typeface="Times New Roman" panose="02020603050405020304" pitchFamily="18" charset="0"/>
                        </a:rPr>
                        <a:t> </a:t>
                      </a:r>
                      <a:r>
                        <a:rPr lang="en-US" sz="1400" b="1" i="0" u="none" strike="noStrike" dirty="0" err="1">
                          <a:solidFill>
                            <a:srgbClr val="000000"/>
                          </a:solidFill>
                          <a:effectLst/>
                          <a:latin typeface="Times New Roman" panose="02020603050405020304" pitchFamily="18" charset="0"/>
                        </a:rPr>
                        <a:t>xuất</a:t>
                      </a:r>
                      <a:r>
                        <a:rPr lang="en-US" sz="1400" b="1" i="0" u="none" strike="noStrike" dirty="0">
                          <a:solidFill>
                            <a:srgbClr val="000000"/>
                          </a:solidFill>
                          <a:effectLst/>
                          <a:latin typeface="Times New Roman" panose="02020603050405020304" pitchFamily="18" charset="0"/>
                        </a:rPr>
                        <a:t> </a:t>
                      </a:r>
                      <a:r>
                        <a:rPr lang="en-US" sz="1400" b="1" i="0" u="none" strike="noStrike" dirty="0" err="1">
                          <a:solidFill>
                            <a:srgbClr val="000000"/>
                          </a:solidFill>
                          <a:effectLst/>
                          <a:latin typeface="Times New Roman" panose="02020603050405020304" pitchFamily="18" charset="0"/>
                        </a:rPr>
                        <a:t>CTrĐT</a:t>
                      </a:r>
                      <a:endParaRPr lang="en-US" sz="1400" b="1" i="0" u="none" strike="noStrike" dirty="0">
                        <a:solidFill>
                          <a:srgbClr val="000000"/>
                        </a:solidFill>
                        <a:effectLst/>
                        <a:latin typeface="Times New Roman" panose="02020603050405020304" pitchFamily="18" charset="0"/>
                      </a:endParaRPr>
                    </a:p>
                  </a:txBody>
                  <a:tcPr marL="4451" marR="4451" marT="44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400" b="1" i="0" u="none" strike="noStrike">
                          <a:solidFill>
                            <a:srgbClr val="000000"/>
                          </a:solidFill>
                          <a:effectLst/>
                          <a:latin typeface="Times New Roman" panose="02020603050405020304" pitchFamily="18" charset="0"/>
                        </a:rPr>
                        <a:t> </a:t>
                      </a:r>
                    </a:p>
                  </a:txBody>
                  <a:tcPr marL="4451" marR="4451" marT="44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0000"/>
                          </a:solidFill>
                          <a:effectLst/>
                          <a:latin typeface="Times New Roman" panose="02020603050405020304" pitchFamily="18" charset="0"/>
                        </a:rPr>
                        <a:t> </a:t>
                      </a:r>
                    </a:p>
                  </a:txBody>
                  <a:tcPr marL="4451" marR="4451" marT="44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400" b="1" i="0" u="none" strike="noStrike">
                          <a:solidFill>
                            <a:srgbClr val="000000"/>
                          </a:solidFill>
                          <a:effectLst/>
                          <a:latin typeface="Times New Roman" panose="02020603050405020304" pitchFamily="18" charset="0"/>
                        </a:rPr>
                        <a:t> </a:t>
                      </a:r>
                    </a:p>
                  </a:txBody>
                  <a:tcPr marL="4451" marR="4451" marT="44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59159068"/>
                  </a:ext>
                </a:extLst>
              </a:tr>
              <a:tr h="475729">
                <a:tc>
                  <a:txBody>
                    <a:bodyPr/>
                    <a:lstStyle/>
                    <a:p>
                      <a:pPr algn="ctr" fontAlgn="ctr"/>
                      <a:r>
                        <a:rPr lang="en-US" sz="1400" b="0" i="0" u="none" strike="noStrike">
                          <a:solidFill>
                            <a:srgbClr val="000000"/>
                          </a:solidFill>
                          <a:effectLst/>
                          <a:latin typeface="Times New Roman" panose="02020603050405020304" pitchFamily="18" charset="0"/>
                        </a:rPr>
                        <a:t> </a:t>
                      </a:r>
                    </a:p>
                  </a:txBody>
                  <a:tcPr marL="4451" marR="4451" marT="44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400" b="0" i="0" u="none" strike="noStrike">
                          <a:solidFill>
                            <a:srgbClr val="000000"/>
                          </a:solidFill>
                          <a:effectLst/>
                          <a:latin typeface="Times New Roman" panose="02020603050405020304" pitchFamily="18" charset="0"/>
                        </a:rPr>
                        <a:t>Hoàn chỉnh BCNCTKT/ Báo cáo đề xuất CTrĐT theo ý kiến của Hội đồng thẩm định/ đơn vị có chức năng</a:t>
                      </a:r>
                    </a:p>
                  </a:txBody>
                  <a:tcPr marL="4451" marR="4451" marT="44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dirty="0" err="1">
                          <a:solidFill>
                            <a:srgbClr val="000000"/>
                          </a:solidFill>
                          <a:effectLst/>
                          <a:latin typeface="Times New Roman" panose="02020603050405020304" pitchFamily="18" charset="0"/>
                        </a:rPr>
                        <a:t>Phòng</a:t>
                      </a:r>
                      <a:r>
                        <a:rPr lang="en-US" sz="1400" b="0" i="0" u="none" strike="noStrike" dirty="0">
                          <a:solidFill>
                            <a:srgbClr val="000000"/>
                          </a:solidFill>
                          <a:effectLst/>
                          <a:latin typeface="Times New Roman" panose="02020603050405020304" pitchFamily="18" charset="0"/>
                        </a:rPr>
                        <a:t> KTHTĐT, Ban QLDA </a:t>
                      </a:r>
                      <a:r>
                        <a:rPr lang="vi-VN" sz="1400" b="0" i="0" u="none" strike="noStrike" dirty="0">
                          <a:solidFill>
                            <a:srgbClr val="000000"/>
                          </a:solidFill>
                          <a:effectLst/>
                          <a:latin typeface="Times New Roman" panose="02020603050405020304" pitchFamily="18" charset="0"/>
                        </a:rPr>
                        <a:t>hoặc UBND</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Phường</a:t>
                      </a:r>
                      <a:endParaRPr lang="vi-VN" sz="1400" b="0" i="0" u="none" strike="noStrike" dirty="0">
                        <a:solidFill>
                          <a:srgbClr val="000000"/>
                        </a:solidFill>
                        <a:effectLst/>
                        <a:latin typeface="Times New Roman" panose="02020603050405020304" pitchFamily="18" charset="0"/>
                      </a:endParaRPr>
                    </a:p>
                  </a:txBody>
                  <a:tcPr marL="4451" marR="4451" marT="44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vi-VN" sz="1400" b="0" i="0" u="none" strike="noStrike">
                          <a:solidFill>
                            <a:srgbClr val="000000"/>
                          </a:solidFill>
                          <a:effectLst/>
                          <a:latin typeface="Times New Roman" panose="02020603050405020304" pitchFamily="18" charset="0"/>
                        </a:rPr>
                        <a:t>Điểm c K1 các điều</a:t>
                      </a:r>
                      <a:br>
                        <a:rPr lang="vi-VN" sz="1400" b="0" i="0" u="none" strike="noStrike">
                          <a:solidFill>
                            <a:srgbClr val="000000"/>
                          </a:solidFill>
                          <a:effectLst/>
                          <a:latin typeface="Times New Roman" panose="02020603050405020304" pitchFamily="18" charset="0"/>
                        </a:rPr>
                      </a:br>
                      <a:r>
                        <a:rPr lang="vi-VN" sz="1400" b="0" i="0" u="none" strike="noStrike">
                          <a:solidFill>
                            <a:srgbClr val="000000"/>
                          </a:solidFill>
                          <a:effectLst/>
                          <a:latin typeface="Times New Roman" panose="02020603050405020304" pitchFamily="18" charset="0"/>
                        </a:rPr>
                        <a:t>25, 28  Luật Đầu tư công số 58</a:t>
                      </a:r>
                    </a:p>
                  </a:txBody>
                  <a:tcPr marL="4451" marR="4451" marT="44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400" b="0" i="0" u="none" strike="noStrike">
                          <a:solidFill>
                            <a:srgbClr val="000000"/>
                          </a:solidFill>
                          <a:effectLst/>
                          <a:latin typeface="Times New Roman" panose="02020603050405020304" pitchFamily="18" charset="0"/>
                        </a:rPr>
                        <a:t> </a:t>
                      </a:r>
                    </a:p>
                  </a:txBody>
                  <a:tcPr marL="4451" marR="4451" marT="44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14877299"/>
                  </a:ext>
                </a:extLst>
              </a:tr>
              <a:tr h="136002">
                <a:tc>
                  <a:txBody>
                    <a:bodyPr/>
                    <a:lstStyle/>
                    <a:p>
                      <a:pPr algn="ctr" fontAlgn="ctr"/>
                      <a:r>
                        <a:rPr lang="vi-VN" sz="1400" b="1" i="0" u="none" strike="noStrike">
                          <a:solidFill>
                            <a:srgbClr val="000000"/>
                          </a:solidFill>
                          <a:effectLst/>
                          <a:latin typeface="Times New Roman" panose="02020603050405020304" pitchFamily="18" charset="0"/>
                        </a:rPr>
                        <a:t>Bước 4</a:t>
                      </a:r>
                    </a:p>
                  </a:txBody>
                  <a:tcPr marL="4451" marR="4451" marT="44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400" b="1" i="0" u="none" strike="noStrike">
                          <a:solidFill>
                            <a:srgbClr val="000000"/>
                          </a:solidFill>
                          <a:effectLst/>
                          <a:latin typeface="Times New Roman" panose="02020603050405020304" pitchFamily="18" charset="0"/>
                        </a:rPr>
                        <a:t>Quyết định CTrĐT</a:t>
                      </a:r>
                    </a:p>
                  </a:txBody>
                  <a:tcPr marL="4451" marR="4451" marT="44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400" b="1" i="0" u="none" strike="noStrike" dirty="0">
                          <a:solidFill>
                            <a:srgbClr val="000000"/>
                          </a:solidFill>
                          <a:effectLst/>
                          <a:latin typeface="Times New Roman" panose="02020603050405020304" pitchFamily="18" charset="0"/>
                        </a:rPr>
                        <a:t> </a:t>
                      </a:r>
                    </a:p>
                  </a:txBody>
                  <a:tcPr marL="4451" marR="4451" marT="44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0000"/>
                          </a:solidFill>
                          <a:effectLst/>
                          <a:latin typeface="Times New Roman" panose="02020603050405020304" pitchFamily="18" charset="0"/>
                        </a:rPr>
                        <a:t> </a:t>
                      </a:r>
                    </a:p>
                  </a:txBody>
                  <a:tcPr marL="4451" marR="4451" marT="44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400" b="1" i="0" u="none" strike="noStrike">
                          <a:solidFill>
                            <a:srgbClr val="000000"/>
                          </a:solidFill>
                          <a:effectLst/>
                          <a:latin typeface="Times New Roman" panose="02020603050405020304" pitchFamily="18" charset="0"/>
                        </a:rPr>
                        <a:t> </a:t>
                      </a:r>
                    </a:p>
                  </a:txBody>
                  <a:tcPr marL="4451" marR="4451" marT="44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41382267"/>
                  </a:ext>
                </a:extLst>
              </a:tr>
              <a:tr h="408005">
                <a:tc>
                  <a:txBody>
                    <a:bodyPr/>
                    <a:lstStyle/>
                    <a:p>
                      <a:pPr algn="ctr" fontAlgn="ctr"/>
                      <a:r>
                        <a:rPr lang="en-US" sz="1400" b="0" i="0" u="none" strike="noStrike">
                          <a:solidFill>
                            <a:srgbClr val="000000"/>
                          </a:solidFill>
                          <a:effectLst/>
                          <a:latin typeface="Times New Roman" panose="02020603050405020304" pitchFamily="18" charset="0"/>
                        </a:rPr>
                        <a:t>1</a:t>
                      </a:r>
                    </a:p>
                  </a:txBody>
                  <a:tcPr marL="4451" marR="4451" marT="44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400" b="0" i="0" u="none" strike="noStrike">
                          <a:solidFill>
                            <a:srgbClr val="000000"/>
                          </a:solidFill>
                          <a:effectLst/>
                          <a:latin typeface="Times New Roman" panose="02020603050405020304" pitchFamily="18" charset="0"/>
                        </a:rPr>
                        <a:t>Tổ chức công khai lấy ý kiến của cộng đồng dân cư về chủ trương đầu tư dự án</a:t>
                      </a:r>
                    </a:p>
                  </a:txBody>
                  <a:tcPr marL="4451" marR="4451" marT="44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400" b="0" i="0" u="none" strike="noStrike">
                          <a:solidFill>
                            <a:srgbClr val="000000"/>
                          </a:solidFill>
                          <a:effectLst/>
                          <a:latin typeface="Times New Roman" panose="02020603050405020304" pitchFamily="18" charset="0"/>
                        </a:rPr>
                        <a:t>UBMTTQ Phường</a:t>
                      </a:r>
                    </a:p>
                  </a:txBody>
                  <a:tcPr marL="4451" marR="4451" marT="44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vi-VN" sz="1400" b="0" i="0" u="none" strike="noStrike" dirty="0">
                          <a:solidFill>
                            <a:srgbClr val="000000"/>
                          </a:solidFill>
                          <a:effectLst/>
                          <a:latin typeface="Times New Roman" panose="02020603050405020304" pitchFamily="18" charset="0"/>
                        </a:rPr>
                        <a:t>Điều</a:t>
                      </a:r>
                      <a:r>
                        <a:rPr lang="en-US" sz="1400" b="0" i="0" u="none" strike="noStrike" dirty="0">
                          <a:solidFill>
                            <a:srgbClr val="000000"/>
                          </a:solidFill>
                          <a:effectLst/>
                          <a:latin typeface="Times New Roman" panose="02020603050405020304" pitchFamily="18" charset="0"/>
                        </a:rPr>
                        <a:t> </a:t>
                      </a:r>
                      <a:r>
                        <a:rPr lang="vi-VN" sz="1400" b="0" i="0" u="none" strike="noStrike" dirty="0">
                          <a:solidFill>
                            <a:srgbClr val="000000"/>
                          </a:solidFill>
                          <a:effectLst/>
                          <a:latin typeface="Times New Roman" panose="02020603050405020304" pitchFamily="18" charset="0"/>
                        </a:rPr>
                        <a:t>78 Luật Đầu tư công số 58</a:t>
                      </a:r>
                    </a:p>
                  </a:txBody>
                  <a:tcPr marL="4451" marR="4451" marT="44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400" b="0" i="0" u="none" strike="noStrike">
                          <a:solidFill>
                            <a:srgbClr val="000000"/>
                          </a:solidFill>
                          <a:effectLst/>
                          <a:latin typeface="Times New Roman" panose="02020603050405020304" pitchFamily="18" charset="0"/>
                        </a:rPr>
                        <a:t> </a:t>
                      </a:r>
                    </a:p>
                  </a:txBody>
                  <a:tcPr marL="4451" marR="4451" marT="44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39463420"/>
                  </a:ext>
                </a:extLst>
              </a:tr>
              <a:tr h="1360019">
                <a:tc>
                  <a:txBody>
                    <a:bodyPr/>
                    <a:lstStyle/>
                    <a:p>
                      <a:pPr algn="ctr" fontAlgn="ctr"/>
                      <a:r>
                        <a:rPr lang="en-US" sz="1400" b="0" i="0" u="none" strike="noStrike">
                          <a:solidFill>
                            <a:srgbClr val="000000"/>
                          </a:solidFill>
                          <a:effectLst/>
                          <a:latin typeface="Times New Roman" panose="02020603050405020304" pitchFamily="18" charset="0"/>
                        </a:rPr>
                        <a:t>2</a:t>
                      </a:r>
                    </a:p>
                  </a:txBody>
                  <a:tcPr marL="4451" marR="4451" marT="44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400" b="0" i="0" u="none" strike="noStrike">
                          <a:solidFill>
                            <a:srgbClr val="000000"/>
                          </a:solidFill>
                          <a:effectLst/>
                          <a:latin typeface="Times New Roman" panose="02020603050405020304" pitchFamily="18" charset="0"/>
                        </a:rPr>
                        <a:t>Trình duyệt quyết định CTrĐT, thành phần hồ sơ: </a:t>
                      </a:r>
                      <a:br>
                        <a:rPr lang="vi-VN" sz="1400" b="0" i="0" u="none" strike="noStrike">
                          <a:solidFill>
                            <a:srgbClr val="000000"/>
                          </a:solidFill>
                          <a:effectLst/>
                          <a:latin typeface="Times New Roman" panose="02020603050405020304" pitchFamily="18" charset="0"/>
                        </a:rPr>
                      </a:br>
                      <a:r>
                        <a:rPr lang="vi-VN" sz="1400" b="0" i="0" u="none" strike="noStrike">
                          <a:solidFill>
                            <a:srgbClr val="000000"/>
                          </a:solidFill>
                          <a:effectLst/>
                          <a:latin typeface="Times New Roman" panose="02020603050405020304" pitchFamily="18" charset="0"/>
                        </a:rPr>
                        <a:t>- Tờ trình đề nghị cấp có thẩm quyền quyết định CTrĐT; </a:t>
                      </a:r>
                      <a:br>
                        <a:rPr lang="vi-VN" sz="1400" b="0" i="0" u="none" strike="noStrike">
                          <a:solidFill>
                            <a:srgbClr val="000000"/>
                          </a:solidFill>
                          <a:effectLst/>
                          <a:latin typeface="Times New Roman" panose="02020603050405020304" pitchFamily="18" charset="0"/>
                        </a:rPr>
                      </a:br>
                      <a:r>
                        <a:rPr lang="vi-VN" sz="1400" b="0" i="0" u="none" strike="noStrike">
                          <a:solidFill>
                            <a:srgbClr val="000000"/>
                          </a:solidFill>
                          <a:effectLst/>
                          <a:latin typeface="Times New Roman" panose="02020603050405020304" pitchFamily="18" charset="0"/>
                        </a:rPr>
                        <a:t>- BCNCTKT nhóm A/ Báo cáo đề xuất CTrĐT dự án nhóm B, nhóm C; </a:t>
                      </a:r>
                      <a:br>
                        <a:rPr lang="vi-VN" sz="1400" b="0" i="0" u="none" strike="noStrike">
                          <a:solidFill>
                            <a:srgbClr val="000000"/>
                          </a:solidFill>
                          <a:effectLst/>
                          <a:latin typeface="Times New Roman" panose="02020603050405020304" pitchFamily="18" charset="0"/>
                        </a:rPr>
                      </a:br>
                      <a:r>
                        <a:rPr lang="vi-VN" sz="1400" b="0" i="0" u="none" strike="noStrike">
                          <a:solidFill>
                            <a:srgbClr val="000000"/>
                          </a:solidFill>
                          <a:effectLst/>
                          <a:latin typeface="Times New Roman" panose="02020603050405020304" pitchFamily="18" charset="0"/>
                        </a:rPr>
                        <a:t>- Báo cáo thẩm định CTrĐT</a:t>
                      </a:r>
                      <a:br>
                        <a:rPr lang="vi-VN" sz="1400" b="0" i="0" u="none" strike="noStrike">
                          <a:solidFill>
                            <a:srgbClr val="000000"/>
                          </a:solidFill>
                          <a:effectLst/>
                          <a:latin typeface="Times New Roman" panose="02020603050405020304" pitchFamily="18" charset="0"/>
                        </a:rPr>
                      </a:br>
                      <a:r>
                        <a:rPr lang="vi-VN" sz="1400" b="0" i="0" u="none" strike="noStrike">
                          <a:solidFill>
                            <a:srgbClr val="000000"/>
                          </a:solidFill>
                          <a:effectLst/>
                          <a:latin typeface="Times New Roman" panose="02020603050405020304" pitchFamily="18" charset="0"/>
                        </a:rPr>
                        <a:t>- Các tài liệu liên quan khác (nếu có)</a:t>
                      </a:r>
                    </a:p>
                  </a:txBody>
                  <a:tcPr marL="4451" marR="4451" marT="44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vi-VN" sz="1400" b="0" i="0" u="none" strike="noStrike" dirty="0">
                          <a:solidFill>
                            <a:srgbClr val="000000"/>
                          </a:solidFill>
                          <a:effectLst/>
                          <a:latin typeface="Times New Roman" panose="02020603050405020304" pitchFamily="18" charset="0"/>
                        </a:rPr>
                        <a:t>Hội đồng thẩm</a:t>
                      </a:r>
                      <a:r>
                        <a:rPr lang="en-US" sz="1400" b="0" i="0" u="none" strike="noStrike" dirty="0">
                          <a:solidFill>
                            <a:srgbClr val="000000"/>
                          </a:solidFill>
                          <a:effectLst/>
                          <a:latin typeface="Times New Roman" panose="02020603050405020304" pitchFamily="18" charset="0"/>
                        </a:rPr>
                        <a:t> </a:t>
                      </a:r>
                      <a:r>
                        <a:rPr lang="vi-VN" sz="1400" b="0" i="0" u="none" strike="noStrike" dirty="0">
                          <a:solidFill>
                            <a:srgbClr val="000000"/>
                          </a:solidFill>
                          <a:effectLst/>
                          <a:latin typeface="Times New Roman" panose="02020603050405020304" pitchFamily="18" charset="0"/>
                        </a:rPr>
                        <a:t>định/ Đơn vị có</a:t>
                      </a:r>
                      <a:r>
                        <a:rPr lang="en-US" sz="1400" b="0" i="0" u="none" strike="noStrike" dirty="0">
                          <a:solidFill>
                            <a:srgbClr val="000000"/>
                          </a:solidFill>
                          <a:effectLst/>
                          <a:latin typeface="Times New Roman" panose="02020603050405020304" pitchFamily="18" charset="0"/>
                        </a:rPr>
                        <a:t> </a:t>
                      </a:r>
                      <a:r>
                        <a:rPr lang="vi-VN" sz="1400" b="0" i="0" u="none" strike="noStrike" dirty="0">
                          <a:solidFill>
                            <a:srgbClr val="000000"/>
                          </a:solidFill>
                          <a:effectLst/>
                          <a:latin typeface="Times New Roman" panose="02020603050405020304" pitchFamily="18" charset="0"/>
                        </a:rPr>
                        <a:t>chức năng;</a:t>
                      </a:r>
                      <a:r>
                        <a:rPr lang="en-US" sz="1400" b="0" i="0" u="none" strike="noStrike" dirty="0">
                          <a:solidFill>
                            <a:srgbClr val="000000"/>
                          </a:solidFill>
                          <a:effectLst/>
                          <a:latin typeface="Times New Roman" panose="02020603050405020304" pitchFamily="18" charset="0"/>
                        </a:rPr>
                        <a:t> </a:t>
                      </a:r>
                      <a:r>
                        <a:rPr lang="vi-VN" sz="1400" b="0" i="0" u="none" strike="noStrike" dirty="0">
                          <a:solidFill>
                            <a:srgbClr val="000000"/>
                          </a:solidFill>
                          <a:effectLst/>
                          <a:latin typeface="Times New Roman" panose="02020603050405020304" pitchFamily="18" charset="0"/>
                        </a:rPr>
                        <a:t>UBND các cấp</a:t>
                      </a:r>
                    </a:p>
                  </a:txBody>
                  <a:tcPr marL="4451" marR="4451" marT="44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vi-VN" sz="1400" b="0" i="0" u="none" strike="noStrike" dirty="0">
                          <a:solidFill>
                            <a:srgbClr val="000000"/>
                          </a:solidFill>
                          <a:effectLst/>
                          <a:latin typeface="Times New Roman" panose="02020603050405020304" pitchFamily="18" charset="0"/>
                        </a:rPr>
                        <a:t>K2 các điều 25, 28  Luật Đầu tư công số 58</a:t>
                      </a:r>
                    </a:p>
                  </a:txBody>
                  <a:tcPr marL="4451" marR="4451" marT="44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400" b="1" i="0" u="none" strike="noStrike">
                          <a:solidFill>
                            <a:srgbClr val="000000"/>
                          </a:solidFill>
                          <a:effectLst/>
                          <a:latin typeface="Times New Roman" panose="02020603050405020304" pitchFamily="18" charset="0"/>
                        </a:rPr>
                        <a:t> </a:t>
                      </a:r>
                    </a:p>
                  </a:txBody>
                  <a:tcPr marL="4451" marR="4451" marT="44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9795070"/>
                  </a:ext>
                </a:extLst>
              </a:tr>
              <a:tr h="816011">
                <a:tc>
                  <a:txBody>
                    <a:bodyPr/>
                    <a:lstStyle/>
                    <a:p>
                      <a:pPr algn="ctr" fontAlgn="ctr"/>
                      <a:r>
                        <a:rPr lang="en-US" sz="1400" b="0" i="0" u="none" strike="noStrike">
                          <a:solidFill>
                            <a:srgbClr val="000000"/>
                          </a:solidFill>
                          <a:effectLst/>
                          <a:latin typeface="Times New Roman" panose="02020603050405020304" pitchFamily="18" charset="0"/>
                        </a:rPr>
                        <a:t>3</a:t>
                      </a:r>
                    </a:p>
                  </a:txBody>
                  <a:tcPr marL="4451" marR="4451" marT="44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400" b="0" i="0" u="none" strike="noStrike">
                          <a:solidFill>
                            <a:srgbClr val="000000"/>
                          </a:solidFill>
                          <a:effectLst/>
                          <a:latin typeface="Times New Roman" panose="02020603050405020304" pitchFamily="18" charset="0"/>
                        </a:rPr>
                        <a:t>Quyết định phê duyệt BCNCTKT, Quyết định phê duyệt CTrĐT dự án nhóm B, nhóm C</a:t>
                      </a:r>
                    </a:p>
                  </a:txBody>
                  <a:tcPr marL="4451" marR="4451" marT="44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Times New Roman" panose="02020603050405020304" pitchFamily="18" charset="0"/>
                        </a:rPr>
                        <a:t>HĐND Thành </a:t>
                      </a:r>
                      <a:r>
                        <a:rPr lang="en-US" sz="1400" b="0" i="0" u="none" strike="noStrike" dirty="0" err="1">
                          <a:solidFill>
                            <a:srgbClr val="000000"/>
                          </a:solidFill>
                          <a:effectLst/>
                          <a:latin typeface="Times New Roman" panose="02020603050405020304" pitchFamily="18" charset="0"/>
                        </a:rPr>
                        <a:t>phố</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đối</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với</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dự</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án</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nhóm</a:t>
                      </a:r>
                      <a:r>
                        <a:rPr lang="en-US" sz="1400" b="0" i="0" u="none" strike="noStrike" dirty="0">
                          <a:solidFill>
                            <a:srgbClr val="000000"/>
                          </a:solidFill>
                          <a:effectLst/>
                          <a:latin typeface="Times New Roman" panose="02020603050405020304" pitchFamily="18" charset="0"/>
                        </a:rPr>
                        <a:t> A/UBND </a:t>
                      </a:r>
                      <a:r>
                        <a:rPr lang="en-US" sz="1400" b="0" i="0" u="none" strike="noStrike" dirty="0" err="1">
                          <a:solidFill>
                            <a:srgbClr val="000000"/>
                          </a:solidFill>
                          <a:effectLst/>
                          <a:latin typeface="Times New Roman" panose="02020603050405020304" pitchFamily="18" charset="0"/>
                        </a:rPr>
                        <a:t>các</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cấp</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đối</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với</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dự</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án</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nhóm</a:t>
                      </a:r>
                      <a:r>
                        <a:rPr lang="en-US" sz="1400" b="0" i="0" u="none" strike="noStrike" dirty="0">
                          <a:solidFill>
                            <a:srgbClr val="000000"/>
                          </a:solidFill>
                          <a:effectLst/>
                          <a:latin typeface="Times New Roman" panose="02020603050405020304" pitchFamily="18" charset="0"/>
                        </a:rPr>
                        <a:t> B,C </a:t>
                      </a:r>
                      <a:r>
                        <a:rPr lang="en-US" sz="1400" b="0" i="0" u="none" strike="noStrike" dirty="0" err="1">
                          <a:solidFill>
                            <a:srgbClr val="000000"/>
                          </a:solidFill>
                          <a:effectLst/>
                          <a:latin typeface="Times New Roman" panose="02020603050405020304" pitchFamily="18" charset="0"/>
                        </a:rPr>
                        <a:t>thuộc</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cấp</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mình</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quản</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lý</a:t>
                      </a:r>
                      <a:endParaRPr lang="en-US" sz="1400" b="0" i="0" u="none" strike="noStrike" dirty="0">
                        <a:solidFill>
                          <a:srgbClr val="000000"/>
                        </a:solidFill>
                        <a:effectLst/>
                        <a:latin typeface="Times New Roman" panose="02020603050405020304" pitchFamily="18" charset="0"/>
                      </a:endParaRPr>
                    </a:p>
                  </a:txBody>
                  <a:tcPr marL="4451" marR="4451" marT="44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vi-VN" sz="1400" b="0" i="0" u="none" strike="noStrike" dirty="0">
                          <a:solidFill>
                            <a:srgbClr val="000000"/>
                          </a:solidFill>
                          <a:effectLst/>
                          <a:latin typeface="Times New Roman" panose="02020603050405020304" pitchFamily="18" charset="0"/>
                        </a:rPr>
                        <a:t>K2 các điều 25, 28  Luật Đầu tư công số 58</a:t>
                      </a:r>
                    </a:p>
                  </a:txBody>
                  <a:tcPr marL="4451" marR="4451" marT="44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Times New Roman" panose="02020603050405020304" pitchFamily="18" charset="0"/>
                        </a:rPr>
                        <a:t> </a:t>
                      </a:r>
                    </a:p>
                  </a:txBody>
                  <a:tcPr marL="4451" marR="4451" marT="44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75371674"/>
                  </a:ext>
                </a:extLst>
              </a:tr>
              <a:tr h="571207">
                <a:tc>
                  <a:txBody>
                    <a:bodyPr/>
                    <a:lstStyle/>
                    <a:p>
                      <a:pPr algn="ctr" fontAlgn="ctr"/>
                      <a:r>
                        <a:rPr lang="en-US" sz="1400" b="0" i="1" u="none" strike="noStrike">
                          <a:solidFill>
                            <a:srgbClr val="000000"/>
                          </a:solidFill>
                          <a:effectLst/>
                          <a:latin typeface="Times New Roman" panose="02020603050405020304" pitchFamily="18" charset="0"/>
                        </a:rPr>
                        <a:t> </a:t>
                      </a:r>
                    </a:p>
                  </a:txBody>
                  <a:tcPr marL="4451" marR="4451" marT="44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400" b="0" i="1" u="none" strike="noStrike">
                          <a:solidFill>
                            <a:srgbClr val="000000"/>
                          </a:solidFill>
                          <a:effectLst/>
                          <a:latin typeface="Times New Roman" panose="02020603050405020304" pitchFamily="18" charset="0"/>
                        </a:rPr>
                        <a:t>* Thời gian quyết định:</a:t>
                      </a:r>
                      <a:br>
                        <a:rPr lang="vi-VN" sz="1400" b="0" i="1" u="none" strike="noStrike">
                          <a:solidFill>
                            <a:srgbClr val="000000"/>
                          </a:solidFill>
                          <a:effectLst/>
                          <a:latin typeface="Times New Roman" panose="02020603050405020304" pitchFamily="18" charset="0"/>
                        </a:rPr>
                      </a:br>
                      <a:r>
                        <a:rPr lang="vi-VN" sz="1400" b="0" i="1" u="none" strike="noStrike">
                          <a:solidFill>
                            <a:srgbClr val="000000"/>
                          </a:solidFill>
                          <a:effectLst/>
                          <a:latin typeface="Times New Roman" panose="02020603050405020304" pitchFamily="18" charset="0"/>
                        </a:rPr>
                        <a:t>- DA nhóm B, C: ≤ 05 ngày l/v.</a:t>
                      </a:r>
                      <a:br>
                        <a:rPr lang="vi-VN" sz="1400" b="0" i="1" u="none" strike="noStrike">
                          <a:solidFill>
                            <a:srgbClr val="000000"/>
                          </a:solidFill>
                          <a:effectLst/>
                          <a:latin typeface="Times New Roman" panose="02020603050405020304" pitchFamily="18" charset="0"/>
                        </a:rPr>
                      </a:br>
                      <a:r>
                        <a:rPr lang="vi-VN" sz="1400" b="0" i="1" u="none" strike="noStrike">
                          <a:solidFill>
                            <a:srgbClr val="000000"/>
                          </a:solidFill>
                          <a:effectLst/>
                          <a:latin typeface="Times New Roman" panose="02020603050405020304" pitchFamily="18" charset="0"/>
                        </a:rPr>
                        <a:t>- DA nhóm A do HĐND TP quyết định CTrĐT, T/g quyết định CTrĐT phù hợp với chương trình kỳ họp.</a:t>
                      </a:r>
                    </a:p>
                  </a:txBody>
                  <a:tcPr marL="4451" marR="4451" marT="44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1" u="none" strike="noStrike">
                          <a:solidFill>
                            <a:srgbClr val="000000"/>
                          </a:solidFill>
                          <a:effectLst/>
                          <a:latin typeface="Times New Roman" panose="02020603050405020304" pitchFamily="18" charset="0"/>
                        </a:rPr>
                        <a:t> </a:t>
                      </a:r>
                    </a:p>
                  </a:txBody>
                  <a:tcPr marL="4451" marR="4451" marT="44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1" u="none" strike="noStrike">
                          <a:solidFill>
                            <a:srgbClr val="000000"/>
                          </a:solidFill>
                          <a:effectLst/>
                          <a:latin typeface="Times New Roman" panose="02020603050405020304" pitchFamily="18" charset="0"/>
                        </a:rPr>
                        <a:t>K2 Đ12 NĐ số 85.</a:t>
                      </a:r>
                    </a:p>
                  </a:txBody>
                  <a:tcPr marL="4451" marR="4451" marT="44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400" b="0" i="1" u="none" strike="noStrike" dirty="0">
                          <a:solidFill>
                            <a:srgbClr val="000000"/>
                          </a:solidFill>
                          <a:effectLst/>
                          <a:latin typeface="Times New Roman" panose="02020603050405020304" pitchFamily="18" charset="0"/>
                        </a:rPr>
                        <a:t> </a:t>
                      </a:r>
                    </a:p>
                  </a:txBody>
                  <a:tcPr marL="4451" marR="4451" marT="44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4506565"/>
                  </a:ext>
                </a:extLst>
              </a:tr>
              <a:tr h="272003">
                <a:tc>
                  <a:txBody>
                    <a:bodyPr/>
                    <a:lstStyle/>
                    <a:p>
                      <a:pPr algn="ctr" fontAlgn="ctr"/>
                      <a:r>
                        <a:rPr lang="vi-VN" sz="1400" b="1" i="0" u="none" strike="noStrike">
                          <a:solidFill>
                            <a:srgbClr val="000000"/>
                          </a:solidFill>
                          <a:effectLst/>
                          <a:latin typeface="Times New Roman" panose="02020603050405020304" pitchFamily="18" charset="0"/>
                        </a:rPr>
                        <a:t>Bước 5</a:t>
                      </a:r>
                    </a:p>
                  </a:txBody>
                  <a:tcPr marL="4451" marR="4451" marT="44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400" b="1" i="0" u="none" strike="noStrike">
                          <a:solidFill>
                            <a:srgbClr val="000000"/>
                          </a:solidFill>
                          <a:effectLst/>
                          <a:latin typeface="Times New Roman" panose="02020603050405020304" pitchFamily="18" charset="0"/>
                        </a:rPr>
                        <a:t>Giao CĐT dự án</a:t>
                      </a:r>
                    </a:p>
                  </a:txBody>
                  <a:tcPr marL="4451" marR="4451" marT="44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vi-VN" sz="1400" b="1" i="0" u="none" strike="noStrike">
                          <a:solidFill>
                            <a:srgbClr val="000000"/>
                          </a:solidFill>
                          <a:effectLst/>
                          <a:latin typeface="Times New Roman" panose="02020603050405020304" pitchFamily="18" charset="0"/>
                        </a:rPr>
                        <a:t>Người quyết định đầu tư</a:t>
                      </a:r>
                    </a:p>
                  </a:txBody>
                  <a:tcPr marL="4451" marR="4451" marT="44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0000"/>
                          </a:solidFill>
                          <a:effectLst/>
                          <a:latin typeface="Times New Roman" panose="02020603050405020304" pitchFamily="18" charset="0"/>
                        </a:rPr>
                        <a:t>K4 Đ1 Luật số 62</a:t>
                      </a:r>
                    </a:p>
                  </a:txBody>
                  <a:tcPr marL="4451" marR="4451" marT="44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400" b="1" i="0" u="none" strike="noStrike" dirty="0">
                          <a:solidFill>
                            <a:srgbClr val="000000"/>
                          </a:solidFill>
                          <a:effectLst/>
                          <a:latin typeface="Times New Roman" panose="02020603050405020304" pitchFamily="18" charset="0"/>
                        </a:rPr>
                        <a:t> </a:t>
                      </a:r>
                    </a:p>
                  </a:txBody>
                  <a:tcPr marL="4451" marR="4451" marT="44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71214670"/>
                  </a:ext>
                </a:extLst>
              </a:tr>
            </a:tbl>
          </a:graphicData>
        </a:graphic>
      </p:graphicFrame>
    </p:spTree>
    <p:extLst>
      <p:ext uri="{BB962C8B-B14F-4D97-AF65-F5344CB8AC3E}">
        <p14:creationId xmlns:p14="http://schemas.microsoft.com/office/powerpoint/2010/main" val="69846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0">
            <a:extLst>
              <a:ext uri="{FF2B5EF4-FFF2-40B4-BE49-F238E27FC236}">
                <a16:creationId xmlns:a16="http://schemas.microsoft.com/office/drawing/2014/main" id="{5509E723-BF8A-DA37-C106-57F4CEE57C2A}"/>
              </a:ext>
            </a:extLst>
          </p:cNvPr>
          <p:cNvSpPr txBox="1">
            <a:spLocks/>
          </p:cNvSpPr>
          <p:nvPr/>
        </p:nvSpPr>
        <p:spPr>
          <a:xfrm>
            <a:off x="1609344" y="466344"/>
            <a:ext cx="8999220" cy="251459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3000"/>
              </a:lnSpc>
            </a:pPr>
            <a:r>
              <a:rPr lang="en-US" b="1" dirty="0">
                <a:latin typeface="Times New Roman" panose="02020603050405020304" pitchFamily="18" charset="0"/>
                <a:cs typeface="Times New Roman" panose="02020603050405020304" pitchFamily="18" charset="0"/>
              </a:rPr>
              <a:t>PHẦN II</a:t>
            </a:r>
          </a:p>
          <a:p>
            <a:pPr algn="ctr">
              <a:lnSpc>
                <a:spcPts val="3000"/>
              </a:lnSpc>
            </a:pP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PHÊ DUYỆT BÁO CÁO KTKT</a:t>
            </a:r>
          </a:p>
          <a:p>
            <a:pPr algn="ctr">
              <a:lnSpc>
                <a:spcPts val="3000"/>
              </a:lnSpc>
            </a:pPr>
            <a:endParaRPr lang="en-US" b="1" dirty="0">
              <a:latin typeface="Times New Roman" panose="02020603050405020304" pitchFamily="18" charset="0"/>
              <a:cs typeface="Times New Roman" panose="02020603050405020304" pitchFamily="18" charset="0"/>
            </a:endParaRPr>
          </a:p>
          <a:p>
            <a:pPr algn="ctr">
              <a:lnSpc>
                <a:spcPts val="3000"/>
              </a:lnSpc>
            </a:pPr>
            <a:r>
              <a:rPr lang="en-US" b="1" dirty="0">
                <a:latin typeface="Times New Roman" panose="02020603050405020304" pitchFamily="18" charset="0"/>
                <a:cs typeface="Times New Roman" panose="02020603050405020304" pitchFamily="18" charset="0"/>
              </a:rPr>
              <a:t>PHÊ DUYỆT DỰ ÁN</a:t>
            </a:r>
          </a:p>
        </p:txBody>
      </p:sp>
      <p:sp>
        <p:nvSpPr>
          <p:cNvPr id="5" name="Title 10">
            <a:extLst>
              <a:ext uri="{FF2B5EF4-FFF2-40B4-BE49-F238E27FC236}">
                <a16:creationId xmlns:a16="http://schemas.microsoft.com/office/drawing/2014/main" id="{561874B9-8C4A-DC24-EAC1-8C7B2BE2BD08}"/>
              </a:ext>
            </a:extLst>
          </p:cNvPr>
          <p:cNvSpPr txBox="1">
            <a:spLocks/>
          </p:cNvSpPr>
          <p:nvPr/>
        </p:nvSpPr>
        <p:spPr>
          <a:xfrm>
            <a:off x="1583436" y="3140964"/>
            <a:ext cx="9025128" cy="134416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3000"/>
              </a:lnSpc>
            </a:pPr>
            <a:r>
              <a:rPr lang="en-US" sz="2000" b="1" dirty="0">
                <a:latin typeface="Times New Roman" panose="02020603050405020304" pitchFamily="18" charset="0"/>
                <a:cs typeface="Times New Roman" panose="02020603050405020304" pitchFamily="18" charset="0"/>
              </a:rPr>
              <a:t>QUY TRÌNH ÁP DỤNG</a:t>
            </a:r>
          </a:p>
          <a:p>
            <a:pPr algn="ctr">
              <a:lnSpc>
                <a:spcPts val="3000"/>
              </a:lnSpc>
            </a:pPr>
            <a:r>
              <a:rPr lang="en-US" sz="2000" b="1" dirty="0">
                <a:latin typeface="Times New Roman" panose="02020603050405020304" pitchFamily="18" charset="0"/>
                <a:cs typeface="Times New Roman" panose="02020603050405020304" pitchFamily="18" charset="0"/>
              </a:rPr>
              <a:t>ĐỐI VỚI DỰ ÁN ĐẦU TƯ CÔNG THÔNG THƯỜNG</a:t>
            </a:r>
          </a:p>
          <a:p>
            <a:pPr algn="ctr">
              <a:lnSpc>
                <a:spcPts val="3000"/>
              </a:lnSpc>
            </a:pPr>
            <a:r>
              <a:rPr lang="en-US" sz="2000" b="1" dirty="0">
                <a:latin typeface="Times New Roman" panose="02020603050405020304" pitchFamily="18" charset="0"/>
                <a:cs typeface="Times New Roman" panose="02020603050405020304" pitchFamily="18" charset="0"/>
              </a:rPr>
              <a:t>SỬ DỤNG NGUỒN VỐN ĐẦU TƯ CÔNG</a:t>
            </a:r>
          </a:p>
        </p:txBody>
      </p:sp>
      <p:sp>
        <p:nvSpPr>
          <p:cNvPr id="6" name="Title 10">
            <a:extLst>
              <a:ext uri="{FF2B5EF4-FFF2-40B4-BE49-F238E27FC236}">
                <a16:creationId xmlns:a16="http://schemas.microsoft.com/office/drawing/2014/main" id="{4F60F3B5-15F5-7799-9C3D-594231629D2C}"/>
              </a:ext>
            </a:extLst>
          </p:cNvPr>
          <p:cNvSpPr txBox="1">
            <a:spLocks/>
          </p:cNvSpPr>
          <p:nvPr/>
        </p:nvSpPr>
        <p:spPr>
          <a:xfrm>
            <a:off x="1583436" y="4198620"/>
            <a:ext cx="9025128" cy="219303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3000"/>
              </a:lnSpc>
            </a:pPr>
            <a:endParaRPr lang="en-US" sz="2000" b="1" dirty="0">
              <a:latin typeface="Times New Roman" panose="02020603050405020304" pitchFamily="18" charset="0"/>
              <a:cs typeface="Times New Roman" panose="02020603050405020304" pitchFamily="18" charset="0"/>
            </a:endParaRPr>
          </a:p>
        </p:txBody>
      </p:sp>
      <p:sp>
        <p:nvSpPr>
          <p:cNvPr id="7" name="Title 10">
            <a:extLst>
              <a:ext uri="{FF2B5EF4-FFF2-40B4-BE49-F238E27FC236}">
                <a16:creationId xmlns:a16="http://schemas.microsoft.com/office/drawing/2014/main" id="{CC319BDF-58A5-172F-6FBE-ACD5A0C47F0B}"/>
              </a:ext>
            </a:extLst>
          </p:cNvPr>
          <p:cNvSpPr txBox="1">
            <a:spLocks/>
          </p:cNvSpPr>
          <p:nvPr/>
        </p:nvSpPr>
        <p:spPr>
          <a:xfrm>
            <a:off x="1708404" y="4198620"/>
            <a:ext cx="9025128" cy="207416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3000"/>
              </a:lnSpc>
            </a:pP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16551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18E69-E77F-6559-AA17-29A711CA48D3}"/>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36D5655C-D3C2-4ACC-6E30-222095381275}"/>
              </a:ext>
            </a:extLst>
          </p:cNvPr>
          <p:cNvSpPr/>
          <p:nvPr/>
        </p:nvSpPr>
        <p:spPr>
          <a:xfrm>
            <a:off x="1738888" y="1765978"/>
            <a:ext cx="3509768" cy="59237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lvl="0" algn="ctr">
              <a:defRPr/>
            </a:pPr>
            <a:r>
              <a:rPr lang="en-US" sz="1400" b="1" dirty="0">
                <a:solidFill>
                  <a:prstClr val="black"/>
                </a:solidFill>
                <a:latin typeface="Times New Roman" panose="02020603050405020304" pitchFamily="18" charset="0"/>
                <a:cs typeface="Times New Roman" panose="02020603050405020304" pitchFamily="18" charset="0"/>
              </a:rPr>
              <a:t>BƯỚC 1</a:t>
            </a:r>
          </a:p>
          <a:p>
            <a:pPr lvl="0" algn="ctr">
              <a:defRPr/>
            </a:pPr>
            <a:r>
              <a:rPr lang="en-US" sz="1400" b="1" dirty="0" err="1">
                <a:solidFill>
                  <a:prstClr val="black"/>
                </a:solidFill>
                <a:latin typeface="Times New Roman" panose="02020603050405020304" pitchFamily="18" charset="0"/>
                <a:cs typeface="Times New Roman" panose="02020603050405020304" pitchFamily="18" charset="0"/>
              </a:rPr>
              <a:t>Lập</a:t>
            </a:r>
            <a:r>
              <a:rPr lang="en-US" sz="1400" b="1" dirty="0">
                <a:solidFill>
                  <a:prstClr val="black"/>
                </a:solidFill>
                <a:latin typeface="Times New Roman" panose="02020603050405020304" pitchFamily="18" charset="0"/>
                <a:cs typeface="Times New Roman" panose="02020603050405020304" pitchFamily="18" charset="0"/>
              </a:rPr>
              <a:t>, </a:t>
            </a:r>
            <a:r>
              <a:rPr lang="en-US" sz="1400" b="1" dirty="0" err="1">
                <a:solidFill>
                  <a:prstClr val="black"/>
                </a:solidFill>
                <a:latin typeface="Times New Roman" panose="02020603050405020304" pitchFamily="18" charset="0"/>
                <a:cs typeface="Times New Roman" panose="02020603050405020304" pitchFamily="18" charset="0"/>
              </a:rPr>
              <a:t>phê</a:t>
            </a:r>
            <a:r>
              <a:rPr lang="en-US" sz="1400" b="1" dirty="0">
                <a:solidFill>
                  <a:prstClr val="black"/>
                </a:solidFill>
                <a:latin typeface="Times New Roman" panose="02020603050405020304" pitchFamily="18" charset="0"/>
                <a:cs typeface="Times New Roman" panose="02020603050405020304" pitchFamily="18" charset="0"/>
              </a:rPr>
              <a:t> </a:t>
            </a:r>
            <a:r>
              <a:rPr lang="en-US" sz="1400" b="1" dirty="0" err="1">
                <a:solidFill>
                  <a:prstClr val="black"/>
                </a:solidFill>
                <a:latin typeface="Times New Roman" panose="02020603050405020304" pitchFamily="18" charset="0"/>
                <a:cs typeface="Times New Roman" panose="02020603050405020304" pitchFamily="18" charset="0"/>
              </a:rPr>
              <a:t>duyệt</a:t>
            </a:r>
            <a:r>
              <a:rPr lang="en-US" sz="1400" b="1" dirty="0">
                <a:solidFill>
                  <a:prstClr val="black"/>
                </a:solidFill>
                <a:latin typeface="Times New Roman" panose="02020603050405020304" pitchFamily="18" charset="0"/>
                <a:cs typeface="Times New Roman" panose="02020603050405020304" pitchFamily="18" charset="0"/>
              </a:rPr>
              <a:t> </a:t>
            </a:r>
            <a:r>
              <a:rPr lang="en-US" sz="1400" b="1" dirty="0" err="1">
                <a:solidFill>
                  <a:prstClr val="black"/>
                </a:solidFill>
                <a:latin typeface="Times New Roman" panose="02020603050405020304" pitchFamily="18" charset="0"/>
                <a:cs typeface="Times New Roman" panose="02020603050405020304" pitchFamily="18" charset="0"/>
              </a:rPr>
              <a:t>nhiệm</a:t>
            </a:r>
            <a:r>
              <a:rPr lang="en-US" sz="1400" b="1" dirty="0">
                <a:solidFill>
                  <a:prstClr val="black"/>
                </a:solidFill>
                <a:latin typeface="Times New Roman" panose="02020603050405020304" pitchFamily="18" charset="0"/>
                <a:cs typeface="Times New Roman" panose="02020603050405020304" pitchFamily="18" charset="0"/>
              </a:rPr>
              <a:t> </a:t>
            </a:r>
            <a:r>
              <a:rPr lang="en-US" sz="1400" b="1" dirty="0" err="1">
                <a:solidFill>
                  <a:prstClr val="black"/>
                </a:solidFill>
                <a:latin typeface="Times New Roman" panose="02020603050405020304" pitchFamily="18" charset="0"/>
                <a:cs typeface="Times New Roman" panose="02020603050405020304" pitchFamily="18" charset="0"/>
              </a:rPr>
              <a:t>vụ</a:t>
            </a:r>
            <a:r>
              <a:rPr lang="en-US" sz="1400" b="1" dirty="0">
                <a:solidFill>
                  <a:prstClr val="black"/>
                </a:solidFill>
                <a:latin typeface="Times New Roman" panose="02020603050405020304" pitchFamily="18" charset="0"/>
                <a:cs typeface="Times New Roman" panose="02020603050405020304" pitchFamily="18" charset="0"/>
              </a:rPr>
              <a:t> </a:t>
            </a:r>
            <a:r>
              <a:rPr lang="en-US" sz="1400" b="1" dirty="0" err="1">
                <a:solidFill>
                  <a:prstClr val="black"/>
                </a:solidFill>
                <a:latin typeface="Times New Roman" panose="02020603050405020304" pitchFamily="18" charset="0"/>
                <a:cs typeface="Times New Roman" panose="02020603050405020304" pitchFamily="18" charset="0"/>
              </a:rPr>
              <a:t>khảo</a:t>
            </a:r>
            <a:r>
              <a:rPr lang="en-US" sz="1400" b="1" dirty="0">
                <a:solidFill>
                  <a:prstClr val="black"/>
                </a:solidFill>
                <a:latin typeface="Times New Roman" panose="02020603050405020304" pitchFamily="18" charset="0"/>
                <a:cs typeface="Times New Roman" panose="02020603050405020304" pitchFamily="18" charset="0"/>
              </a:rPr>
              <a:t> </a:t>
            </a:r>
            <a:r>
              <a:rPr lang="en-US" sz="1400" b="1" dirty="0" err="1">
                <a:solidFill>
                  <a:prstClr val="black"/>
                </a:solidFill>
                <a:latin typeface="Times New Roman" panose="02020603050405020304" pitchFamily="18" charset="0"/>
                <a:cs typeface="Times New Roman" panose="02020603050405020304" pitchFamily="18" charset="0"/>
              </a:rPr>
              <a:t>sát</a:t>
            </a:r>
            <a:r>
              <a:rPr lang="en-US" sz="1400" b="1" dirty="0">
                <a:solidFill>
                  <a:prstClr val="black"/>
                </a:solidFill>
                <a:latin typeface="Times New Roman" panose="02020603050405020304" pitchFamily="18" charset="0"/>
                <a:cs typeface="Times New Roman" panose="02020603050405020304" pitchFamily="18" charset="0"/>
              </a:rPr>
              <a:t> </a:t>
            </a:r>
            <a:endPar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6" name="Rectangle 15">
            <a:extLst>
              <a:ext uri="{FF2B5EF4-FFF2-40B4-BE49-F238E27FC236}">
                <a16:creationId xmlns:a16="http://schemas.microsoft.com/office/drawing/2014/main" id="{3F193539-5B7E-09CE-C78D-C998A9A99EF1}"/>
              </a:ext>
            </a:extLst>
          </p:cNvPr>
          <p:cNvSpPr/>
          <p:nvPr/>
        </p:nvSpPr>
        <p:spPr>
          <a:xfrm>
            <a:off x="1738888" y="2824696"/>
            <a:ext cx="3509768" cy="58892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lvl="0" algn="ctr">
              <a:defRPr/>
            </a:pPr>
            <a:r>
              <a:rPr lang="en-US" sz="1400" b="1" dirty="0">
                <a:solidFill>
                  <a:prstClr val="black"/>
                </a:solidFill>
                <a:latin typeface="Times New Roman" panose="02020603050405020304" pitchFamily="18" charset="0"/>
                <a:cs typeface="Times New Roman" panose="02020603050405020304" pitchFamily="18" charset="0"/>
              </a:rPr>
              <a:t>BƯỚC 2</a:t>
            </a:r>
          </a:p>
          <a:p>
            <a:pPr lvl="0" algn="ctr">
              <a:defRPr/>
            </a:pPr>
            <a:r>
              <a:rPr lang="en-US" sz="1400" b="1" dirty="0" err="1">
                <a:solidFill>
                  <a:prstClr val="black"/>
                </a:solidFill>
                <a:latin typeface="Times New Roman" panose="02020603050405020304" pitchFamily="18" charset="0"/>
                <a:cs typeface="Times New Roman" panose="02020603050405020304" pitchFamily="18" charset="0"/>
              </a:rPr>
              <a:t>Phê</a:t>
            </a:r>
            <a:r>
              <a:rPr lang="en-US" sz="1400" b="1" dirty="0">
                <a:solidFill>
                  <a:prstClr val="black"/>
                </a:solidFill>
                <a:latin typeface="Times New Roman" panose="02020603050405020304" pitchFamily="18" charset="0"/>
                <a:cs typeface="Times New Roman" panose="02020603050405020304" pitchFamily="18" charset="0"/>
              </a:rPr>
              <a:t> </a:t>
            </a:r>
            <a:r>
              <a:rPr lang="en-US" sz="1400" b="1" dirty="0" err="1">
                <a:solidFill>
                  <a:prstClr val="black"/>
                </a:solidFill>
                <a:latin typeface="Times New Roman" panose="02020603050405020304" pitchFamily="18" charset="0"/>
                <a:cs typeface="Times New Roman" panose="02020603050405020304" pitchFamily="18" charset="0"/>
              </a:rPr>
              <a:t>duyệt</a:t>
            </a:r>
            <a:r>
              <a:rPr lang="en-US" sz="1400" b="1" dirty="0">
                <a:solidFill>
                  <a:prstClr val="black"/>
                </a:solidFill>
                <a:latin typeface="Times New Roman" panose="02020603050405020304" pitchFamily="18" charset="0"/>
                <a:cs typeface="Times New Roman" panose="02020603050405020304" pitchFamily="18" charset="0"/>
              </a:rPr>
              <a:t> </a:t>
            </a:r>
            <a:r>
              <a:rPr lang="en-US" sz="1400" b="1" dirty="0" err="1">
                <a:solidFill>
                  <a:prstClr val="black"/>
                </a:solidFill>
                <a:latin typeface="Times New Roman" panose="02020603050405020304" pitchFamily="18" charset="0"/>
                <a:cs typeface="Times New Roman" panose="02020603050405020304" pitchFamily="18" charset="0"/>
              </a:rPr>
              <a:t>bổ</a:t>
            </a:r>
            <a:r>
              <a:rPr lang="en-US" sz="1400" b="1" dirty="0">
                <a:solidFill>
                  <a:prstClr val="black"/>
                </a:solidFill>
                <a:latin typeface="Times New Roman" panose="02020603050405020304" pitchFamily="18" charset="0"/>
                <a:cs typeface="Times New Roman" panose="02020603050405020304" pitchFamily="18" charset="0"/>
              </a:rPr>
              <a:t> sung </a:t>
            </a:r>
            <a:r>
              <a:rPr lang="en-US" sz="1400" b="1" dirty="0" err="1">
                <a:solidFill>
                  <a:prstClr val="black"/>
                </a:solidFill>
                <a:latin typeface="Times New Roman" panose="02020603050405020304" pitchFamily="18" charset="0"/>
                <a:cs typeface="Times New Roman" panose="02020603050405020304" pitchFamily="18" charset="0"/>
              </a:rPr>
              <a:t>dự</a:t>
            </a:r>
            <a:r>
              <a:rPr lang="en-US" sz="1400" b="1" dirty="0">
                <a:solidFill>
                  <a:prstClr val="black"/>
                </a:solidFill>
                <a:latin typeface="Times New Roman" panose="02020603050405020304" pitchFamily="18" charset="0"/>
                <a:cs typeface="Times New Roman" panose="02020603050405020304" pitchFamily="18" charset="0"/>
              </a:rPr>
              <a:t> </a:t>
            </a:r>
            <a:r>
              <a:rPr lang="en-US" sz="1400" b="1" dirty="0" err="1">
                <a:solidFill>
                  <a:prstClr val="black"/>
                </a:solidFill>
                <a:latin typeface="Times New Roman" panose="02020603050405020304" pitchFamily="18" charset="0"/>
                <a:cs typeface="Times New Roman" panose="02020603050405020304" pitchFamily="18" charset="0"/>
              </a:rPr>
              <a:t>toán</a:t>
            </a:r>
            <a:r>
              <a:rPr lang="en-US" sz="1400" b="1" dirty="0">
                <a:solidFill>
                  <a:prstClr val="black"/>
                </a:solidFill>
                <a:latin typeface="Times New Roman" panose="02020603050405020304" pitchFamily="18" charset="0"/>
                <a:cs typeface="Times New Roman" panose="02020603050405020304" pitchFamily="18" charset="0"/>
              </a:rPr>
              <a:t> chi </a:t>
            </a:r>
            <a:r>
              <a:rPr lang="en-US" sz="1400" b="1" dirty="0" err="1">
                <a:solidFill>
                  <a:prstClr val="black"/>
                </a:solidFill>
                <a:latin typeface="Times New Roman" panose="02020603050405020304" pitchFamily="18" charset="0"/>
                <a:cs typeface="Times New Roman" panose="02020603050405020304" pitchFamily="18" charset="0"/>
              </a:rPr>
              <a:t>phí</a:t>
            </a:r>
            <a:r>
              <a:rPr lang="en-US" sz="1400" b="1" dirty="0">
                <a:solidFill>
                  <a:prstClr val="black"/>
                </a:solidFill>
                <a:latin typeface="Times New Roman" panose="02020603050405020304" pitchFamily="18" charset="0"/>
                <a:cs typeface="Times New Roman" panose="02020603050405020304" pitchFamily="18" charset="0"/>
              </a:rPr>
              <a:t> CBDA</a:t>
            </a:r>
            <a:endPar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7" name="Rectangle 16">
            <a:extLst>
              <a:ext uri="{FF2B5EF4-FFF2-40B4-BE49-F238E27FC236}">
                <a16:creationId xmlns:a16="http://schemas.microsoft.com/office/drawing/2014/main" id="{E9A59161-80A3-2DA0-85CB-9C940E0FC95B}"/>
              </a:ext>
            </a:extLst>
          </p:cNvPr>
          <p:cNvSpPr/>
          <p:nvPr/>
        </p:nvSpPr>
        <p:spPr>
          <a:xfrm>
            <a:off x="1738888" y="3879969"/>
            <a:ext cx="3509768" cy="72680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lvl="0" algn="ctr">
              <a:defRPr/>
            </a:pPr>
            <a:r>
              <a:rPr lang="en-US" sz="1400" b="1" dirty="0">
                <a:solidFill>
                  <a:prstClr val="black"/>
                </a:solidFill>
                <a:latin typeface="Times New Roman" panose="02020603050405020304" pitchFamily="18" charset="0"/>
                <a:cs typeface="Times New Roman" panose="02020603050405020304" pitchFamily="18" charset="0"/>
              </a:rPr>
              <a:t>BƯỚC 3</a:t>
            </a:r>
          </a:p>
          <a:p>
            <a:pPr lvl="0" algn="ctr">
              <a:defRPr/>
            </a:pPr>
            <a:r>
              <a:rPr lang="en-US" sz="1400" b="1" dirty="0" err="1">
                <a:solidFill>
                  <a:prstClr val="black"/>
                </a:solidFill>
                <a:latin typeface="Times New Roman" panose="02020603050405020304" pitchFamily="18" charset="0"/>
                <a:cs typeface="Times New Roman" panose="02020603050405020304" pitchFamily="18" charset="0"/>
              </a:rPr>
              <a:t>Phê</a:t>
            </a:r>
            <a:r>
              <a:rPr lang="en-US" sz="1400" b="1" dirty="0">
                <a:solidFill>
                  <a:prstClr val="black"/>
                </a:solidFill>
                <a:latin typeface="Times New Roman" panose="02020603050405020304" pitchFamily="18" charset="0"/>
                <a:cs typeface="Times New Roman" panose="02020603050405020304" pitchFamily="18" charset="0"/>
              </a:rPr>
              <a:t> </a:t>
            </a:r>
            <a:r>
              <a:rPr lang="en-US" sz="1400" b="1" dirty="0" err="1">
                <a:solidFill>
                  <a:prstClr val="black"/>
                </a:solidFill>
                <a:latin typeface="Times New Roman" panose="02020603050405020304" pitchFamily="18" charset="0"/>
                <a:cs typeface="Times New Roman" panose="02020603050405020304" pitchFamily="18" charset="0"/>
              </a:rPr>
              <a:t>duyệt</a:t>
            </a:r>
            <a:r>
              <a:rPr lang="en-US" sz="1400" b="1" dirty="0">
                <a:solidFill>
                  <a:prstClr val="black"/>
                </a:solidFill>
                <a:latin typeface="Times New Roman" panose="02020603050405020304" pitchFamily="18" charset="0"/>
                <a:cs typeface="Times New Roman" panose="02020603050405020304" pitchFamily="18" charset="0"/>
              </a:rPr>
              <a:t> </a:t>
            </a:r>
            <a:r>
              <a:rPr lang="en-US" sz="1400" b="1" dirty="0" err="1">
                <a:solidFill>
                  <a:prstClr val="black"/>
                </a:solidFill>
                <a:latin typeface="Times New Roman" panose="02020603050405020304" pitchFamily="18" charset="0"/>
                <a:cs typeface="Times New Roman" panose="02020603050405020304" pitchFamily="18" charset="0"/>
              </a:rPr>
              <a:t>bổ</a:t>
            </a:r>
            <a:r>
              <a:rPr lang="en-US" sz="1400" b="1" dirty="0">
                <a:solidFill>
                  <a:prstClr val="black"/>
                </a:solidFill>
                <a:latin typeface="Times New Roman" panose="02020603050405020304" pitchFamily="18" charset="0"/>
                <a:cs typeface="Times New Roman" panose="02020603050405020304" pitchFamily="18" charset="0"/>
              </a:rPr>
              <a:t> sung </a:t>
            </a:r>
            <a:r>
              <a:rPr lang="en-US" sz="1400" b="1" dirty="0" err="1">
                <a:solidFill>
                  <a:prstClr val="black"/>
                </a:solidFill>
                <a:latin typeface="Times New Roman" panose="02020603050405020304" pitchFamily="18" charset="0"/>
                <a:cs typeface="Times New Roman" panose="02020603050405020304" pitchFamily="18" charset="0"/>
              </a:rPr>
              <a:t>Kế</a:t>
            </a:r>
            <a:r>
              <a:rPr lang="en-US" sz="1400" b="1" dirty="0">
                <a:solidFill>
                  <a:prstClr val="black"/>
                </a:solidFill>
                <a:latin typeface="Times New Roman" panose="02020603050405020304" pitchFamily="18" charset="0"/>
                <a:cs typeface="Times New Roman" panose="02020603050405020304" pitchFamily="18" charset="0"/>
              </a:rPr>
              <a:t> </a:t>
            </a:r>
            <a:r>
              <a:rPr lang="en-US" sz="1400" b="1" dirty="0" err="1">
                <a:solidFill>
                  <a:prstClr val="black"/>
                </a:solidFill>
                <a:latin typeface="Times New Roman" panose="02020603050405020304" pitchFamily="18" charset="0"/>
                <a:cs typeface="Times New Roman" panose="02020603050405020304" pitchFamily="18" charset="0"/>
              </a:rPr>
              <a:t>hoạch</a:t>
            </a:r>
            <a:r>
              <a:rPr lang="en-US" sz="1400" b="1" dirty="0">
                <a:solidFill>
                  <a:prstClr val="black"/>
                </a:solidFill>
                <a:latin typeface="Times New Roman" panose="02020603050405020304" pitchFamily="18" charset="0"/>
                <a:cs typeface="Times New Roman" panose="02020603050405020304" pitchFamily="18" charset="0"/>
              </a:rPr>
              <a:t> LCNT </a:t>
            </a:r>
          </a:p>
          <a:p>
            <a:pPr lvl="0" algn="ctr">
              <a:defRPr/>
            </a:pPr>
            <a:r>
              <a:rPr lang="en-US" sz="1400" b="1" dirty="0" err="1">
                <a:solidFill>
                  <a:prstClr val="black"/>
                </a:solidFill>
                <a:latin typeface="Times New Roman" panose="02020603050405020304" pitchFamily="18" charset="0"/>
                <a:cs typeface="Times New Roman" panose="02020603050405020304" pitchFamily="18" charset="0"/>
              </a:rPr>
              <a:t>Tổ</a:t>
            </a:r>
            <a:r>
              <a:rPr lang="en-US" sz="1400" b="1" dirty="0">
                <a:solidFill>
                  <a:prstClr val="black"/>
                </a:solidFill>
                <a:latin typeface="Times New Roman" panose="02020603050405020304" pitchFamily="18" charset="0"/>
                <a:cs typeface="Times New Roman" panose="02020603050405020304" pitchFamily="18" charset="0"/>
              </a:rPr>
              <a:t> </a:t>
            </a:r>
            <a:r>
              <a:rPr lang="en-US" sz="1400" b="1" dirty="0" err="1">
                <a:solidFill>
                  <a:prstClr val="black"/>
                </a:solidFill>
                <a:latin typeface="Times New Roman" panose="02020603050405020304" pitchFamily="18" charset="0"/>
                <a:cs typeface="Times New Roman" panose="02020603050405020304" pitchFamily="18" charset="0"/>
              </a:rPr>
              <a:t>chức</a:t>
            </a:r>
            <a:r>
              <a:rPr lang="en-US" sz="1400" b="1" dirty="0">
                <a:solidFill>
                  <a:prstClr val="black"/>
                </a:solidFill>
                <a:latin typeface="Times New Roman" panose="02020603050405020304" pitchFamily="18" charset="0"/>
                <a:cs typeface="Times New Roman" panose="02020603050405020304" pitchFamily="18" charset="0"/>
              </a:rPr>
              <a:t> </a:t>
            </a:r>
            <a:r>
              <a:rPr lang="en-US" sz="1400" b="1" dirty="0" err="1">
                <a:solidFill>
                  <a:prstClr val="black"/>
                </a:solidFill>
                <a:latin typeface="Times New Roman" panose="02020603050405020304" pitchFamily="18" charset="0"/>
                <a:cs typeface="Times New Roman" panose="02020603050405020304" pitchFamily="18" charset="0"/>
              </a:rPr>
              <a:t>lựa</a:t>
            </a:r>
            <a:r>
              <a:rPr lang="en-US" sz="1400" b="1" dirty="0">
                <a:solidFill>
                  <a:prstClr val="black"/>
                </a:solidFill>
                <a:latin typeface="Times New Roman" panose="02020603050405020304" pitchFamily="18" charset="0"/>
                <a:cs typeface="Times New Roman" panose="02020603050405020304" pitchFamily="18" charset="0"/>
              </a:rPr>
              <a:t> </a:t>
            </a:r>
            <a:r>
              <a:rPr lang="en-US" sz="1400" b="1" dirty="0" err="1">
                <a:solidFill>
                  <a:prstClr val="black"/>
                </a:solidFill>
                <a:latin typeface="Times New Roman" panose="02020603050405020304" pitchFamily="18" charset="0"/>
                <a:cs typeface="Times New Roman" panose="02020603050405020304" pitchFamily="18" charset="0"/>
              </a:rPr>
              <a:t>chọn</a:t>
            </a:r>
            <a:r>
              <a:rPr lang="en-US" sz="1400" b="1" dirty="0">
                <a:solidFill>
                  <a:prstClr val="black"/>
                </a:solidFill>
                <a:latin typeface="Times New Roman" panose="02020603050405020304" pitchFamily="18" charset="0"/>
                <a:cs typeface="Times New Roman" panose="02020603050405020304" pitchFamily="18" charset="0"/>
              </a:rPr>
              <a:t> </a:t>
            </a:r>
            <a:r>
              <a:rPr lang="en-US" sz="1400" b="1" dirty="0" err="1">
                <a:solidFill>
                  <a:prstClr val="black"/>
                </a:solidFill>
                <a:latin typeface="Times New Roman" panose="02020603050405020304" pitchFamily="18" charset="0"/>
                <a:cs typeface="Times New Roman" panose="02020603050405020304" pitchFamily="18" charset="0"/>
              </a:rPr>
              <a:t>nhà</a:t>
            </a:r>
            <a:r>
              <a:rPr lang="en-US" sz="1400" b="1" dirty="0">
                <a:solidFill>
                  <a:prstClr val="black"/>
                </a:solidFill>
                <a:latin typeface="Times New Roman" panose="02020603050405020304" pitchFamily="18" charset="0"/>
                <a:cs typeface="Times New Roman" panose="02020603050405020304" pitchFamily="18" charset="0"/>
              </a:rPr>
              <a:t> </a:t>
            </a:r>
            <a:r>
              <a:rPr lang="en-US" sz="1400" b="1" dirty="0" err="1">
                <a:solidFill>
                  <a:prstClr val="black"/>
                </a:solidFill>
                <a:latin typeface="Times New Roman" panose="02020603050405020304" pitchFamily="18" charset="0"/>
                <a:cs typeface="Times New Roman" panose="02020603050405020304" pitchFamily="18" charset="0"/>
              </a:rPr>
              <a:t>thầu</a:t>
            </a:r>
            <a:r>
              <a:rPr lang="en-US" sz="1400" b="1" dirty="0">
                <a:solidFill>
                  <a:prstClr val="black"/>
                </a:solidFill>
                <a:latin typeface="Times New Roman" panose="02020603050405020304" pitchFamily="18" charset="0"/>
                <a:cs typeface="Times New Roman" panose="02020603050405020304" pitchFamily="18" charset="0"/>
              </a:rPr>
              <a:t> </a:t>
            </a:r>
            <a:r>
              <a:rPr lang="en-US" sz="1400" b="1" dirty="0" err="1">
                <a:solidFill>
                  <a:prstClr val="black"/>
                </a:solidFill>
                <a:latin typeface="Times New Roman" panose="02020603050405020304" pitchFamily="18" charset="0"/>
                <a:cs typeface="Times New Roman" panose="02020603050405020304" pitchFamily="18" charset="0"/>
              </a:rPr>
              <a:t>giai</a:t>
            </a:r>
            <a:r>
              <a:rPr lang="en-US" sz="1400" b="1" dirty="0">
                <a:solidFill>
                  <a:prstClr val="black"/>
                </a:solidFill>
                <a:latin typeface="Times New Roman" panose="02020603050405020304" pitchFamily="18" charset="0"/>
                <a:cs typeface="Times New Roman" panose="02020603050405020304" pitchFamily="18" charset="0"/>
              </a:rPr>
              <a:t> </a:t>
            </a:r>
            <a:r>
              <a:rPr lang="en-US" sz="1400" b="1" dirty="0" err="1">
                <a:solidFill>
                  <a:prstClr val="black"/>
                </a:solidFill>
                <a:latin typeface="Times New Roman" panose="02020603050405020304" pitchFamily="18" charset="0"/>
                <a:cs typeface="Times New Roman" panose="02020603050405020304" pitchFamily="18" charset="0"/>
              </a:rPr>
              <a:t>đoạn</a:t>
            </a:r>
            <a:r>
              <a:rPr lang="en-US" sz="1400" b="1" dirty="0">
                <a:solidFill>
                  <a:prstClr val="black"/>
                </a:solidFill>
                <a:latin typeface="Times New Roman" panose="02020603050405020304" pitchFamily="18" charset="0"/>
                <a:cs typeface="Times New Roman" panose="02020603050405020304" pitchFamily="18" charset="0"/>
              </a:rPr>
              <a:t> CBDA</a:t>
            </a:r>
            <a:endPar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8" name="Rectangle 17">
            <a:extLst>
              <a:ext uri="{FF2B5EF4-FFF2-40B4-BE49-F238E27FC236}">
                <a16:creationId xmlns:a16="http://schemas.microsoft.com/office/drawing/2014/main" id="{E1938D64-AC3A-FC9A-E34C-46658B0503DE}"/>
              </a:ext>
            </a:extLst>
          </p:cNvPr>
          <p:cNvSpPr/>
          <p:nvPr/>
        </p:nvSpPr>
        <p:spPr>
          <a:xfrm>
            <a:off x="1738888" y="5123599"/>
            <a:ext cx="3509768" cy="91658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lvl="0" algn="ctr">
              <a:defRPr/>
            </a:pPr>
            <a:r>
              <a:rPr lang="en-US" sz="1400" b="1" dirty="0">
                <a:solidFill>
                  <a:prstClr val="black"/>
                </a:solidFill>
                <a:latin typeface="Times New Roman" panose="02020603050405020304" pitchFamily="18" charset="0"/>
                <a:cs typeface="Times New Roman" panose="02020603050405020304" pitchFamily="18" charset="0"/>
              </a:rPr>
              <a:t>BƯỚC 4</a:t>
            </a:r>
          </a:p>
          <a:p>
            <a:pPr lvl="0" algn="ctr">
              <a:defRPr/>
            </a:pPr>
            <a:r>
              <a:rPr lang="en-US" sz="1400" b="1" dirty="0" err="1">
                <a:solidFill>
                  <a:prstClr val="black"/>
                </a:solidFill>
                <a:latin typeface="Times New Roman" panose="02020603050405020304" pitchFamily="18" charset="0"/>
                <a:cs typeface="Times New Roman" panose="02020603050405020304" pitchFamily="18" charset="0"/>
              </a:rPr>
              <a:t>Tổ</a:t>
            </a:r>
            <a:r>
              <a:rPr lang="en-US" sz="1400" b="1" dirty="0">
                <a:solidFill>
                  <a:prstClr val="black"/>
                </a:solidFill>
                <a:latin typeface="Times New Roman" panose="02020603050405020304" pitchFamily="18" charset="0"/>
                <a:cs typeface="Times New Roman" panose="02020603050405020304" pitchFamily="18" charset="0"/>
              </a:rPr>
              <a:t> </a:t>
            </a:r>
            <a:r>
              <a:rPr lang="en-US" sz="1400" b="1" dirty="0" err="1">
                <a:solidFill>
                  <a:prstClr val="black"/>
                </a:solidFill>
                <a:latin typeface="Times New Roman" panose="02020603050405020304" pitchFamily="18" charset="0"/>
                <a:cs typeface="Times New Roman" panose="02020603050405020304" pitchFamily="18" charset="0"/>
              </a:rPr>
              <a:t>chức</a:t>
            </a:r>
            <a:r>
              <a:rPr lang="en-US" sz="1400" b="1" dirty="0">
                <a:solidFill>
                  <a:prstClr val="black"/>
                </a:solidFill>
                <a:latin typeface="Times New Roman" panose="02020603050405020304" pitchFamily="18" charset="0"/>
                <a:cs typeface="Times New Roman" panose="02020603050405020304" pitchFamily="18" charset="0"/>
              </a:rPr>
              <a:t> </a:t>
            </a:r>
            <a:r>
              <a:rPr lang="en-US" sz="1400" b="1" dirty="0" err="1">
                <a:solidFill>
                  <a:prstClr val="black"/>
                </a:solidFill>
                <a:latin typeface="Times New Roman" panose="02020603050405020304" pitchFamily="18" charset="0"/>
                <a:cs typeface="Times New Roman" panose="02020603050405020304" pitchFamily="18" charset="0"/>
              </a:rPr>
              <a:t>thực</a:t>
            </a:r>
            <a:r>
              <a:rPr lang="en-US" sz="1400" b="1" dirty="0">
                <a:solidFill>
                  <a:prstClr val="black"/>
                </a:solidFill>
                <a:latin typeface="Times New Roman" panose="02020603050405020304" pitchFamily="18" charset="0"/>
                <a:cs typeface="Times New Roman" panose="02020603050405020304" pitchFamily="18" charset="0"/>
              </a:rPr>
              <a:t> </a:t>
            </a:r>
            <a:r>
              <a:rPr lang="en-US" sz="1400" b="1" dirty="0" err="1">
                <a:solidFill>
                  <a:prstClr val="black"/>
                </a:solidFill>
                <a:latin typeface="Times New Roman" panose="02020603050405020304" pitchFamily="18" charset="0"/>
                <a:cs typeface="Times New Roman" panose="02020603050405020304" pitchFamily="18" charset="0"/>
              </a:rPr>
              <a:t>hiện</a:t>
            </a:r>
            <a:r>
              <a:rPr lang="en-US" sz="1400" b="1" dirty="0">
                <a:solidFill>
                  <a:prstClr val="black"/>
                </a:solidFill>
                <a:latin typeface="Times New Roman" panose="02020603050405020304" pitchFamily="18" charset="0"/>
                <a:cs typeface="Times New Roman" panose="02020603050405020304" pitchFamily="18" charset="0"/>
              </a:rPr>
              <a:t> </a:t>
            </a:r>
            <a:r>
              <a:rPr lang="en-US" sz="1400" b="1" dirty="0" err="1">
                <a:solidFill>
                  <a:prstClr val="black"/>
                </a:solidFill>
                <a:latin typeface="Times New Roman" panose="02020603050405020304" pitchFamily="18" charset="0"/>
                <a:cs typeface="Times New Roman" panose="02020603050405020304" pitchFamily="18" charset="0"/>
              </a:rPr>
              <a:t>công</a:t>
            </a:r>
            <a:r>
              <a:rPr lang="en-US" sz="1400" b="1" dirty="0">
                <a:solidFill>
                  <a:prstClr val="black"/>
                </a:solidFill>
                <a:latin typeface="Times New Roman" panose="02020603050405020304" pitchFamily="18" charset="0"/>
                <a:cs typeface="Times New Roman" panose="02020603050405020304" pitchFamily="18" charset="0"/>
              </a:rPr>
              <a:t> </a:t>
            </a:r>
            <a:r>
              <a:rPr lang="en-US" sz="1400" b="1" dirty="0" err="1">
                <a:solidFill>
                  <a:prstClr val="black"/>
                </a:solidFill>
                <a:latin typeface="Times New Roman" panose="02020603050405020304" pitchFamily="18" charset="0"/>
                <a:cs typeface="Times New Roman" panose="02020603050405020304" pitchFamily="18" charset="0"/>
              </a:rPr>
              <a:t>tác</a:t>
            </a:r>
            <a:r>
              <a:rPr lang="en-US" sz="1400" b="1" dirty="0">
                <a:solidFill>
                  <a:prstClr val="black"/>
                </a:solidFill>
                <a:latin typeface="Times New Roman" panose="02020603050405020304" pitchFamily="18" charset="0"/>
                <a:cs typeface="Times New Roman" panose="02020603050405020304" pitchFamily="18" charset="0"/>
              </a:rPr>
              <a:t> </a:t>
            </a:r>
            <a:r>
              <a:rPr lang="en-US" sz="1400" b="1" dirty="0" err="1">
                <a:solidFill>
                  <a:prstClr val="black"/>
                </a:solidFill>
                <a:latin typeface="Times New Roman" panose="02020603050405020304" pitchFamily="18" charset="0"/>
                <a:cs typeface="Times New Roman" panose="02020603050405020304" pitchFamily="18" charset="0"/>
              </a:rPr>
              <a:t>khảo</a:t>
            </a:r>
            <a:r>
              <a:rPr lang="en-US" sz="1400" b="1" dirty="0">
                <a:solidFill>
                  <a:prstClr val="black"/>
                </a:solidFill>
                <a:latin typeface="Times New Roman" panose="02020603050405020304" pitchFamily="18" charset="0"/>
                <a:cs typeface="Times New Roman" panose="02020603050405020304" pitchFamily="18" charset="0"/>
              </a:rPr>
              <a:t> </a:t>
            </a:r>
            <a:r>
              <a:rPr lang="en-US" sz="1400" b="1" dirty="0" err="1">
                <a:solidFill>
                  <a:prstClr val="black"/>
                </a:solidFill>
                <a:latin typeface="Times New Roman" panose="02020603050405020304" pitchFamily="18" charset="0"/>
                <a:cs typeface="Times New Roman" panose="02020603050405020304" pitchFamily="18" charset="0"/>
              </a:rPr>
              <a:t>sát</a:t>
            </a:r>
            <a:r>
              <a:rPr lang="en-US" sz="1400" b="1" dirty="0">
                <a:solidFill>
                  <a:prstClr val="black"/>
                </a:solidFill>
                <a:latin typeface="Times New Roman" panose="02020603050405020304" pitchFamily="18" charset="0"/>
                <a:cs typeface="Times New Roman" panose="02020603050405020304" pitchFamily="18" charset="0"/>
              </a:rPr>
              <a:t>, </a:t>
            </a:r>
            <a:r>
              <a:rPr lang="en-US" sz="1400" b="1" dirty="0" err="1">
                <a:solidFill>
                  <a:prstClr val="black"/>
                </a:solidFill>
                <a:latin typeface="Times New Roman" panose="02020603050405020304" pitchFamily="18" charset="0"/>
                <a:cs typeface="Times New Roman" panose="02020603050405020304" pitchFamily="18" charset="0"/>
              </a:rPr>
              <a:t>lập</a:t>
            </a:r>
            <a:r>
              <a:rPr lang="en-US" sz="1400" b="1" dirty="0">
                <a:solidFill>
                  <a:prstClr val="black"/>
                </a:solidFill>
                <a:latin typeface="Times New Roman" panose="02020603050405020304" pitchFamily="18" charset="0"/>
                <a:cs typeface="Times New Roman" panose="02020603050405020304" pitchFamily="18" charset="0"/>
              </a:rPr>
              <a:t> </a:t>
            </a:r>
            <a:r>
              <a:rPr lang="en-US" sz="1400" b="1" dirty="0" err="1">
                <a:solidFill>
                  <a:prstClr val="black"/>
                </a:solidFill>
                <a:latin typeface="Times New Roman" panose="02020603050405020304" pitchFamily="18" charset="0"/>
                <a:cs typeface="Times New Roman" panose="02020603050405020304" pitchFamily="18" charset="0"/>
              </a:rPr>
              <a:t>chỉ</a:t>
            </a:r>
            <a:r>
              <a:rPr lang="en-US" sz="1400" b="1" dirty="0">
                <a:solidFill>
                  <a:prstClr val="black"/>
                </a:solidFill>
                <a:latin typeface="Times New Roman" panose="02020603050405020304" pitchFamily="18" charset="0"/>
                <a:cs typeface="Times New Roman" panose="02020603050405020304" pitchFamily="18" charset="0"/>
              </a:rPr>
              <a:t> </a:t>
            </a:r>
            <a:r>
              <a:rPr lang="en-US" sz="1400" b="1" dirty="0" err="1">
                <a:solidFill>
                  <a:prstClr val="black"/>
                </a:solidFill>
                <a:latin typeface="Times New Roman" panose="02020603050405020304" pitchFamily="18" charset="0"/>
                <a:cs typeface="Times New Roman" panose="02020603050405020304" pitchFamily="18" charset="0"/>
              </a:rPr>
              <a:t>giới</a:t>
            </a:r>
            <a:r>
              <a:rPr lang="en-US" sz="1400" b="1" dirty="0">
                <a:solidFill>
                  <a:prstClr val="black"/>
                </a:solidFill>
                <a:latin typeface="Times New Roman" panose="02020603050405020304" pitchFamily="18" charset="0"/>
                <a:cs typeface="Times New Roman" panose="02020603050405020304" pitchFamily="18" charset="0"/>
              </a:rPr>
              <a:t>, </a:t>
            </a:r>
            <a:r>
              <a:rPr lang="en-US" sz="1400" b="1" dirty="0" err="1">
                <a:solidFill>
                  <a:prstClr val="black"/>
                </a:solidFill>
                <a:latin typeface="Times New Roman" panose="02020603050405020304" pitchFamily="18" charset="0"/>
                <a:cs typeface="Times New Roman" panose="02020603050405020304" pitchFamily="18" charset="0"/>
              </a:rPr>
              <a:t>cấp</a:t>
            </a:r>
            <a:r>
              <a:rPr lang="en-US" sz="1400" b="1" dirty="0">
                <a:solidFill>
                  <a:prstClr val="black"/>
                </a:solidFill>
                <a:latin typeface="Times New Roman" panose="02020603050405020304" pitchFamily="18" charset="0"/>
                <a:cs typeface="Times New Roman" panose="02020603050405020304" pitchFamily="18" charset="0"/>
              </a:rPr>
              <a:t> </a:t>
            </a:r>
            <a:r>
              <a:rPr lang="en-US" sz="1400" b="1" dirty="0" err="1">
                <a:solidFill>
                  <a:prstClr val="black"/>
                </a:solidFill>
                <a:latin typeface="Times New Roman" panose="02020603050405020304" pitchFamily="18" charset="0"/>
                <a:cs typeface="Times New Roman" panose="02020603050405020304" pitchFamily="18" charset="0"/>
              </a:rPr>
              <a:t>số</a:t>
            </a:r>
            <a:r>
              <a:rPr lang="en-US" sz="1400" b="1" dirty="0">
                <a:solidFill>
                  <a:prstClr val="black"/>
                </a:solidFill>
                <a:latin typeface="Times New Roman" panose="02020603050405020304" pitchFamily="18" charset="0"/>
                <a:cs typeface="Times New Roman" panose="02020603050405020304" pitchFamily="18" charset="0"/>
              </a:rPr>
              <a:t> </a:t>
            </a:r>
            <a:r>
              <a:rPr lang="en-US" sz="1400" b="1" dirty="0" err="1">
                <a:solidFill>
                  <a:prstClr val="black"/>
                </a:solidFill>
                <a:latin typeface="Times New Roman" panose="02020603050405020304" pitchFamily="18" charset="0"/>
                <a:cs typeface="Times New Roman" panose="02020603050405020304" pitchFamily="18" charset="0"/>
              </a:rPr>
              <a:t>liệu</a:t>
            </a:r>
            <a:r>
              <a:rPr lang="en-US" sz="1400" b="1" dirty="0">
                <a:solidFill>
                  <a:prstClr val="black"/>
                </a:solidFill>
                <a:latin typeface="Times New Roman" panose="02020603050405020304" pitchFamily="18" charset="0"/>
                <a:cs typeface="Times New Roman" panose="02020603050405020304" pitchFamily="18" charset="0"/>
              </a:rPr>
              <a:t> HTKT, </a:t>
            </a:r>
            <a:r>
              <a:rPr lang="en-US" sz="1400" b="1" dirty="0" err="1">
                <a:solidFill>
                  <a:prstClr val="black"/>
                </a:solidFill>
                <a:latin typeface="Times New Roman" panose="02020603050405020304" pitchFamily="18" charset="0"/>
                <a:cs typeface="Times New Roman" panose="02020603050405020304" pitchFamily="18" charset="0"/>
              </a:rPr>
              <a:t>quy</a:t>
            </a:r>
            <a:r>
              <a:rPr lang="en-US" sz="1400" b="1" dirty="0">
                <a:solidFill>
                  <a:prstClr val="black"/>
                </a:solidFill>
                <a:latin typeface="Times New Roman" panose="02020603050405020304" pitchFamily="18" charset="0"/>
                <a:cs typeface="Times New Roman" panose="02020603050405020304" pitchFamily="18" charset="0"/>
              </a:rPr>
              <a:t> </a:t>
            </a:r>
            <a:r>
              <a:rPr lang="en-US" sz="1400" b="1" dirty="0" err="1">
                <a:solidFill>
                  <a:prstClr val="black"/>
                </a:solidFill>
                <a:latin typeface="Times New Roman" panose="02020603050405020304" pitchFamily="18" charset="0"/>
                <a:cs typeface="Times New Roman" panose="02020603050405020304" pitchFamily="18" charset="0"/>
              </a:rPr>
              <a:t>hoạch</a:t>
            </a:r>
            <a:r>
              <a:rPr lang="en-US" sz="1400" b="1" dirty="0">
                <a:solidFill>
                  <a:prstClr val="black"/>
                </a:solidFill>
                <a:latin typeface="Times New Roman" panose="02020603050405020304" pitchFamily="18" charset="0"/>
                <a:cs typeface="Times New Roman" panose="02020603050405020304" pitchFamily="18" charset="0"/>
              </a:rPr>
              <a:t> TMB, </a:t>
            </a:r>
            <a:r>
              <a:rPr lang="en-US" sz="1400" b="1" dirty="0" err="1">
                <a:solidFill>
                  <a:prstClr val="black"/>
                </a:solidFill>
                <a:latin typeface="Times New Roman" panose="02020603050405020304" pitchFamily="18" charset="0"/>
                <a:cs typeface="Times New Roman" panose="02020603050405020304" pitchFamily="18" charset="0"/>
              </a:rPr>
              <a:t>lập</a:t>
            </a:r>
            <a:r>
              <a:rPr lang="en-US" sz="1400" b="1" dirty="0">
                <a:solidFill>
                  <a:prstClr val="black"/>
                </a:solidFill>
                <a:latin typeface="Times New Roman" panose="02020603050405020304" pitchFamily="18" charset="0"/>
                <a:cs typeface="Times New Roman" panose="02020603050405020304" pitchFamily="18" charset="0"/>
              </a:rPr>
              <a:t> BCKTKT/BCNCKT</a:t>
            </a:r>
            <a:endPar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20" name="Arrow: Down 19">
            <a:extLst>
              <a:ext uri="{FF2B5EF4-FFF2-40B4-BE49-F238E27FC236}">
                <a16:creationId xmlns:a16="http://schemas.microsoft.com/office/drawing/2014/main" id="{288E6159-9245-295B-FD19-F46AD54C00FF}"/>
              </a:ext>
            </a:extLst>
          </p:cNvPr>
          <p:cNvSpPr/>
          <p:nvPr/>
        </p:nvSpPr>
        <p:spPr>
          <a:xfrm>
            <a:off x="3373374" y="2357468"/>
            <a:ext cx="240796" cy="46466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1" name="Arrow: Down 20">
            <a:extLst>
              <a:ext uri="{FF2B5EF4-FFF2-40B4-BE49-F238E27FC236}">
                <a16:creationId xmlns:a16="http://schemas.microsoft.com/office/drawing/2014/main" id="{8AE3024F-59C2-74DC-849F-F3AF5F2D30D3}"/>
              </a:ext>
            </a:extLst>
          </p:cNvPr>
          <p:cNvSpPr/>
          <p:nvPr/>
        </p:nvSpPr>
        <p:spPr>
          <a:xfrm>
            <a:off x="3373374" y="3407390"/>
            <a:ext cx="240796" cy="47556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Arrow: Down 22">
            <a:extLst>
              <a:ext uri="{FF2B5EF4-FFF2-40B4-BE49-F238E27FC236}">
                <a16:creationId xmlns:a16="http://schemas.microsoft.com/office/drawing/2014/main" id="{BB48A10D-B78C-9223-9286-8801F635B8AD}"/>
              </a:ext>
            </a:extLst>
          </p:cNvPr>
          <p:cNvSpPr/>
          <p:nvPr/>
        </p:nvSpPr>
        <p:spPr>
          <a:xfrm>
            <a:off x="3373374" y="4641135"/>
            <a:ext cx="240796" cy="43198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0">
            <a:extLst>
              <a:ext uri="{FF2B5EF4-FFF2-40B4-BE49-F238E27FC236}">
                <a16:creationId xmlns:a16="http://schemas.microsoft.com/office/drawing/2014/main" id="{06643C01-457A-D718-B648-320B4A512A8F}"/>
              </a:ext>
            </a:extLst>
          </p:cNvPr>
          <p:cNvSpPr>
            <a:spLocks noGrp="1"/>
          </p:cNvSpPr>
          <p:nvPr>
            <p:ph type="ctrTitle"/>
          </p:nvPr>
        </p:nvSpPr>
        <p:spPr>
          <a:xfrm>
            <a:off x="1956820" y="965321"/>
            <a:ext cx="3957828" cy="464664"/>
          </a:xfrm>
        </p:spPr>
        <p:txBody>
          <a:bodyPr>
            <a:noAutofit/>
          </a:bodyPr>
          <a:lstStyle/>
          <a:p>
            <a:pPr>
              <a:lnSpc>
                <a:spcPts val="1000"/>
              </a:lnSpc>
            </a:pPr>
            <a:r>
              <a:rPr lang="en-US" sz="2400" b="1" dirty="0">
                <a:latin typeface="Times New Roman" panose="02020603050405020304" pitchFamily="18" charset="0"/>
                <a:cs typeface="Times New Roman" panose="02020603050405020304" pitchFamily="18" charset="0"/>
              </a:rPr>
              <a:t>SƠ ĐỒ TỔNG QUÁT</a:t>
            </a:r>
          </a:p>
        </p:txBody>
      </p:sp>
      <p:sp>
        <p:nvSpPr>
          <p:cNvPr id="3" name="Rectangle 2">
            <a:extLst>
              <a:ext uri="{FF2B5EF4-FFF2-40B4-BE49-F238E27FC236}">
                <a16:creationId xmlns:a16="http://schemas.microsoft.com/office/drawing/2014/main" id="{565169B6-CD71-D1FD-57E9-F729816B04BC}"/>
              </a:ext>
            </a:extLst>
          </p:cNvPr>
          <p:cNvSpPr/>
          <p:nvPr/>
        </p:nvSpPr>
        <p:spPr>
          <a:xfrm>
            <a:off x="5623560" y="1765978"/>
            <a:ext cx="5788152" cy="42742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lvl="0">
              <a:lnSpc>
                <a:spcPts val="1500"/>
              </a:lnSpc>
              <a:defRPr/>
            </a:pPr>
            <a:r>
              <a:rPr lang="en-US" sz="1400" b="1" dirty="0" err="1">
                <a:solidFill>
                  <a:prstClr val="black"/>
                </a:solidFill>
                <a:latin typeface="Times New Roman" panose="02020603050405020304" pitchFamily="18" charset="0"/>
                <a:cs typeface="Times New Roman" panose="02020603050405020304" pitchFamily="18" charset="0"/>
              </a:rPr>
              <a:t>Lưu</a:t>
            </a:r>
            <a:r>
              <a:rPr lang="en-US" sz="1400" b="1" dirty="0">
                <a:solidFill>
                  <a:prstClr val="black"/>
                </a:solidFill>
                <a:latin typeface="Times New Roman" panose="02020603050405020304" pitchFamily="18" charset="0"/>
                <a:cs typeface="Times New Roman" panose="02020603050405020304" pitchFamily="18" charset="0"/>
              </a:rPr>
              <a:t> ý: Theo </a:t>
            </a:r>
            <a:r>
              <a:rPr lang="en-US" sz="1400" b="1" dirty="0" err="1">
                <a:solidFill>
                  <a:prstClr val="black"/>
                </a:solidFill>
                <a:latin typeface="Times New Roman" panose="02020603050405020304" pitchFamily="18" charset="0"/>
                <a:cs typeface="Times New Roman" panose="02020603050405020304" pitchFamily="18" charset="0"/>
              </a:rPr>
              <a:t>quy</a:t>
            </a:r>
            <a:r>
              <a:rPr lang="en-US" sz="1400" b="1" dirty="0">
                <a:solidFill>
                  <a:prstClr val="black"/>
                </a:solidFill>
                <a:latin typeface="Times New Roman" panose="02020603050405020304" pitchFamily="18" charset="0"/>
                <a:cs typeface="Times New Roman" panose="02020603050405020304" pitchFamily="18" charset="0"/>
              </a:rPr>
              <a:t> </a:t>
            </a:r>
            <a:r>
              <a:rPr lang="en-US" sz="1400" b="1" dirty="0" err="1">
                <a:solidFill>
                  <a:prstClr val="black"/>
                </a:solidFill>
                <a:latin typeface="Times New Roman" panose="02020603050405020304" pitchFamily="18" charset="0"/>
                <a:cs typeface="Times New Roman" panose="02020603050405020304" pitchFamily="18" charset="0"/>
              </a:rPr>
              <a:t>định</a:t>
            </a:r>
            <a:r>
              <a:rPr lang="en-US" sz="1400" b="1" dirty="0">
                <a:solidFill>
                  <a:prstClr val="black"/>
                </a:solidFill>
                <a:latin typeface="Times New Roman" panose="02020603050405020304" pitchFamily="18" charset="0"/>
                <a:cs typeface="Times New Roman" panose="02020603050405020304" pitchFamily="18" charset="0"/>
              </a:rPr>
              <a:t> </a:t>
            </a:r>
            <a:r>
              <a:rPr lang="en-US" sz="1400" b="1" dirty="0" err="1">
                <a:solidFill>
                  <a:prstClr val="black"/>
                </a:solidFill>
                <a:latin typeface="Times New Roman" panose="02020603050405020304" pitchFamily="18" charset="0"/>
                <a:cs typeface="Times New Roman" panose="02020603050405020304" pitchFamily="18" charset="0"/>
              </a:rPr>
              <a:t>tại</a:t>
            </a:r>
            <a:r>
              <a:rPr lang="en-US" sz="1400" b="1" dirty="0">
                <a:solidFill>
                  <a:prstClr val="black"/>
                </a:solidFill>
                <a:latin typeface="Times New Roman" panose="02020603050405020304" pitchFamily="18" charset="0"/>
                <a:cs typeface="Times New Roman" panose="02020603050405020304" pitchFamily="18" charset="0"/>
              </a:rPr>
              <a:t> </a:t>
            </a:r>
            <a:r>
              <a:rPr lang="en-US" sz="1400" b="1" dirty="0" err="1">
                <a:solidFill>
                  <a:prstClr val="black"/>
                </a:solidFill>
                <a:latin typeface="Times New Roman" panose="02020603050405020304" pitchFamily="18" charset="0"/>
                <a:cs typeface="Times New Roman" panose="02020603050405020304" pitchFamily="18" charset="0"/>
              </a:rPr>
              <a:t>Khoản</a:t>
            </a:r>
            <a:r>
              <a:rPr lang="en-US" sz="1400" b="1" dirty="0">
                <a:solidFill>
                  <a:prstClr val="black"/>
                </a:solidFill>
                <a:latin typeface="Times New Roman" panose="02020603050405020304" pitchFamily="18" charset="0"/>
                <a:cs typeface="Times New Roman" panose="02020603050405020304" pitchFamily="18" charset="0"/>
              </a:rPr>
              <a:t> 3, </a:t>
            </a:r>
            <a:r>
              <a:rPr lang="en-US" sz="1400" b="1" dirty="0" err="1">
                <a:solidFill>
                  <a:prstClr val="black"/>
                </a:solidFill>
                <a:latin typeface="Times New Roman" panose="02020603050405020304" pitchFamily="18" charset="0"/>
                <a:cs typeface="Times New Roman" panose="02020603050405020304" pitchFamily="18" charset="0"/>
              </a:rPr>
              <a:t>điều</a:t>
            </a:r>
            <a:r>
              <a:rPr lang="en-US" sz="1400" b="1" dirty="0">
                <a:solidFill>
                  <a:prstClr val="black"/>
                </a:solidFill>
                <a:latin typeface="Times New Roman" panose="02020603050405020304" pitchFamily="18" charset="0"/>
                <a:cs typeface="Times New Roman" panose="02020603050405020304" pitchFamily="18" charset="0"/>
              </a:rPr>
              <a:t> 5 </a:t>
            </a:r>
            <a:r>
              <a:rPr lang="en-US" sz="1400" b="1" dirty="0" err="1">
                <a:solidFill>
                  <a:prstClr val="black"/>
                </a:solidFill>
                <a:latin typeface="Times New Roman" panose="02020603050405020304" pitchFamily="18" charset="0"/>
                <a:cs typeface="Times New Roman" panose="02020603050405020304" pitchFamily="18" charset="0"/>
              </a:rPr>
              <a:t>nghị</a:t>
            </a:r>
            <a:r>
              <a:rPr lang="en-US" sz="1400" b="1" dirty="0">
                <a:solidFill>
                  <a:prstClr val="black"/>
                </a:solidFill>
                <a:latin typeface="Times New Roman" panose="02020603050405020304" pitchFamily="18" charset="0"/>
                <a:cs typeface="Times New Roman" panose="02020603050405020304" pitchFamily="18" charset="0"/>
              </a:rPr>
              <a:t> </a:t>
            </a:r>
            <a:r>
              <a:rPr lang="en-US" sz="1400" b="1" dirty="0" err="1">
                <a:solidFill>
                  <a:prstClr val="black"/>
                </a:solidFill>
                <a:latin typeface="Times New Roman" panose="02020603050405020304" pitchFamily="18" charset="0"/>
                <a:cs typeface="Times New Roman" panose="02020603050405020304" pitchFamily="18" charset="0"/>
              </a:rPr>
              <a:t>định</a:t>
            </a:r>
            <a:r>
              <a:rPr lang="en-US" sz="1400" b="1" dirty="0">
                <a:solidFill>
                  <a:prstClr val="black"/>
                </a:solidFill>
                <a:latin typeface="Times New Roman" panose="02020603050405020304" pitchFamily="18" charset="0"/>
                <a:cs typeface="Times New Roman" panose="02020603050405020304" pitchFamily="18" charset="0"/>
              </a:rPr>
              <a:t> 175:</a:t>
            </a:r>
            <a:r>
              <a:rPr lang="vi-VN" sz="1400" b="0" i="0" u="none" strike="noStrike" dirty="0">
                <a:solidFill>
                  <a:srgbClr val="000000"/>
                </a:solidFill>
                <a:effectLst/>
                <a:latin typeface="Times New Roman" panose="02020603050405020304" pitchFamily="18" charset="0"/>
                <a:cs typeface="Times New Roman" panose="02020603050405020304" pitchFamily="18" charset="0"/>
              </a:rPr>
              <a:t> </a:t>
            </a:r>
            <a:r>
              <a:rPr lang="vi-VN" sz="1200" b="0" i="0" u="none" strike="noStrike" dirty="0">
                <a:solidFill>
                  <a:srgbClr val="000000"/>
                </a:solidFill>
                <a:effectLst/>
                <a:latin typeface="Times New Roman" panose="02020603050405020304" pitchFamily="18" charset="0"/>
                <a:cs typeface="Times New Roman" panose="02020603050405020304" pitchFamily="18" charset="0"/>
              </a:rPr>
              <a:t>Dự án đầu tư xây dựng công trình chỉ cần lập Báo cáo kinh tế - kỹ thuật đầu tư xây dựng, gồm:</a:t>
            </a:r>
            <a:br>
              <a:rPr lang="vi-VN" sz="1200" b="0" i="0" dirty="0">
                <a:solidFill>
                  <a:srgbClr val="000000"/>
                </a:solidFill>
                <a:effectLst/>
                <a:latin typeface="Times New Roman" panose="02020603050405020304" pitchFamily="18" charset="0"/>
                <a:cs typeface="Times New Roman" panose="02020603050405020304" pitchFamily="18" charset="0"/>
              </a:rPr>
            </a:br>
            <a:r>
              <a:rPr lang="vi-VN" sz="1200" b="0" i="0" dirty="0">
                <a:solidFill>
                  <a:srgbClr val="000000"/>
                </a:solidFill>
                <a:effectLst/>
                <a:highlight>
                  <a:srgbClr val="FFFF00"/>
                </a:highlight>
                <a:latin typeface="Times New Roman" panose="02020603050405020304" pitchFamily="18" charset="0"/>
                <a:cs typeface="Times New Roman" panose="02020603050405020304" pitchFamily="18" charset="0"/>
              </a:rPr>
              <a:t>a) Dự án đầu tư xây dựng sử dụng cho mục đích tôn giáo;</a:t>
            </a:r>
            <a:br>
              <a:rPr lang="vi-VN" sz="1200" b="0" i="0" dirty="0">
                <a:solidFill>
                  <a:srgbClr val="000000"/>
                </a:solidFill>
                <a:effectLst/>
                <a:highlight>
                  <a:srgbClr val="FFFF00"/>
                </a:highlight>
                <a:latin typeface="Times New Roman" panose="02020603050405020304" pitchFamily="18" charset="0"/>
                <a:cs typeface="Times New Roman" panose="02020603050405020304" pitchFamily="18" charset="0"/>
              </a:rPr>
            </a:br>
            <a:r>
              <a:rPr lang="vi-VN" sz="1200" b="0" i="0" u="none" strike="noStrike" dirty="0">
                <a:solidFill>
                  <a:srgbClr val="000000"/>
                </a:solidFill>
                <a:effectLst/>
                <a:highlight>
                  <a:srgbClr val="FFFF00"/>
                </a:highlight>
                <a:latin typeface="Times New Roman" panose="02020603050405020304" pitchFamily="18" charset="0"/>
                <a:cs typeface="Times New Roman" panose="02020603050405020304" pitchFamily="18" charset="0"/>
              </a:rPr>
              <a:t>b) Dự án đầu tư xây dựng mới, cải tạo, nâng cấp có tổng mức đầu tư không quá 20 tỷ đồng (không bao gồm chi phí bồi thường, giải phóng mặt bằng, tiền sử dụng đất), trừ dự án đầu tư xây dựng công trình di sản văn hoá thực hiện theo pháp luật về di sản văn hoá;</a:t>
            </a:r>
            <a:br>
              <a:rPr lang="vi-VN" sz="1200" b="0" i="0" dirty="0">
                <a:solidFill>
                  <a:srgbClr val="000000"/>
                </a:solidFill>
                <a:effectLst/>
                <a:highlight>
                  <a:srgbClr val="FFFF00"/>
                </a:highlight>
                <a:latin typeface="Times New Roman" panose="02020603050405020304" pitchFamily="18" charset="0"/>
                <a:cs typeface="Times New Roman" panose="02020603050405020304" pitchFamily="18" charset="0"/>
              </a:rPr>
            </a:br>
            <a:r>
              <a:rPr lang="vi-VN" sz="1200" b="0" i="0" dirty="0">
                <a:solidFill>
                  <a:srgbClr val="000000"/>
                </a:solidFill>
                <a:effectLst/>
                <a:highlight>
                  <a:srgbClr val="FFFF00"/>
                </a:highlight>
                <a:latin typeface="Times New Roman" panose="02020603050405020304" pitchFamily="18" charset="0"/>
                <a:cs typeface="Times New Roman" panose="02020603050405020304" pitchFamily="18" charset="0"/>
              </a:rPr>
              <a:t>c) Dự án đầu tư xây dựng nhóm C nhằm mục đích bảo trì, duy tu, bảo dưỡng;</a:t>
            </a:r>
            <a:br>
              <a:rPr lang="vi-VN" sz="1200" b="0" i="0" dirty="0">
                <a:solidFill>
                  <a:srgbClr val="000000"/>
                </a:solidFill>
                <a:effectLst/>
                <a:highlight>
                  <a:srgbClr val="FFFF00"/>
                </a:highlight>
                <a:latin typeface="Times New Roman" panose="02020603050405020304" pitchFamily="18" charset="0"/>
                <a:cs typeface="Times New Roman" panose="02020603050405020304" pitchFamily="18" charset="0"/>
              </a:rPr>
            </a:br>
            <a:r>
              <a:rPr lang="vi-VN" sz="1200" b="0" i="0" dirty="0">
                <a:solidFill>
                  <a:srgbClr val="000000"/>
                </a:solidFill>
                <a:effectLst/>
                <a:latin typeface="Times New Roman" panose="02020603050405020304" pitchFamily="18" charset="0"/>
                <a:cs typeface="Times New Roman" panose="02020603050405020304" pitchFamily="18" charset="0"/>
              </a:rPr>
              <a:t>d) Dự án nạo vét, duy tu luồng hàng hải công cộng, đường thủy nội địa;</a:t>
            </a:r>
            <a:br>
              <a:rPr lang="vi-VN" sz="1200" b="0" i="0" dirty="0">
                <a:solidFill>
                  <a:srgbClr val="000000"/>
                </a:solidFill>
                <a:effectLst/>
                <a:latin typeface="Times New Roman" panose="02020603050405020304" pitchFamily="18" charset="0"/>
                <a:cs typeface="Times New Roman" panose="02020603050405020304" pitchFamily="18" charset="0"/>
              </a:rPr>
            </a:br>
            <a:r>
              <a:rPr lang="vi-VN" sz="1200" b="0" i="0" dirty="0">
                <a:solidFill>
                  <a:srgbClr val="000000"/>
                </a:solidFill>
                <a:effectLst/>
                <a:latin typeface="Times New Roman" panose="02020603050405020304" pitchFamily="18" charset="0"/>
                <a:cs typeface="Times New Roman" panose="02020603050405020304" pitchFamily="18" charset="0"/>
              </a:rPr>
              <a:t>đ) Dự án đầu tư xây dựng có nội dung chủ yếu là mua sắm hàng hóa, cung cấp dịch vụ, lắp đặt thiết bị hoặc dự án sửa chữa, cải tạo không ảnh hưởng đến an toàn chịu lực công trình có chi phí xây dựng (không bao gồm chi phí thiết bị) dưới 10% tổng mức đầu tư và không quá 10 tỷ đồng (trừ dự án quan trọng quốc gia, dự án nhóm A, dự án đầu tư theo phương thức đối tác công tư);</a:t>
            </a:r>
            <a:br>
              <a:rPr lang="vi-VN" sz="1200" b="0" i="0" dirty="0">
                <a:solidFill>
                  <a:srgbClr val="000000"/>
                </a:solidFill>
                <a:effectLst/>
                <a:latin typeface="Times New Roman" panose="02020603050405020304" pitchFamily="18" charset="0"/>
                <a:cs typeface="Times New Roman" panose="02020603050405020304" pitchFamily="18" charset="0"/>
              </a:rPr>
            </a:br>
            <a:r>
              <a:rPr lang="vi-VN" sz="1200" b="0" i="0" dirty="0">
                <a:solidFill>
                  <a:srgbClr val="000000"/>
                </a:solidFill>
                <a:effectLst/>
                <a:latin typeface="Times New Roman" panose="02020603050405020304" pitchFamily="18" charset="0"/>
                <a:cs typeface="Times New Roman" panose="02020603050405020304" pitchFamily="18" charset="0"/>
              </a:rPr>
              <a:t>e) Người quyết định đầu tư được quyết định việc lập Báo cáo nghiên cứu khả thi đầu tư xây dựng đối với các dự án quy định tại điểm a, b, c, d và đ khoản này khi dự án có yêu cầu đặc thù về kỹ thuật xây dựng hoặc thiết kế công nghệ cần lập thiết kế cơ sở; các dự án này không thuộc trường hợp phải thẩm định tại cơ quan chuyên môn về xây dựng. Người quyết định đầu tư có trách nhiệm tổ chức thẩm định Báo cáo nghiên cứu khả thi đầu tư xây dựng, chủ đầu tư có trách nhiệm tổ chức thẩm định thiết kế triển khai sau thiết kế cơ sở, đảm bảo các nội dung thẩm định tuân thủ theo quy định pháp luật.</a:t>
            </a:r>
            <a:endParaRPr kumimoji="0" lang="en-US" sz="1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5187172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27C7F-DFB1-7B1B-6E75-0642CB87DFC7}"/>
            </a:ext>
          </a:extLst>
        </p:cNvPr>
        <p:cNvGrpSpPr/>
        <p:nvPr/>
      </p:nvGrpSpPr>
      <p:grpSpPr>
        <a:xfrm>
          <a:off x="0" y="0"/>
          <a:ext cx="0" cy="0"/>
          <a:chOff x="0" y="0"/>
          <a:chExt cx="0" cy="0"/>
        </a:xfrm>
      </p:grpSpPr>
      <p:sp>
        <p:nvSpPr>
          <p:cNvPr id="7" name="Title 10">
            <a:extLst>
              <a:ext uri="{FF2B5EF4-FFF2-40B4-BE49-F238E27FC236}">
                <a16:creationId xmlns:a16="http://schemas.microsoft.com/office/drawing/2014/main" id="{292DE7C8-5D50-BE82-798C-5B293D236A5A}"/>
              </a:ext>
            </a:extLst>
          </p:cNvPr>
          <p:cNvSpPr txBox="1">
            <a:spLocks/>
          </p:cNvSpPr>
          <p:nvPr/>
        </p:nvSpPr>
        <p:spPr>
          <a:xfrm>
            <a:off x="4221479" y="274320"/>
            <a:ext cx="3749040" cy="43891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1000"/>
              </a:lnSpc>
            </a:pP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QUY TRÌNH CHI TIẾT</a:t>
            </a:r>
          </a:p>
        </p:txBody>
      </p:sp>
      <p:graphicFrame>
        <p:nvGraphicFramePr>
          <p:cNvPr id="2" name="Table 1">
            <a:extLst>
              <a:ext uri="{FF2B5EF4-FFF2-40B4-BE49-F238E27FC236}">
                <a16:creationId xmlns:a16="http://schemas.microsoft.com/office/drawing/2014/main" id="{4232563A-2B56-07B4-FDCB-6951721BE7E6}"/>
              </a:ext>
            </a:extLst>
          </p:cNvPr>
          <p:cNvGraphicFramePr>
            <a:graphicFrameLocks noGrp="1"/>
          </p:cNvGraphicFramePr>
          <p:nvPr>
            <p:extLst>
              <p:ext uri="{D42A27DB-BD31-4B8C-83A1-F6EECF244321}">
                <p14:modId xmlns:p14="http://schemas.microsoft.com/office/powerpoint/2010/main" val="1201374376"/>
              </p:ext>
            </p:extLst>
          </p:nvPr>
        </p:nvGraphicFramePr>
        <p:xfrm>
          <a:off x="682750" y="713232"/>
          <a:ext cx="10826497" cy="5819872"/>
        </p:xfrm>
        <a:graphic>
          <a:graphicData uri="http://schemas.openxmlformats.org/drawingml/2006/table">
            <a:tbl>
              <a:tblPr/>
              <a:tblGrid>
                <a:gridCol w="694944">
                  <a:extLst>
                    <a:ext uri="{9D8B030D-6E8A-4147-A177-3AD203B41FA5}">
                      <a16:colId xmlns:a16="http://schemas.microsoft.com/office/drawing/2014/main" val="2691283173"/>
                    </a:ext>
                  </a:extLst>
                </a:gridCol>
                <a:gridCol w="3236976">
                  <a:extLst>
                    <a:ext uri="{9D8B030D-6E8A-4147-A177-3AD203B41FA5}">
                      <a16:colId xmlns:a16="http://schemas.microsoft.com/office/drawing/2014/main" val="1517167007"/>
                    </a:ext>
                  </a:extLst>
                </a:gridCol>
                <a:gridCol w="3694176">
                  <a:extLst>
                    <a:ext uri="{9D8B030D-6E8A-4147-A177-3AD203B41FA5}">
                      <a16:colId xmlns:a16="http://schemas.microsoft.com/office/drawing/2014/main" val="4126313115"/>
                    </a:ext>
                  </a:extLst>
                </a:gridCol>
                <a:gridCol w="1618488">
                  <a:extLst>
                    <a:ext uri="{9D8B030D-6E8A-4147-A177-3AD203B41FA5}">
                      <a16:colId xmlns:a16="http://schemas.microsoft.com/office/drawing/2014/main" val="2054677306"/>
                    </a:ext>
                  </a:extLst>
                </a:gridCol>
                <a:gridCol w="1581913">
                  <a:extLst>
                    <a:ext uri="{9D8B030D-6E8A-4147-A177-3AD203B41FA5}">
                      <a16:colId xmlns:a16="http://schemas.microsoft.com/office/drawing/2014/main" val="1915565079"/>
                    </a:ext>
                  </a:extLst>
                </a:gridCol>
              </a:tblGrid>
              <a:tr h="91440">
                <a:tc>
                  <a:txBody>
                    <a:bodyPr/>
                    <a:lstStyle/>
                    <a:p>
                      <a:pPr algn="ctr" fontAlgn="ctr">
                        <a:buNone/>
                      </a:pPr>
                      <a:r>
                        <a:rPr lang="en-US" sz="1400" b="1" i="0" u="none" strike="noStrike" dirty="0" err="1">
                          <a:solidFill>
                            <a:srgbClr val="000000"/>
                          </a:solidFill>
                          <a:effectLst/>
                          <a:latin typeface="Times New Roman" panose="02020603050405020304" pitchFamily="18" charset="0"/>
                        </a:rPr>
                        <a:t>Stt</a:t>
                      </a:r>
                      <a:endParaRPr lang="en-US" sz="1400" b="1" i="0" u="none" strike="noStrike" dirty="0">
                        <a:solidFill>
                          <a:srgbClr val="000000"/>
                        </a:solidFill>
                        <a:effectLst/>
                        <a:latin typeface="Times New Roman" panose="02020603050405020304" pitchFamily="18" charset="0"/>
                      </a:endParaRPr>
                    </a:p>
                  </a:txBody>
                  <a:tcPr marL="3980" marR="3980" marT="3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1" i="0" u="none" strike="noStrike" dirty="0" err="1">
                          <a:solidFill>
                            <a:srgbClr val="000000"/>
                          </a:solidFill>
                          <a:effectLst/>
                          <a:latin typeface="Times New Roman" panose="02020603050405020304" pitchFamily="18" charset="0"/>
                        </a:rPr>
                        <a:t>Nội</a:t>
                      </a:r>
                      <a:r>
                        <a:rPr lang="en-US" sz="1400" b="1" i="0" u="none" strike="noStrike" dirty="0">
                          <a:solidFill>
                            <a:srgbClr val="000000"/>
                          </a:solidFill>
                          <a:effectLst/>
                          <a:latin typeface="Times New Roman" panose="02020603050405020304" pitchFamily="18" charset="0"/>
                        </a:rPr>
                        <a:t> dung</a:t>
                      </a:r>
                    </a:p>
                  </a:txBody>
                  <a:tcPr marL="3980" marR="3980" marT="3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vi-VN" sz="1400" b="1" i="0" u="none" strike="noStrike">
                          <a:solidFill>
                            <a:srgbClr val="000000"/>
                          </a:solidFill>
                          <a:effectLst/>
                          <a:latin typeface="Times New Roman" panose="02020603050405020304" pitchFamily="18" charset="0"/>
                        </a:rPr>
                        <a:t>Đơn vị thực hiện</a:t>
                      </a:r>
                    </a:p>
                  </a:txBody>
                  <a:tcPr marL="3980" marR="3980" marT="3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1" i="0" u="none" strike="noStrike">
                          <a:solidFill>
                            <a:srgbClr val="000000"/>
                          </a:solidFill>
                          <a:effectLst/>
                          <a:latin typeface="Times New Roman" panose="02020603050405020304" pitchFamily="18" charset="0"/>
                        </a:rPr>
                        <a:t>Điều, khoản áp dụng</a:t>
                      </a:r>
                    </a:p>
                  </a:txBody>
                  <a:tcPr marL="3980" marR="3980" marT="3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1" i="0" u="none" strike="noStrike">
                          <a:solidFill>
                            <a:srgbClr val="000000"/>
                          </a:solidFill>
                          <a:effectLst/>
                          <a:latin typeface="Times New Roman" panose="02020603050405020304" pitchFamily="18" charset="0"/>
                        </a:rPr>
                        <a:t>Biểu mẫu áp dụng</a:t>
                      </a:r>
                    </a:p>
                  </a:txBody>
                  <a:tcPr marL="3980" marR="3980" marT="3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2939734"/>
                  </a:ext>
                </a:extLst>
              </a:tr>
              <a:tr h="274134">
                <a:tc>
                  <a:txBody>
                    <a:bodyPr/>
                    <a:lstStyle/>
                    <a:p>
                      <a:pPr algn="ctr" fontAlgn="ctr">
                        <a:buNone/>
                      </a:pPr>
                      <a:r>
                        <a:rPr lang="vi-VN" sz="1400" b="1" i="0" u="none" strike="noStrike" dirty="0">
                          <a:solidFill>
                            <a:srgbClr val="000000"/>
                          </a:solidFill>
                          <a:effectLst/>
                          <a:latin typeface="Times New Roman" panose="02020603050405020304" pitchFamily="18" charset="0"/>
                        </a:rPr>
                        <a:t>Bước 1</a:t>
                      </a:r>
                    </a:p>
                  </a:txBody>
                  <a:tcPr marL="3980" marR="3980" marT="3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4">
                  <a:txBody>
                    <a:bodyPr/>
                    <a:lstStyle/>
                    <a:p>
                      <a:pPr algn="l" fontAlgn="ctr">
                        <a:buNone/>
                      </a:pPr>
                      <a:r>
                        <a:rPr lang="vi-VN" sz="1400" b="1" i="0" u="none" strike="noStrike" dirty="0">
                          <a:solidFill>
                            <a:srgbClr val="000000"/>
                          </a:solidFill>
                          <a:effectLst/>
                          <a:latin typeface="Times New Roman" panose="02020603050405020304" pitchFamily="18" charset="0"/>
                        </a:rPr>
                        <a:t>Lập, phê duyệt nhiệm vụ khảo sát</a:t>
                      </a:r>
                      <a:endParaRPr lang="vi-VN" sz="1400" b="1" i="0" u="none" strike="noStrike" dirty="0">
                        <a:solidFill>
                          <a:srgbClr val="FF0000"/>
                        </a:solidFill>
                        <a:effectLst/>
                        <a:latin typeface="Times New Roman" panose="02020603050405020304" pitchFamily="18" charset="0"/>
                      </a:endParaRPr>
                    </a:p>
                  </a:txBody>
                  <a:tcPr marL="3980" marR="3980" marT="3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a:p>
                  </a:txBody>
                  <a:tcPr marL="3980" marR="3980" marT="3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a:p>
                  </a:txBody>
                  <a:tcPr marL="3980" marR="3980" marT="3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dirty="0"/>
                    </a:p>
                  </a:txBody>
                  <a:tcPr marL="3980" marR="3980" marT="3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7315975"/>
                  </a:ext>
                </a:extLst>
              </a:tr>
              <a:tr h="299329">
                <a:tc>
                  <a:txBody>
                    <a:bodyPr/>
                    <a:lstStyle/>
                    <a:p>
                      <a:pPr algn="ctr" fontAlgn="ctr">
                        <a:buNone/>
                      </a:pPr>
                      <a:r>
                        <a:rPr lang="en-US" sz="1400" b="0" i="0" u="none" strike="noStrike">
                          <a:solidFill>
                            <a:srgbClr val="000000"/>
                          </a:solidFill>
                          <a:effectLst/>
                          <a:latin typeface="Times New Roman" panose="02020603050405020304" pitchFamily="18" charset="0"/>
                        </a:rPr>
                        <a:t>1</a:t>
                      </a:r>
                    </a:p>
                  </a:txBody>
                  <a:tcPr marL="3980" marR="3980" marT="3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400" b="0" i="0" u="none" strike="noStrike" dirty="0">
                          <a:solidFill>
                            <a:srgbClr val="000000"/>
                          </a:solidFill>
                          <a:effectLst/>
                          <a:latin typeface="Times New Roman" panose="02020603050405020304" pitchFamily="18" charset="0"/>
                        </a:rPr>
                        <a:t>Lập tờ trình thẩm định và phê duyệt dự toán chi phí tư vấn lập nhiệm vụ khảo sát</a:t>
                      </a:r>
                    </a:p>
                  </a:txBody>
                  <a:tcPr marL="3980" marR="3980" marT="3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ctr" fontAlgn="ctr">
                        <a:buNone/>
                      </a:pPr>
                      <a:r>
                        <a:rPr lang="vi-VN" sz="1400" b="0" i="0" u="none" strike="noStrike" dirty="0">
                          <a:solidFill>
                            <a:srgbClr val="000000"/>
                          </a:solidFill>
                          <a:effectLst/>
                          <a:latin typeface="Times New Roman" panose="02020603050405020304" pitchFamily="18" charset="0"/>
                        </a:rPr>
                        <a:t>CQ, tổ chức được giao nhiệm vụ CBDA hoặc CĐT</a:t>
                      </a:r>
                    </a:p>
                  </a:txBody>
                  <a:tcPr marL="3980" marR="3980" marT="3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ctr" fontAlgn="ctr">
                        <a:buNone/>
                      </a:pPr>
                      <a:r>
                        <a:rPr lang="en-US" sz="1400" b="0" i="0" u="none" strike="noStrike">
                          <a:solidFill>
                            <a:srgbClr val="000000"/>
                          </a:solidFill>
                          <a:effectLst/>
                          <a:latin typeface="Times New Roman" panose="02020603050405020304" pitchFamily="18" charset="0"/>
                        </a:rPr>
                        <a:t>K1, 2 Điều 10 NĐ</a:t>
                      </a:r>
                      <a:br>
                        <a:rPr lang="en-US" sz="1400" b="0" i="0" u="none" strike="noStrike">
                          <a:solidFill>
                            <a:srgbClr val="000000"/>
                          </a:solidFill>
                          <a:effectLst/>
                          <a:latin typeface="Times New Roman" panose="02020603050405020304" pitchFamily="18" charset="0"/>
                        </a:rPr>
                      </a:br>
                      <a:r>
                        <a:rPr lang="en-US" sz="1400" b="0" i="0" u="none" strike="noStrike">
                          <a:solidFill>
                            <a:srgbClr val="000000"/>
                          </a:solidFill>
                          <a:effectLst/>
                          <a:latin typeface="Times New Roman" panose="02020603050405020304" pitchFamily="18" charset="0"/>
                        </a:rPr>
                        <a:t>số 10</a:t>
                      </a:r>
                    </a:p>
                  </a:txBody>
                  <a:tcPr marL="3980" marR="3980" marT="3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400" b="0" i="0" u="none" strike="noStrike">
                          <a:solidFill>
                            <a:srgbClr val="000000"/>
                          </a:solidFill>
                          <a:effectLst/>
                          <a:latin typeface="Times New Roman" panose="02020603050405020304" pitchFamily="18" charset="0"/>
                        </a:rPr>
                        <a:t> </a:t>
                      </a:r>
                    </a:p>
                  </a:txBody>
                  <a:tcPr marL="3980" marR="3980" marT="3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60644932"/>
                  </a:ext>
                </a:extLst>
              </a:tr>
              <a:tr h="399105">
                <a:tc>
                  <a:txBody>
                    <a:bodyPr/>
                    <a:lstStyle/>
                    <a:p>
                      <a:pPr algn="ctr" fontAlgn="ctr">
                        <a:buNone/>
                      </a:pPr>
                      <a:r>
                        <a:rPr lang="en-US" sz="1400" b="0" i="0" u="none" strike="noStrike">
                          <a:solidFill>
                            <a:srgbClr val="000000"/>
                          </a:solidFill>
                          <a:effectLst/>
                          <a:latin typeface="Times New Roman" panose="02020603050405020304" pitchFamily="18" charset="0"/>
                        </a:rPr>
                        <a:t>2</a:t>
                      </a:r>
                    </a:p>
                  </a:txBody>
                  <a:tcPr marL="3980" marR="3980" marT="3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400" b="0" i="0" u="none" strike="noStrike" dirty="0">
                          <a:solidFill>
                            <a:srgbClr val="000000"/>
                          </a:solidFill>
                          <a:effectLst/>
                          <a:latin typeface="Times New Roman" panose="02020603050405020304" pitchFamily="18" charset="0"/>
                        </a:rPr>
                        <a:t>Thẩm định dự toán chi phí tư vấn lập nhiệm vụ khảo sát, nhiệm vụ quy hoạch</a:t>
                      </a:r>
                    </a:p>
                  </a:txBody>
                  <a:tcPr marL="3980" marR="3980" marT="3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US"/>
                    </a:p>
                  </a:txBody>
                  <a:tcPr/>
                </a:tc>
                <a:tc vMerge="1">
                  <a:txBody>
                    <a:bodyPr/>
                    <a:lstStyle/>
                    <a:p>
                      <a:endParaRPr lang="en-US"/>
                    </a:p>
                  </a:txBody>
                  <a:tcPr/>
                </a:tc>
                <a:tc>
                  <a:txBody>
                    <a:bodyPr/>
                    <a:lstStyle/>
                    <a:p>
                      <a:pPr algn="l" fontAlgn="ctr">
                        <a:buNone/>
                      </a:pPr>
                      <a:r>
                        <a:rPr lang="en-US" sz="1400" b="0" i="0" u="none" strike="noStrike">
                          <a:solidFill>
                            <a:srgbClr val="000000"/>
                          </a:solidFill>
                          <a:effectLst/>
                          <a:latin typeface="Times New Roman" panose="02020603050405020304" pitchFamily="18" charset="0"/>
                        </a:rPr>
                        <a:t> </a:t>
                      </a:r>
                    </a:p>
                  </a:txBody>
                  <a:tcPr marL="3980" marR="3980" marT="3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30542455"/>
                  </a:ext>
                </a:extLst>
              </a:tr>
              <a:tr h="299329">
                <a:tc>
                  <a:txBody>
                    <a:bodyPr/>
                    <a:lstStyle/>
                    <a:p>
                      <a:pPr algn="ctr" fontAlgn="ctr">
                        <a:buNone/>
                      </a:pPr>
                      <a:r>
                        <a:rPr lang="en-US" sz="1400" b="0" i="0" u="none" strike="noStrike">
                          <a:solidFill>
                            <a:srgbClr val="000000"/>
                          </a:solidFill>
                          <a:effectLst/>
                          <a:latin typeface="Times New Roman" panose="02020603050405020304" pitchFamily="18" charset="0"/>
                        </a:rPr>
                        <a:t>3</a:t>
                      </a:r>
                    </a:p>
                  </a:txBody>
                  <a:tcPr marL="3980" marR="3980" marT="3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400" b="0" i="0" u="none" strike="noStrike" dirty="0">
                          <a:solidFill>
                            <a:srgbClr val="000000"/>
                          </a:solidFill>
                          <a:effectLst/>
                          <a:latin typeface="Times New Roman" panose="02020603050405020304" pitchFamily="18" charset="0"/>
                        </a:rPr>
                        <a:t>Phê duyệt dự toán chi phí tư vấn lập nhiệm vụ khảo sát</a:t>
                      </a:r>
                    </a:p>
                  </a:txBody>
                  <a:tcPr marL="3980" marR="3980" marT="3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US"/>
                    </a:p>
                  </a:txBody>
                  <a:tcPr/>
                </a:tc>
                <a:tc vMerge="1">
                  <a:txBody>
                    <a:bodyPr/>
                    <a:lstStyle/>
                    <a:p>
                      <a:endParaRPr lang="en-US"/>
                    </a:p>
                  </a:txBody>
                  <a:tcPr/>
                </a:tc>
                <a:tc>
                  <a:txBody>
                    <a:bodyPr/>
                    <a:lstStyle/>
                    <a:p>
                      <a:pPr algn="l" fontAlgn="ctr">
                        <a:buNone/>
                      </a:pPr>
                      <a:r>
                        <a:rPr lang="en-US" sz="1400" b="0" i="0" u="none" strike="noStrike">
                          <a:solidFill>
                            <a:srgbClr val="000000"/>
                          </a:solidFill>
                          <a:effectLst/>
                          <a:latin typeface="Times New Roman" panose="02020603050405020304" pitchFamily="18" charset="0"/>
                        </a:rPr>
                        <a:t> </a:t>
                      </a:r>
                    </a:p>
                  </a:txBody>
                  <a:tcPr marL="3980" marR="3980" marT="3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06063152"/>
                  </a:ext>
                </a:extLst>
              </a:tr>
              <a:tr h="498881">
                <a:tc>
                  <a:txBody>
                    <a:bodyPr/>
                    <a:lstStyle/>
                    <a:p>
                      <a:pPr algn="ctr" fontAlgn="ctr">
                        <a:buNone/>
                      </a:pPr>
                      <a:r>
                        <a:rPr lang="en-US" sz="1400" b="0" i="0" u="none" strike="noStrike">
                          <a:solidFill>
                            <a:srgbClr val="000000"/>
                          </a:solidFill>
                          <a:effectLst/>
                          <a:latin typeface="Times New Roman" panose="02020603050405020304" pitchFamily="18" charset="0"/>
                        </a:rPr>
                        <a:t>4</a:t>
                      </a:r>
                    </a:p>
                  </a:txBody>
                  <a:tcPr marL="3980" marR="3980" marT="3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400" b="0" i="0" u="none" strike="noStrike">
                          <a:solidFill>
                            <a:srgbClr val="000000"/>
                          </a:solidFill>
                          <a:effectLst/>
                          <a:latin typeface="Times New Roman" panose="02020603050405020304" pitchFamily="18" charset="0"/>
                        </a:rPr>
                        <a:t>Lập tờ trình phê duyệt KHLCNT giai đoạn CBDA</a:t>
                      </a:r>
                    </a:p>
                  </a:txBody>
                  <a:tcPr marL="3980" marR="3980" marT="3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vi-VN" sz="1400" b="0" i="0" u="none" strike="noStrike" dirty="0">
                          <a:solidFill>
                            <a:srgbClr val="000000"/>
                          </a:solidFill>
                          <a:effectLst/>
                          <a:latin typeface="Times New Roman" panose="02020603050405020304" pitchFamily="18" charset="0"/>
                        </a:rPr>
                        <a:t>Sau khi dự án được bố trí vốn, Đơn vị thuộc CĐT (Đơn vị được giao nhiệm vụ CBDA trường hợp chưa xác định được CĐT)</a:t>
                      </a:r>
                    </a:p>
                  </a:txBody>
                  <a:tcPr marL="3980" marR="3980" marT="3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dirty="0">
                          <a:solidFill>
                            <a:srgbClr val="000000"/>
                          </a:solidFill>
                          <a:effectLst/>
                          <a:latin typeface="Times New Roman" panose="02020603050405020304" pitchFamily="18" charset="0"/>
                        </a:rPr>
                        <a:t>- Đ37; K1 Đ38; Đ39 </a:t>
                      </a:r>
                      <a:r>
                        <a:rPr lang="en-US" sz="1400" b="0" i="0" u="none" strike="noStrike" dirty="0" err="1">
                          <a:solidFill>
                            <a:srgbClr val="000000"/>
                          </a:solidFill>
                          <a:effectLst/>
                          <a:latin typeface="Times New Roman" panose="02020603050405020304" pitchFamily="18" charset="0"/>
                        </a:rPr>
                        <a:t>Luật</a:t>
                      </a:r>
                      <a:r>
                        <a:rPr lang="en-US" sz="1400" b="0" i="0" u="none" strike="noStrike" dirty="0">
                          <a:solidFill>
                            <a:srgbClr val="000000"/>
                          </a:solidFill>
                          <a:effectLst/>
                          <a:latin typeface="Times New Roman" panose="02020603050405020304" pitchFamily="18" charset="0"/>
                        </a:rPr>
                        <a:t> ĐT </a:t>
                      </a:r>
                      <a:r>
                        <a:rPr lang="en-US" sz="1400" b="0" i="0" u="none" strike="noStrike" dirty="0" err="1">
                          <a:solidFill>
                            <a:srgbClr val="000000"/>
                          </a:solidFill>
                          <a:effectLst/>
                          <a:latin typeface="Times New Roman" panose="02020603050405020304" pitchFamily="18" charset="0"/>
                        </a:rPr>
                        <a:t>năm</a:t>
                      </a:r>
                      <a:r>
                        <a:rPr lang="en-US" sz="1400" b="0" i="0" u="none" strike="noStrike" dirty="0">
                          <a:solidFill>
                            <a:srgbClr val="000000"/>
                          </a:solidFill>
                          <a:effectLst/>
                          <a:latin typeface="Times New Roman" panose="02020603050405020304" pitchFamily="18" charset="0"/>
                        </a:rPr>
                        <a:t> 2023;</a:t>
                      </a:r>
                      <a:br>
                        <a:rPr lang="en-US" sz="1400" b="0" i="0" u="none" strike="noStrike" dirty="0">
                          <a:solidFill>
                            <a:srgbClr val="000000"/>
                          </a:solidFill>
                          <a:effectLst/>
                          <a:latin typeface="Times New Roman" panose="02020603050405020304" pitchFamily="18" charset="0"/>
                        </a:rPr>
                      </a:br>
                      <a:r>
                        <a:rPr lang="en-US" sz="1400" b="0" i="0" u="none" strike="noStrike" dirty="0">
                          <a:solidFill>
                            <a:srgbClr val="000000"/>
                          </a:solidFill>
                          <a:effectLst/>
                          <a:latin typeface="Times New Roman" panose="02020603050405020304" pitchFamily="18" charset="0"/>
                        </a:rPr>
                        <a:t>- K2 Đ4 TT </a:t>
                      </a:r>
                      <a:r>
                        <a:rPr lang="en-US" sz="1400" b="0" i="0" u="none" strike="noStrike" dirty="0" err="1">
                          <a:solidFill>
                            <a:srgbClr val="000000"/>
                          </a:solidFill>
                          <a:effectLst/>
                          <a:latin typeface="Times New Roman" panose="02020603050405020304" pitchFamily="18" charset="0"/>
                        </a:rPr>
                        <a:t>số</a:t>
                      </a:r>
                      <a:r>
                        <a:rPr lang="en-US" sz="1400" b="0" i="0" u="none" strike="noStrike" dirty="0">
                          <a:solidFill>
                            <a:srgbClr val="000000"/>
                          </a:solidFill>
                          <a:effectLst/>
                          <a:latin typeface="Times New Roman" panose="02020603050405020304" pitchFamily="18" charset="0"/>
                        </a:rPr>
                        <a:t> 79</a:t>
                      </a:r>
                    </a:p>
                  </a:txBody>
                  <a:tcPr marL="3980" marR="3980" marT="3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dirty="0" err="1">
                          <a:solidFill>
                            <a:srgbClr val="000000"/>
                          </a:solidFill>
                          <a:effectLst/>
                          <a:latin typeface="Times New Roman" panose="02020603050405020304" pitchFamily="18" charset="0"/>
                        </a:rPr>
                        <a:t>Mẫu</a:t>
                      </a:r>
                      <a:r>
                        <a:rPr lang="en-US" sz="1400" b="0" i="0" u="none" strike="noStrike" dirty="0">
                          <a:solidFill>
                            <a:srgbClr val="000000"/>
                          </a:solidFill>
                          <a:effectLst/>
                          <a:latin typeface="Times New Roman" panose="02020603050405020304" pitchFamily="18" charset="0"/>
                        </a:rPr>
                        <a:t> 02A TT79</a:t>
                      </a:r>
                    </a:p>
                  </a:txBody>
                  <a:tcPr marL="3980" marR="3980" marT="3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76854912"/>
                  </a:ext>
                </a:extLst>
              </a:tr>
              <a:tr h="299329">
                <a:tc>
                  <a:txBody>
                    <a:bodyPr/>
                    <a:lstStyle/>
                    <a:p>
                      <a:pPr algn="ctr" fontAlgn="ctr">
                        <a:buNone/>
                      </a:pPr>
                      <a:r>
                        <a:rPr lang="en-US" sz="1400" b="0" i="0" u="none" strike="noStrike" dirty="0">
                          <a:solidFill>
                            <a:srgbClr val="000000"/>
                          </a:solidFill>
                          <a:effectLst/>
                          <a:latin typeface="Times New Roman" panose="02020603050405020304" pitchFamily="18" charset="0"/>
                        </a:rPr>
                        <a:t>5</a:t>
                      </a:r>
                    </a:p>
                  </a:txBody>
                  <a:tcPr marL="3980" marR="3980" marT="3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400" b="0" i="0" u="none" strike="noStrike">
                          <a:solidFill>
                            <a:srgbClr val="000000"/>
                          </a:solidFill>
                          <a:effectLst/>
                          <a:latin typeface="Times New Roman" panose="02020603050405020304" pitchFamily="18" charset="0"/>
                        </a:rPr>
                        <a:t>Phê duyệt KHLCNT giai đoạn CBDA</a:t>
                      </a:r>
                    </a:p>
                  </a:txBody>
                  <a:tcPr marL="3980" marR="3980" marT="3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vi-VN" sz="1400" b="0" i="0" u="none" strike="noStrike" dirty="0">
                          <a:solidFill>
                            <a:srgbClr val="000000"/>
                          </a:solidFill>
                          <a:effectLst/>
                          <a:latin typeface="Times New Roman" panose="02020603050405020304" pitchFamily="18" charset="0"/>
                        </a:rPr>
                        <a:t>CĐT (hoặc người đứng đầu đơn vị được giao nhiệm vụ CBDA)</a:t>
                      </a:r>
                    </a:p>
                  </a:txBody>
                  <a:tcPr marL="3980" marR="3980" marT="3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a:solidFill>
                            <a:srgbClr val="000000"/>
                          </a:solidFill>
                          <a:effectLst/>
                          <a:latin typeface="Times New Roman" panose="02020603050405020304" pitchFamily="18" charset="0"/>
                        </a:rPr>
                        <a:t>- Đ39; K2 Đ40 LĐT năm 2023;</a:t>
                      </a:r>
                      <a:br>
                        <a:rPr lang="en-US" sz="1400" b="0" i="0" u="none" strike="noStrike">
                          <a:solidFill>
                            <a:srgbClr val="000000"/>
                          </a:solidFill>
                          <a:effectLst/>
                          <a:latin typeface="Times New Roman" panose="02020603050405020304" pitchFamily="18" charset="0"/>
                        </a:rPr>
                      </a:br>
                      <a:r>
                        <a:rPr lang="en-US" sz="1400" b="0" i="0" u="none" strike="noStrike">
                          <a:solidFill>
                            <a:srgbClr val="000000"/>
                          </a:solidFill>
                          <a:effectLst/>
                          <a:latin typeface="Times New Roman" panose="02020603050405020304" pitchFamily="18" charset="0"/>
                        </a:rPr>
                        <a:t>- K2 Đ4 TT số 79</a:t>
                      </a:r>
                    </a:p>
                  </a:txBody>
                  <a:tcPr marL="3980" marR="3980" marT="3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dirty="0" err="1">
                          <a:solidFill>
                            <a:srgbClr val="000000"/>
                          </a:solidFill>
                          <a:effectLst/>
                          <a:latin typeface="Times New Roman" panose="02020603050405020304" pitchFamily="18" charset="0"/>
                        </a:rPr>
                        <a:t>Mẫu</a:t>
                      </a:r>
                      <a:r>
                        <a:rPr lang="en-US" sz="1400" b="0" i="0" u="none" strike="noStrike" dirty="0">
                          <a:solidFill>
                            <a:srgbClr val="000000"/>
                          </a:solidFill>
                          <a:effectLst/>
                          <a:latin typeface="Times New Roman" panose="02020603050405020304" pitchFamily="18" charset="0"/>
                        </a:rPr>
                        <a:t> 02B TT79</a:t>
                      </a:r>
                    </a:p>
                  </a:txBody>
                  <a:tcPr marL="3980" marR="3980" marT="3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95771090"/>
                  </a:ext>
                </a:extLst>
              </a:tr>
              <a:tr h="598658">
                <a:tc>
                  <a:txBody>
                    <a:bodyPr/>
                    <a:lstStyle/>
                    <a:p>
                      <a:pPr algn="ctr" fontAlgn="ctr">
                        <a:buNone/>
                      </a:pPr>
                      <a:r>
                        <a:rPr lang="en-US" sz="1400" b="0" i="0" u="none" strike="noStrike">
                          <a:solidFill>
                            <a:srgbClr val="000000"/>
                          </a:solidFill>
                          <a:effectLst/>
                          <a:latin typeface="Times New Roman" panose="02020603050405020304" pitchFamily="18" charset="0"/>
                        </a:rPr>
                        <a:t>6</a:t>
                      </a:r>
                    </a:p>
                  </a:txBody>
                  <a:tcPr marL="3980" marR="3980" marT="3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400" b="0" i="0" u="none" strike="noStrike">
                          <a:solidFill>
                            <a:srgbClr val="000000"/>
                          </a:solidFill>
                          <a:effectLst/>
                          <a:latin typeface="Times New Roman" panose="02020603050405020304" pitchFamily="18" charset="0"/>
                        </a:rPr>
                        <a:t>Đăng tải quyết định phê duyệt KH LCNT</a:t>
                      </a:r>
                      <a:br>
                        <a:rPr lang="vi-VN" sz="1400" b="0" i="0" u="none" strike="noStrike">
                          <a:solidFill>
                            <a:srgbClr val="000000"/>
                          </a:solidFill>
                          <a:effectLst/>
                          <a:latin typeface="Times New Roman" panose="02020603050405020304" pitchFamily="18" charset="0"/>
                        </a:rPr>
                      </a:br>
                      <a:r>
                        <a:rPr lang="vi-VN" sz="1400" b="0" i="1" u="none" strike="noStrike">
                          <a:solidFill>
                            <a:srgbClr val="000000"/>
                          </a:solidFill>
                          <a:effectLst/>
                          <a:latin typeface="Times New Roman" panose="02020603050405020304" pitchFamily="18" charset="0"/>
                        </a:rPr>
                        <a:t>* Lưu ý: Thời gian đăng tải lên Hệ thống mạng ĐTQG không muộn hơn 05 ngày l/v, kể từ ngày VB được ban hành.</a:t>
                      </a:r>
                      <a:endParaRPr lang="vi-VN" sz="1400" b="0" i="0" u="none" strike="noStrike">
                        <a:solidFill>
                          <a:srgbClr val="000000"/>
                        </a:solidFill>
                        <a:effectLst/>
                        <a:latin typeface="Times New Roman" panose="02020603050405020304" pitchFamily="18" charset="0"/>
                      </a:endParaRPr>
                    </a:p>
                  </a:txBody>
                  <a:tcPr marL="3980" marR="3980" marT="3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dirty="0">
                          <a:solidFill>
                            <a:srgbClr val="000000"/>
                          </a:solidFill>
                          <a:effectLst/>
                          <a:latin typeface="Times New Roman" panose="02020603050405020304" pitchFamily="18" charset="0"/>
                        </a:rPr>
                        <a:t>CĐT</a:t>
                      </a:r>
                    </a:p>
                  </a:txBody>
                  <a:tcPr marL="3980" marR="3980" marT="3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a:solidFill>
                            <a:srgbClr val="000000"/>
                          </a:solidFill>
                          <a:effectLst/>
                          <a:latin typeface="Times New Roman" panose="02020603050405020304" pitchFamily="18" charset="0"/>
                        </a:rPr>
                        <a:t>Điểm a, K1; K4 Đ8 LĐT năm 2023</a:t>
                      </a:r>
                    </a:p>
                  </a:txBody>
                  <a:tcPr marL="3980" marR="3980" marT="3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dirty="0">
                          <a:solidFill>
                            <a:srgbClr val="000000"/>
                          </a:solidFill>
                          <a:effectLst/>
                          <a:latin typeface="Times New Roman" panose="02020603050405020304" pitchFamily="18" charset="0"/>
                        </a:rPr>
                        <a:t> </a:t>
                      </a:r>
                    </a:p>
                  </a:txBody>
                  <a:tcPr marL="3980" marR="3980" marT="3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70926892"/>
                  </a:ext>
                </a:extLst>
              </a:tr>
              <a:tr h="199552">
                <a:tc>
                  <a:txBody>
                    <a:bodyPr/>
                    <a:lstStyle/>
                    <a:p>
                      <a:pPr algn="ctr" fontAlgn="ctr">
                        <a:buNone/>
                      </a:pPr>
                      <a:r>
                        <a:rPr lang="en-US" sz="1400" b="0" i="0" u="none" strike="noStrike">
                          <a:solidFill>
                            <a:srgbClr val="000000"/>
                          </a:solidFill>
                          <a:effectLst/>
                          <a:latin typeface="Times New Roman" panose="02020603050405020304" pitchFamily="18" charset="0"/>
                        </a:rPr>
                        <a:t>7</a:t>
                      </a:r>
                    </a:p>
                  </a:txBody>
                  <a:tcPr marL="3980" marR="3980" marT="3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400" b="0" i="0" u="none" strike="noStrike">
                          <a:solidFill>
                            <a:srgbClr val="000000"/>
                          </a:solidFill>
                          <a:effectLst/>
                          <a:latin typeface="Times New Roman" panose="02020603050405020304" pitchFamily="18" charset="0"/>
                        </a:rPr>
                        <a:t>Tổ chức lựa chọn đơn vị tư vấn lập nhiệm vụ khảo sát</a:t>
                      </a:r>
                    </a:p>
                  </a:txBody>
                  <a:tcPr marL="3980" marR="3980" marT="3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dirty="0">
                          <a:solidFill>
                            <a:srgbClr val="000000"/>
                          </a:solidFill>
                          <a:effectLst/>
                          <a:latin typeface="Times New Roman" panose="02020603050405020304" pitchFamily="18" charset="0"/>
                        </a:rPr>
                        <a:t> </a:t>
                      </a:r>
                    </a:p>
                  </a:txBody>
                  <a:tcPr marL="3980" marR="3980" marT="3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a:solidFill>
                            <a:srgbClr val="000000"/>
                          </a:solidFill>
                          <a:effectLst/>
                          <a:latin typeface="Times New Roman" panose="02020603050405020304" pitchFamily="18" charset="0"/>
                        </a:rPr>
                        <a:t> </a:t>
                      </a:r>
                    </a:p>
                  </a:txBody>
                  <a:tcPr marL="3980" marR="3980" marT="3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dirty="0">
                          <a:solidFill>
                            <a:srgbClr val="000000"/>
                          </a:solidFill>
                          <a:effectLst/>
                          <a:latin typeface="Times New Roman" panose="02020603050405020304" pitchFamily="18" charset="0"/>
                        </a:rPr>
                        <a:t> </a:t>
                      </a:r>
                    </a:p>
                  </a:txBody>
                  <a:tcPr marL="3980" marR="3980" marT="3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42242740"/>
                  </a:ext>
                </a:extLst>
              </a:tr>
              <a:tr h="99776">
                <a:tc>
                  <a:txBody>
                    <a:bodyPr/>
                    <a:lstStyle/>
                    <a:p>
                      <a:pPr algn="ctr" fontAlgn="ctr">
                        <a:buNone/>
                      </a:pPr>
                      <a:r>
                        <a:rPr lang="en-US" sz="1400" b="0" i="0" u="none" strike="noStrike">
                          <a:solidFill>
                            <a:srgbClr val="000000"/>
                          </a:solidFill>
                          <a:effectLst/>
                          <a:latin typeface="Times New Roman" panose="02020603050405020304" pitchFamily="18" charset="0"/>
                        </a:rPr>
                        <a:t>8</a:t>
                      </a:r>
                    </a:p>
                  </a:txBody>
                  <a:tcPr marL="3980" marR="3980" marT="3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400" b="0" i="0" u="none" strike="noStrike">
                          <a:solidFill>
                            <a:srgbClr val="000000"/>
                          </a:solidFill>
                          <a:effectLst/>
                          <a:latin typeface="Times New Roman" panose="02020603050405020304" pitchFamily="18" charset="0"/>
                        </a:rPr>
                        <a:t>Phê duyệt nhiệm vụ khảo sát</a:t>
                      </a:r>
                    </a:p>
                  </a:txBody>
                  <a:tcPr marL="3980" marR="3980" marT="3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a:solidFill>
                            <a:srgbClr val="000000"/>
                          </a:solidFill>
                          <a:effectLst/>
                          <a:latin typeface="Times New Roman" panose="02020603050405020304" pitchFamily="18" charset="0"/>
                        </a:rPr>
                        <a:t> </a:t>
                      </a:r>
                    </a:p>
                  </a:txBody>
                  <a:tcPr marL="3980" marR="3980" marT="3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dirty="0">
                          <a:solidFill>
                            <a:srgbClr val="000000"/>
                          </a:solidFill>
                          <a:effectLst/>
                          <a:latin typeface="Times New Roman" panose="02020603050405020304" pitchFamily="18" charset="0"/>
                        </a:rPr>
                        <a:t> </a:t>
                      </a:r>
                    </a:p>
                  </a:txBody>
                  <a:tcPr marL="3980" marR="3980" marT="3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a:solidFill>
                            <a:srgbClr val="000000"/>
                          </a:solidFill>
                          <a:effectLst/>
                          <a:latin typeface="Times New Roman" panose="02020603050405020304" pitchFamily="18" charset="0"/>
                        </a:rPr>
                        <a:t> </a:t>
                      </a:r>
                    </a:p>
                  </a:txBody>
                  <a:tcPr marL="3980" marR="3980" marT="3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3983019"/>
                  </a:ext>
                </a:extLst>
              </a:tr>
              <a:tr h="538829">
                <a:tc>
                  <a:txBody>
                    <a:bodyPr/>
                    <a:lstStyle/>
                    <a:p>
                      <a:pPr algn="ctr" fontAlgn="ctr">
                        <a:buNone/>
                      </a:pPr>
                      <a:r>
                        <a:rPr lang="en-US" sz="1400" b="0" i="0" u="none" strike="noStrike">
                          <a:solidFill>
                            <a:srgbClr val="000000"/>
                          </a:solidFill>
                          <a:effectLst/>
                          <a:latin typeface="Times New Roman" panose="02020603050405020304" pitchFamily="18" charset="0"/>
                        </a:rPr>
                        <a:t>9</a:t>
                      </a:r>
                    </a:p>
                  </a:txBody>
                  <a:tcPr marL="3980" marR="3980" marT="3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400" b="0" i="0" u="none" strike="noStrike" dirty="0" err="1">
                          <a:solidFill>
                            <a:srgbClr val="000000"/>
                          </a:solidFill>
                          <a:effectLst/>
                          <a:latin typeface="Times New Roman" panose="02020603050405020304" pitchFamily="18" charset="0"/>
                        </a:rPr>
                        <a:t>Lập</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thiết</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kế</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kỹ</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thuật-dự</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toán</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đo</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đạc</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lập</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bản</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đồ</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hiện</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trạng</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tỷ</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lệ</a:t>
                      </a:r>
                      <a:r>
                        <a:rPr lang="en-US" sz="1400" b="0" i="0" u="none" strike="noStrike" dirty="0">
                          <a:solidFill>
                            <a:srgbClr val="000000"/>
                          </a:solidFill>
                          <a:effectLst/>
                          <a:latin typeface="Times New Roman" panose="02020603050405020304" pitchFamily="18" charset="0"/>
                        </a:rPr>
                        <a:t> 1/500 (</a:t>
                      </a:r>
                      <a:r>
                        <a:rPr lang="en-US" sz="1400" b="0" i="0" u="none" strike="noStrike" dirty="0" err="1">
                          <a:solidFill>
                            <a:srgbClr val="000000"/>
                          </a:solidFill>
                          <a:effectLst/>
                          <a:latin typeface="Times New Roman" panose="02020603050405020304" pitchFamily="18" charset="0"/>
                        </a:rPr>
                        <a:t>nếu</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có</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để</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trình</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thẩm</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định</a:t>
                      </a:r>
                      <a:endParaRPr lang="en-US" sz="1400" b="0" i="0" u="none" strike="noStrike" dirty="0">
                        <a:solidFill>
                          <a:srgbClr val="000000"/>
                        </a:solidFill>
                        <a:effectLst/>
                        <a:latin typeface="Times New Roman" panose="02020603050405020304" pitchFamily="18" charset="0"/>
                      </a:endParaRPr>
                    </a:p>
                  </a:txBody>
                  <a:tcPr marL="3980" marR="3980" marT="3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vi-VN" sz="1400" b="0" i="0" u="none" strike="noStrike" dirty="0">
                          <a:solidFill>
                            <a:srgbClr val="000000"/>
                          </a:solidFill>
                          <a:effectLst/>
                          <a:latin typeface="Times New Roman" panose="02020603050405020304" pitchFamily="18" charset="0"/>
                        </a:rPr>
                        <a:t>Chủ đầu tư</a:t>
                      </a:r>
                      <a:r>
                        <a:rPr lang="en-US" sz="1400" b="0" i="0" u="none" strike="noStrike" dirty="0">
                          <a:solidFill>
                            <a:srgbClr val="000000"/>
                          </a:solidFill>
                          <a:effectLst/>
                          <a:latin typeface="Times New Roman" panose="02020603050405020304" pitchFamily="18" charset="0"/>
                        </a:rPr>
                        <a:t>,</a:t>
                      </a:r>
                      <a:r>
                        <a:rPr lang="vi-VN" sz="1400" b="0" i="0" u="none" strike="noStrike" dirty="0">
                          <a:solidFill>
                            <a:srgbClr val="000000"/>
                          </a:solidFill>
                          <a:effectLst/>
                          <a:latin typeface="Times New Roman" panose="02020603050405020304" pitchFamily="18" charset="0"/>
                        </a:rPr>
                        <a:t> đơn vị tư vấn có đủ điều kiện và năng lực được Cục Đo đạc, Bản đồ và Thông tin địa lý Việt Nam cấp giấy phé</a:t>
                      </a:r>
                      <a:r>
                        <a:rPr lang="en-US" sz="1400" b="0" i="0" u="none" strike="noStrike" dirty="0">
                          <a:solidFill>
                            <a:srgbClr val="000000"/>
                          </a:solidFill>
                          <a:effectLst/>
                          <a:latin typeface="Times New Roman" panose="02020603050405020304" pitchFamily="18" charset="0"/>
                        </a:rPr>
                        <a:t>P</a:t>
                      </a:r>
                      <a:endParaRPr lang="vi-VN" sz="1400" b="0" i="0" u="none" strike="noStrike" dirty="0">
                        <a:solidFill>
                          <a:srgbClr val="000000"/>
                        </a:solidFill>
                        <a:effectLst/>
                        <a:latin typeface="Times New Roman" panose="02020603050405020304" pitchFamily="18" charset="0"/>
                      </a:endParaRPr>
                    </a:p>
                  </a:txBody>
                  <a:tcPr marL="3980" marR="3980" marT="3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dirty="0">
                          <a:solidFill>
                            <a:srgbClr val="000000"/>
                          </a:solidFill>
                          <a:effectLst/>
                          <a:latin typeface="Times New Roman" panose="02020603050405020304" pitchFamily="18" charset="0"/>
                        </a:rPr>
                        <a:t>Đ6 QĐ37</a:t>
                      </a:r>
                    </a:p>
                  </a:txBody>
                  <a:tcPr marL="3980" marR="3980" marT="3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dirty="0">
                          <a:solidFill>
                            <a:srgbClr val="000000"/>
                          </a:solidFill>
                          <a:effectLst/>
                          <a:latin typeface="Times New Roman" panose="02020603050405020304" pitchFamily="18" charset="0"/>
                        </a:rPr>
                        <a:t> </a:t>
                      </a:r>
                    </a:p>
                  </a:txBody>
                  <a:tcPr marL="3980" marR="3980" marT="3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28252297"/>
                  </a:ext>
                </a:extLst>
              </a:tr>
              <a:tr h="598658">
                <a:tc>
                  <a:txBody>
                    <a:bodyPr/>
                    <a:lstStyle/>
                    <a:p>
                      <a:pPr algn="ctr" fontAlgn="ctr">
                        <a:buNone/>
                      </a:pPr>
                      <a:r>
                        <a:rPr lang="en-US" sz="1400" b="0" i="0" u="none" strike="noStrike">
                          <a:solidFill>
                            <a:srgbClr val="000000"/>
                          </a:solidFill>
                          <a:effectLst/>
                          <a:latin typeface="Times New Roman" panose="02020603050405020304" pitchFamily="18" charset="0"/>
                        </a:rPr>
                        <a:t>10</a:t>
                      </a:r>
                    </a:p>
                  </a:txBody>
                  <a:tcPr marL="3980" marR="3980" marT="3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400" b="0" i="0" u="none" strike="noStrike">
                          <a:solidFill>
                            <a:srgbClr val="000000"/>
                          </a:solidFill>
                          <a:effectLst/>
                          <a:latin typeface="Times New Roman" panose="02020603050405020304" pitchFamily="18" charset="0"/>
                        </a:rPr>
                        <a:t>Thẩm định thiết kế kỹ thuật-dự toán đo đạc lập bản đồ hiện trạng tỷ lệ 1/500 (nếu có)</a:t>
                      </a:r>
                    </a:p>
                  </a:txBody>
                  <a:tcPr marL="3980" marR="3980" marT="3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vi-VN" sz="1400" b="0" i="0" u="none" strike="noStrike" dirty="0">
                          <a:solidFill>
                            <a:srgbClr val="000000"/>
                          </a:solidFill>
                          <a:effectLst/>
                          <a:latin typeface="Times New Roman" panose="02020603050405020304" pitchFamily="18" charset="0"/>
                        </a:rPr>
                        <a:t>Sở Nông nghiệp và Môi trường</a:t>
                      </a:r>
                      <a:r>
                        <a:rPr lang="en-US" sz="1400" b="0" i="0" u="none" strike="noStrike" dirty="0">
                          <a:solidFill>
                            <a:srgbClr val="000000"/>
                          </a:solidFill>
                          <a:effectLst/>
                          <a:latin typeface="Times New Roman" panose="02020603050405020304" pitchFamily="18" charset="0"/>
                        </a:rPr>
                        <a:t>/</a:t>
                      </a:r>
                      <a:r>
                        <a:rPr lang="vi-VN" sz="1400" b="0" i="0" u="none" strike="noStrike" dirty="0">
                          <a:solidFill>
                            <a:srgbClr val="000000"/>
                          </a:solidFill>
                          <a:effectLst/>
                          <a:latin typeface="Times New Roman" panose="02020603050405020304" pitchFamily="18" charset="0"/>
                        </a:rPr>
                        <a:t>phòng Kinh tế, hạ tầng và Đô thị</a:t>
                      </a:r>
                    </a:p>
                  </a:txBody>
                  <a:tcPr marL="3980" marR="3980" marT="3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a:solidFill>
                            <a:srgbClr val="000000"/>
                          </a:solidFill>
                          <a:effectLst/>
                          <a:latin typeface="Times New Roman" panose="02020603050405020304" pitchFamily="18" charset="0"/>
                        </a:rPr>
                        <a:t>Đ7 QĐ37</a:t>
                      </a:r>
                    </a:p>
                  </a:txBody>
                  <a:tcPr marL="3980" marR="3980" marT="3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dirty="0">
                          <a:solidFill>
                            <a:srgbClr val="000000"/>
                          </a:solidFill>
                          <a:effectLst/>
                          <a:latin typeface="Times New Roman" panose="02020603050405020304" pitchFamily="18" charset="0"/>
                        </a:rPr>
                        <a:t> </a:t>
                      </a:r>
                    </a:p>
                  </a:txBody>
                  <a:tcPr marL="3980" marR="3980" marT="3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87957160"/>
                  </a:ext>
                </a:extLst>
              </a:tr>
            </a:tbl>
          </a:graphicData>
        </a:graphic>
      </p:graphicFrame>
    </p:spTree>
    <p:extLst>
      <p:ext uri="{BB962C8B-B14F-4D97-AF65-F5344CB8AC3E}">
        <p14:creationId xmlns:p14="http://schemas.microsoft.com/office/powerpoint/2010/main" val="22508937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3CEE2-1121-EDB4-9187-51D95DA08956}"/>
            </a:ext>
          </a:extLst>
        </p:cNvPr>
        <p:cNvGrpSpPr/>
        <p:nvPr/>
      </p:nvGrpSpPr>
      <p:grpSpPr>
        <a:xfrm>
          <a:off x="0" y="0"/>
          <a:ext cx="0" cy="0"/>
          <a:chOff x="0" y="0"/>
          <a:chExt cx="0" cy="0"/>
        </a:xfrm>
      </p:grpSpPr>
      <p:sp>
        <p:nvSpPr>
          <p:cNvPr id="7" name="Title 10">
            <a:extLst>
              <a:ext uri="{FF2B5EF4-FFF2-40B4-BE49-F238E27FC236}">
                <a16:creationId xmlns:a16="http://schemas.microsoft.com/office/drawing/2014/main" id="{E21E712C-6B0E-36B2-2E05-ABEFD4B8DDC7}"/>
              </a:ext>
            </a:extLst>
          </p:cNvPr>
          <p:cNvSpPr txBox="1">
            <a:spLocks/>
          </p:cNvSpPr>
          <p:nvPr/>
        </p:nvSpPr>
        <p:spPr>
          <a:xfrm>
            <a:off x="4221479" y="274320"/>
            <a:ext cx="3749040" cy="43891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1000"/>
              </a:lnSpc>
            </a:pP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QUY TRÌNH CHI TIẾT</a:t>
            </a:r>
          </a:p>
        </p:txBody>
      </p:sp>
      <p:graphicFrame>
        <p:nvGraphicFramePr>
          <p:cNvPr id="3" name="Table 2">
            <a:extLst>
              <a:ext uri="{FF2B5EF4-FFF2-40B4-BE49-F238E27FC236}">
                <a16:creationId xmlns:a16="http://schemas.microsoft.com/office/drawing/2014/main" id="{9B644DE1-DDCA-7A0C-ED99-24B41FFCABA2}"/>
              </a:ext>
            </a:extLst>
          </p:cNvPr>
          <p:cNvGraphicFramePr>
            <a:graphicFrameLocks noGrp="1"/>
          </p:cNvGraphicFramePr>
          <p:nvPr>
            <p:extLst>
              <p:ext uri="{D42A27DB-BD31-4B8C-83A1-F6EECF244321}">
                <p14:modId xmlns:p14="http://schemas.microsoft.com/office/powerpoint/2010/main" val="402986517"/>
              </p:ext>
            </p:extLst>
          </p:nvPr>
        </p:nvGraphicFramePr>
        <p:xfrm>
          <a:off x="1155699" y="1101312"/>
          <a:ext cx="9880600" cy="3914553"/>
        </p:xfrm>
        <a:graphic>
          <a:graphicData uri="http://schemas.openxmlformats.org/drawingml/2006/table">
            <a:tbl>
              <a:tblPr/>
              <a:tblGrid>
                <a:gridCol w="647700">
                  <a:extLst>
                    <a:ext uri="{9D8B030D-6E8A-4147-A177-3AD203B41FA5}">
                      <a16:colId xmlns:a16="http://schemas.microsoft.com/office/drawing/2014/main" val="3943938585"/>
                    </a:ext>
                  </a:extLst>
                </a:gridCol>
                <a:gridCol w="2921000">
                  <a:extLst>
                    <a:ext uri="{9D8B030D-6E8A-4147-A177-3AD203B41FA5}">
                      <a16:colId xmlns:a16="http://schemas.microsoft.com/office/drawing/2014/main" val="2590721613"/>
                    </a:ext>
                  </a:extLst>
                </a:gridCol>
                <a:gridCol w="2501900">
                  <a:extLst>
                    <a:ext uri="{9D8B030D-6E8A-4147-A177-3AD203B41FA5}">
                      <a16:colId xmlns:a16="http://schemas.microsoft.com/office/drawing/2014/main" val="533873073"/>
                    </a:ext>
                  </a:extLst>
                </a:gridCol>
                <a:gridCol w="1905000">
                  <a:extLst>
                    <a:ext uri="{9D8B030D-6E8A-4147-A177-3AD203B41FA5}">
                      <a16:colId xmlns:a16="http://schemas.microsoft.com/office/drawing/2014/main" val="3766360221"/>
                    </a:ext>
                  </a:extLst>
                </a:gridCol>
                <a:gridCol w="1905000">
                  <a:extLst>
                    <a:ext uri="{9D8B030D-6E8A-4147-A177-3AD203B41FA5}">
                      <a16:colId xmlns:a16="http://schemas.microsoft.com/office/drawing/2014/main" val="2125894200"/>
                    </a:ext>
                  </a:extLst>
                </a:gridCol>
              </a:tblGrid>
              <a:tr h="462312">
                <a:tc>
                  <a:txBody>
                    <a:bodyPr/>
                    <a:lstStyle/>
                    <a:p>
                      <a:pPr algn="l" fontAlgn="ctr">
                        <a:buNone/>
                      </a:pPr>
                      <a:r>
                        <a:rPr lang="vi-VN" sz="1400" b="1" i="0" u="none" strike="noStrike" dirty="0">
                          <a:solidFill>
                            <a:schemeClr val="tx1"/>
                          </a:solidFill>
                          <a:effectLst/>
                          <a:latin typeface="Times New Roman" panose="02020603050405020304" pitchFamily="18" charset="0"/>
                        </a:rPr>
                        <a:t>Bước 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4">
                  <a:txBody>
                    <a:bodyPr/>
                    <a:lstStyle/>
                    <a:p>
                      <a:pPr algn="l" fontAlgn="ctr">
                        <a:buNone/>
                      </a:pPr>
                      <a:r>
                        <a:rPr lang="en-US" sz="1400" b="1" i="0" u="none" strike="noStrike" dirty="0" err="1">
                          <a:solidFill>
                            <a:schemeClr val="tx1"/>
                          </a:solidFill>
                          <a:effectLst/>
                          <a:latin typeface="Times New Roman" panose="02020603050405020304" pitchFamily="18" charset="0"/>
                        </a:rPr>
                        <a:t>Phê</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duyệt</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bổ</a:t>
                      </a:r>
                      <a:r>
                        <a:rPr lang="en-US" sz="1400" b="1" i="0" u="none" strike="noStrike" dirty="0">
                          <a:solidFill>
                            <a:schemeClr val="tx1"/>
                          </a:solidFill>
                          <a:effectLst/>
                          <a:latin typeface="Times New Roman" panose="02020603050405020304" pitchFamily="18" charset="0"/>
                        </a:rPr>
                        <a:t> sung </a:t>
                      </a:r>
                      <a:r>
                        <a:rPr lang="en-US" sz="1400" b="1" i="0" u="none" strike="noStrike" dirty="0" err="1">
                          <a:solidFill>
                            <a:schemeClr val="tx1"/>
                          </a:solidFill>
                          <a:effectLst/>
                          <a:latin typeface="Times New Roman" panose="02020603050405020304" pitchFamily="18" charset="0"/>
                        </a:rPr>
                        <a:t>dự</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toán</a:t>
                      </a:r>
                      <a:r>
                        <a:rPr lang="en-US" sz="1400" b="1" i="0" u="none" strike="noStrike" dirty="0">
                          <a:solidFill>
                            <a:schemeClr val="tx1"/>
                          </a:solidFill>
                          <a:effectLst/>
                          <a:latin typeface="Times New Roman" panose="02020603050405020304" pitchFamily="18" charset="0"/>
                        </a:rPr>
                        <a:t> chi </a:t>
                      </a:r>
                      <a:r>
                        <a:rPr lang="en-US" sz="1400" b="1" i="0" u="none" strike="noStrike" dirty="0" err="1">
                          <a:solidFill>
                            <a:schemeClr val="tx1"/>
                          </a:solidFill>
                          <a:effectLst/>
                          <a:latin typeface="Times New Roman" panose="02020603050405020304" pitchFamily="18" charset="0"/>
                        </a:rPr>
                        <a:t>phí</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giai</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đoạn</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chuẩn</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bị</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dự</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án</a:t>
                      </a:r>
                      <a:endParaRPr lang="en-US" sz="1400" b="1" i="0" u="none" strike="noStrike" dirty="0">
                        <a:solidFill>
                          <a:schemeClr val="tx1"/>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dirty="0"/>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38973314"/>
                  </a:ext>
                </a:extLst>
              </a:tr>
              <a:tr h="356616">
                <a:tc>
                  <a:txBody>
                    <a:bodyPr/>
                    <a:lstStyle/>
                    <a:p>
                      <a:pPr algn="ctr" fontAlgn="ctr">
                        <a:buNone/>
                      </a:pPr>
                      <a:r>
                        <a:rPr lang="en-US" sz="1400" b="1" i="0" u="none" strike="noStrike">
                          <a:solidFill>
                            <a:srgbClr val="000000"/>
                          </a:solidFill>
                          <a:effectLst/>
                          <a:latin typeface="Times New Roman" panose="02020603050405020304" pitchFamily="18" charset="0"/>
                        </a:rPr>
                        <a:t>Stt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1" i="0" u="none" strike="noStrike" dirty="0" err="1">
                          <a:solidFill>
                            <a:srgbClr val="000000"/>
                          </a:solidFill>
                          <a:effectLst/>
                          <a:latin typeface="Times New Roman" panose="02020603050405020304" pitchFamily="18" charset="0"/>
                        </a:rPr>
                        <a:t>Nội</a:t>
                      </a:r>
                      <a:r>
                        <a:rPr lang="en-US" sz="1400" b="1" i="0" u="none" strike="noStrike" dirty="0">
                          <a:solidFill>
                            <a:srgbClr val="000000"/>
                          </a:solidFill>
                          <a:effectLst/>
                          <a:latin typeface="Times New Roman" panose="02020603050405020304" pitchFamily="18" charset="0"/>
                        </a:rPr>
                        <a:t> dung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vi-VN" sz="1400" b="1" i="0" u="none" strike="noStrike">
                          <a:solidFill>
                            <a:srgbClr val="000000"/>
                          </a:solidFill>
                          <a:effectLst/>
                          <a:latin typeface="Times New Roman" panose="02020603050405020304" pitchFamily="18" charset="0"/>
                        </a:rPr>
                        <a:t>Đơn vị thực hiện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1" i="0" u="none" strike="noStrike">
                          <a:solidFill>
                            <a:srgbClr val="000000"/>
                          </a:solidFill>
                          <a:effectLst/>
                          <a:latin typeface="Times New Roman" panose="02020603050405020304" pitchFamily="18" charset="0"/>
                        </a:rPr>
                        <a:t>Điều, khoản áp dụng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1" i="0" u="none" strike="noStrike">
                          <a:solidFill>
                            <a:srgbClr val="000000"/>
                          </a:solidFill>
                          <a:effectLst/>
                          <a:latin typeface="Times New Roman" panose="02020603050405020304" pitchFamily="18" charset="0"/>
                        </a:rPr>
                        <a:t>Biểu mẫu áp dụng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52996879"/>
                  </a:ext>
                </a:extLst>
              </a:tr>
              <a:tr h="714375">
                <a:tc>
                  <a:txBody>
                    <a:bodyPr/>
                    <a:lstStyle/>
                    <a:p>
                      <a:pPr algn="ctr" fontAlgn="ctr">
                        <a:buNone/>
                      </a:pPr>
                      <a:r>
                        <a:rPr lang="en-US" sz="1400" b="0" i="0" u="none" strike="noStrike">
                          <a:solidFill>
                            <a:srgbClr val="000000"/>
                          </a:solidFill>
                          <a:effectLst/>
                          <a:latin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400" b="0" i="0" u="none" strike="noStrike">
                          <a:solidFill>
                            <a:srgbClr val="000000"/>
                          </a:solidFill>
                          <a:effectLst/>
                          <a:latin typeface="Times New Roman" panose="02020603050405020304" pitchFamily="18" charset="0"/>
                        </a:rPr>
                        <a:t>Lập tờ trình thẩm định và phê duyệt bổ sung dự toán giai đoạn chuẩn bị dự án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ctr" fontAlgn="ctr">
                        <a:buNone/>
                      </a:pPr>
                      <a:r>
                        <a:rPr lang="vi-VN" sz="1400" b="0" i="0" u="none" strike="noStrike" dirty="0">
                          <a:solidFill>
                            <a:srgbClr val="000000"/>
                          </a:solidFill>
                          <a:effectLst/>
                          <a:latin typeface="Times New Roman" panose="02020603050405020304" pitchFamily="18" charset="0"/>
                        </a:rPr>
                        <a:t>CQ, tổ chức được giao nhiệm vụ CBDA hoặc CĐT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ctr" fontAlgn="ctr">
                        <a:buNone/>
                      </a:pPr>
                      <a:r>
                        <a:rPr lang="en-US" sz="1400" b="0" i="0" u="none" strike="noStrike">
                          <a:solidFill>
                            <a:srgbClr val="000000"/>
                          </a:solidFill>
                          <a:effectLst/>
                          <a:latin typeface="Times New Roman" panose="02020603050405020304" pitchFamily="18" charset="0"/>
                        </a:rPr>
                        <a:t>K1, 2 Điều 10 NĐ</a:t>
                      </a:r>
                      <a:br>
                        <a:rPr lang="en-US" sz="1400" b="0" i="0" u="none" strike="noStrike">
                          <a:solidFill>
                            <a:srgbClr val="000000"/>
                          </a:solidFill>
                          <a:effectLst/>
                          <a:latin typeface="Times New Roman" panose="02020603050405020304" pitchFamily="18" charset="0"/>
                        </a:rPr>
                      </a:br>
                      <a:r>
                        <a:rPr lang="en-US" sz="1400" b="0" i="0" u="none" strike="noStrike">
                          <a:solidFill>
                            <a:srgbClr val="000000"/>
                          </a:solidFill>
                          <a:effectLst/>
                          <a:latin typeface="Times New Roman" panose="02020603050405020304" pitchFamily="18" charset="0"/>
                        </a:rPr>
                        <a:t>số 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a:solidFill>
                            <a:srgbClr val="000000"/>
                          </a:solidFill>
                          <a:effectLst/>
                          <a:latin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94119306"/>
                  </a:ext>
                </a:extLst>
              </a:tr>
              <a:tr h="476250">
                <a:tc>
                  <a:txBody>
                    <a:bodyPr/>
                    <a:lstStyle/>
                    <a:p>
                      <a:pPr algn="ctr" fontAlgn="ctr">
                        <a:buNone/>
                      </a:pPr>
                      <a:r>
                        <a:rPr lang="en-US" sz="1400" b="0" i="0" u="none" strike="noStrike">
                          <a:solidFill>
                            <a:srgbClr val="000000"/>
                          </a:solidFill>
                          <a:effectLst/>
                          <a:latin typeface="Times New Roman" panose="02020603050405020304" pitchFamily="18" charset="0"/>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400" b="0" i="0" u="none" strike="noStrike" dirty="0" err="1">
                          <a:solidFill>
                            <a:srgbClr val="000000"/>
                          </a:solidFill>
                          <a:effectLst/>
                          <a:latin typeface="Times New Roman" panose="02020603050405020304" pitchFamily="18" charset="0"/>
                        </a:rPr>
                        <a:t>Thẩm</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định</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bổ</a:t>
                      </a:r>
                      <a:r>
                        <a:rPr lang="en-US" sz="1400" b="0" i="0" u="none" strike="noStrike" dirty="0">
                          <a:solidFill>
                            <a:srgbClr val="000000"/>
                          </a:solidFill>
                          <a:effectLst/>
                          <a:latin typeface="Times New Roman" panose="02020603050405020304" pitchFamily="18" charset="0"/>
                        </a:rPr>
                        <a:t> sung </a:t>
                      </a:r>
                      <a:r>
                        <a:rPr lang="en-US" sz="1400" b="0" i="0" u="none" strike="noStrike" dirty="0" err="1">
                          <a:solidFill>
                            <a:srgbClr val="000000"/>
                          </a:solidFill>
                          <a:effectLst/>
                          <a:latin typeface="Times New Roman" panose="02020603050405020304" pitchFamily="18" charset="0"/>
                        </a:rPr>
                        <a:t>dự</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toán</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giai</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đoạn</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chuẩn</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bị</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dự</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án</a:t>
                      </a:r>
                      <a:endParaRPr lang="en-US" sz="1400" b="0" i="0" u="none" strike="noStrike" dirty="0">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US"/>
                    </a:p>
                  </a:txBody>
                  <a:tcPr/>
                </a:tc>
                <a:tc vMerge="1">
                  <a:txBody>
                    <a:bodyPr/>
                    <a:lstStyle/>
                    <a:p>
                      <a:endParaRPr lang="en-US"/>
                    </a:p>
                  </a:txBody>
                  <a:tcPr/>
                </a:tc>
                <a:tc>
                  <a:txBody>
                    <a:bodyPr/>
                    <a:lstStyle/>
                    <a:p>
                      <a:pPr algn="ctr" fontAlgn="ctr">
                        <a:buNone/>
                      </a:pPr>
                      <a:r>
                        <a:rPr lang="en-US" sz="1400" b="0" i="0" u="none" strike="noStrike">
                          <a:solidFill>
                            <a:srgbClr val="000000"/>
                          </a:solidFill>
                          <a:effectLst/>
                          <a:latin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62902890"/>
                  </a:ext>
                </a:extLst>
              </a:tr>
              <a:tr h="476250">
                <a:tc>
                  <a:txBody>
                    <a:bodyPr/>
                    <a:lstStyle/>
                    <a:p>
                      <a:pPr algn="ctr" fontAlgn="ctr">
                        <a:buNone/>
                      </a:pPr>
                      <a:r>
                        <a:rPr lang="en-US" sz="1400" b="0" i="0" u="none" strike="noStrike">
                          <a:solidFill>
                            <a:srgbClr val="000000"/>
                          </a:solidFill>
                          <a:effectLst/>
                          <a:latin typeface="Times New Roman" panose="02020603050405020304" pitchFamily="18" charset="0"/>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400" b="0" i="0" u="none" strike="noStrike" dirty="0" err="1">
                          <a:solidFill>
                            <a:srgbClr val="000000"/>
                          </a:solidFill>
                          <a:effectLst/>
                          <a:latin typeface="Times New Roman" panose="02020603050405020304" pitchFamily="18" charset="0"/>
                        </a:rPr>
                        <a:t>Phê</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duyệt</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bổ</a:t>
                      </a:r>
                      <a:r>
                        <a:rPr lang="en-US" sz="1400" b="0" i="0" u="none" strike="noStrike" dirty="0">
                          <a:solidFill>
                            <a:srgbClr val="000000"/>
                          </a:solidFill>
                          <a:effectLst/>
                          <a:latin typeface="Times New Roman" panose="02020603050405020304" pitchFamily="18" charset="0"/>
                        </a:rPr>
                        <a:t> sung </a:t>
                      </a:r>
                      <a:r>
                        <a:rPr lang="en-US" sz="1400" b="0" i="0" u="none" strike="noStrike" dirty="0" err="1">
                          <a:solidFill>
                            <a:srgbClr val="000000"/>
                          </a:solidFill>
                          <a:effectLst/>
                          <a:latin typeface="Times New Roman" panose="02020603050405020304" pitchFamily="18" charset="0"/>
                        </a:rPr>
                        <a:t>dự</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toán</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giai</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đoạn</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chuẩn</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bị</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dự</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án</a:t>
                      </a:r>
                      <a:endParaRPr lang="en-US" sz="1400" b="0" i="0" u="none" strike="noStrike" dirty="0">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lang="en-US"/>
                    </a:p>
                  </a:txBody>
                  <a:tcPr/>
                </a:tc>
                <a:tc vMerge="1">
                  <a:txBody>
                    <a:bodyPr/>
                    <a:lstStyle/>
                    <a:p>
                      <a:endParaRPr lang="en-US"/>
                    </a:p>
                  </a:txBody>
                  <a:tcPr/>
                </a:tc>
                <a:tc>
                  <a:txBody>
                    <a:bodyPr/>
                    <a:lstStyle/>
                    <a:p>
                      <a:pPr algn="ctr" fontAlgn="ctr">
                        <a:buNone/>
                      </a:pPr>
                      <a:r>
                        <a:rPr lang="en-US" sz="1400" b="0" i="0" u="none" strike="noStrike">
                          <a:solidFill>
                            <a:srgbClr val="000000"/>
                          </a:solidFill>
                          <a:effectLst/>
                          <a:latin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82010067"/>
                  </a:ext>
                </a:extLst>
              </a:tr>
              <a:tr h="1428750">
                <a:tc>
                  <a:txBody>
                    <a:bodyPr/>
                    <a:lstStyle/>
                    <a:p>
                      <a:pPr algn="ctr" fontAlgn="ctr">
                        <a:buNone/>
                      </a:pPr>
                      <a:r>
                        <a:rPr lang="en-US" sz="1400" b="0" i="0" u="none" strike="noStrike">
                          <a:solidFill>
                            <a:srgbClr val="000000"/>
                          </a:solidFill>
                          <a:effectLst/>
                          <a:latin typeface="Times New Roman" panose="02020603050405020304" pitchFamily="18" charset="0"/>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400" b="0" i="0" u="none" strike="noStrike" dirty="0">
                          <a:solidFill>
                            <a:srgbClr val="000000"/>
                          </a:solidFill>
                          <a:effectLst/>
                          <a:latin typeface="Times New Roman" panose="02020603050405020304" pitchFamily="18" charset="0"/>
                        </a:rPr>
                        <a:t>Đăng tải quyết định phê duyệt KH LCNT</a:t>
                      </a:r>
                      <a:br>
                        <a:rPr lang="vi-VN" sz="1400" b="0" i="0" u="none" strike="noStrike" dirty="0">
                          <a:solidFill>
                            <a:srgbClr val="000000"/>
                          </a:solidFill>
                          <a:effectLst/>
                          <a:latin typeface="Times New Roman" panose="02020603050405020304" pitchFamily="18" charset="0"/>
                        </a:rPr>
                      </a:br>
                      <a:r>
                        <a:rPr lang="vi-VN" sz="1400" b="0" i="1" u="none" strike="noStrike" dirty="0">
                          <a:solidFill>
                            <a:srgbClr val="000000"/>
                          </a:solidFill>
                          <a:effectLst/>
                          <a:latin typeface="Times New Roman" panose="02020603050405020304" pitchFamily="18" charset="0"/>
                        </a:rPr>
                        <a:t>* Lưu ý: Thời gian đăng tải lên Hệ thống mạng ĐTQG không muộn hơn 05 ngày l/v, kể từ ngày VB được ban hành.</a:t>
                      </a:r>
                      <a:endParaRPr lang="vi-VN" sz="1400" b="0" i="0" u="none" strike="noStrike" dirty="0">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dirty="0">
                          <a:solidFill>
                            <a:srgbClr val="000000"/>
                          </a:solidFill>
                          <a:effectLst/>
                          <a:latin typeface="Times New Roman" panose="02020603050405020304" pitchFamily="18" charset="0"/>
                        </a:rPr>
                        <a:t>CĐT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dirty="0" err="1">
                          <a:solidFill>
                            <a:srgbClr val="000000"/>
                          </a:solidFill>
                          <a:effectLst/>
                          <a:latin typeface="Times New Roman" panose="02020603050405020304" pitchFamily="18" charset="0"/>
                        </a:rPr>
                        <a:t>Điểm</a:t>
                      </a:r>
                      <a:r>
                        <a:rPr lang="en-US" sz="1400" b="0" i="0" u="none" strike="noStrike" dirty="0">
                          <a:solidFill>
                            <a:srgbClr val="000000"/>
                          </a:solidFill>
                          <a:effectLst/>
                          <a:latin typeface="Times New Roman" panose="02020603050405020304" pitchFamily="18" charset="0"/>
                        </a:rPr>
                        <a:t> a, K1; K4 Đ8 LĐT </a:t>
                      </a:r>
                      <a:r>
                        <a:rPr lang="en-US" sz="1400" b="0" i="0" u="none" strike="noStrike" dirty="0" err="1">
                          <a:solidFill>
                            <a:srgbClr val="000000"/>
                          </a:solidFill>
                          <a:effectLst/>
                          <a:latin typeface="Times New Roman" panose="02020603050405020304" pitchFamily="18" charset="0"/>
                        </a:rPr>
                        <a:t>năm</a:t>
                      </a:r>
                      <a:r>
                        <a:rPr lang="en-US" sz="1400" b="0" i="0" u="none" strike="noStrike" dirty="0">
                          <a:solidFill>
                            <a:srgbClr val="000000"/>
                          </a:solidFill>
                          <a:effectLst/>
                          <a:latin typeface="Times New Roman" panose="02020603050405020304" pitchFamily="18" charset="0"/>
                        </a:rPr>
                        <a:t> 2023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dirty="0">
                          <a:solidFill>
                            <a:srgbClr val="000000"/>
                          </a:solidFill>
                          <a:effectLst/>
                          <a:latin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62649107"/>
                  </a:ext>
                </a:extLst>
              </a:tr>
            </a:tbl>
          </a:graphicData>
        </a:graphic>
      </p:graphicFrame>
    </p:spTree>
    <p:extLst>
      <p:ext uri="{BB962C8B-B14F-4D97-AF65-F5344CB8AC3E}">
        <p14:creationId xmlns:p14="http://schemas.microsoft.com/office/powerpoint/2010/main" val="17306983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52373-C016-53C2-5E24-72BF2FBF27A0}"/>
            </a:ext>
          </a:extLst>
        </p:cNvPr>
        <p:cNvGrpSpPr/>
        <p:nvPr/>
      </p:nvGrpSpPr>
      <p:grpSpPr>
        <a:xfrm>
          <a:off x="0" y="0"/>
          <a:ext cx="0" cy="0"/>
          <a:chOff x="0" y="0"/>
          <a:chExt cx="0" cy="0"/>
        </a:xfrm>
      </p:grpSpPr>
      <p:sp>
        <p:nvSpPr>
          <p:cNvPr id="7" name="Title 10">
            <a:extLst>
              <a:ext uri="{FF2B5EF4-FFF2-40B4-BE49-F238E27FC236}">
                <a16:creationId xmlns:a16="http://schemas.microsoft.com/office/drawing/2014/main" id="{9C0992F9-8E41-2944-5DC0-538B6F6AB9C6}"/>
              </a:ext>
            </a:extLst>
          </p:cNvPr>
          <p:cNvSpPr txBox="1">
            <a:spLocks/>
          </p:cNvSpPr>
          <p:nvPr/>
        </p:nvSpPr>
        <p:spPr>
          <a:xfrm>
            <a:off x="4221479" y="274320"/>
            <a:ext cx="3749040" cy="43891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1000"/>
              </a:lnSpc>
            </a:pP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QUY TRÌNH CHI TIẾT</a:t>
            </a:r>
          </a:p>
        </p:txBody>
      </p:sp>
      <p:graphicFrame>
        <p:nvGraphicFramePr>
          <p:cNvPr id="2" name="Table 1">
            <a:extLst>
              <a:ext uri="{FF2B5EF4-FFF2-40B4-BE49-F238E27FC236}">
                <a16:creationId xmlns:a16="http://schemas.microsoft.com/office/drawing/2014/main" id="{3C762336-D14A-C798-01E8-1200B0CEA232}"/>
              </a:ext>
            </a:extLst>
          </p:cNvPr>
          <p:cNvGraphicFramePr>
            <a:graphicFrameLocks noGrp="1"/>
          </p:cNvGraphicFramePr>
          <p:nvPr>
            <p:extLst>
              <p:ext uri="{D42A27DB-BD31-4B8C-83A1-F6EECF244321}">
                <p14:modId xmlns:p14="http://schemas.microsoft.com/office/powerpoint/2010/main" val="421246137"/>
              </p:ext>
            </p:extLst>
          </p:nvPr>
        </p:nvGraphicFramePr>
        <p:xfrm>
          <a:off x="1271016" y="713232"/>
          <a:ext cx="10094976" cy="5948577"/>
        </p:xfrm>
        <a:graphic>
          <a:graphicData uri="http://schemas.openxmlformats.org/drawingml/2006/table">
            <a:tbl>
              <a:tblPr/>
              <a:tblGrid>
                <a:gridCol w="594360">
                  <a:extLst>
                    <a:ext uri="{9D8B030D-6E8A-4147-A177-3AD203B41FA5}">
                      <a16:colId xmlns:a16="http://schemas.microsoft.com/office/drawing/2014/main" val="3601584390"/>
                    </a:ext>
                  </a:extLst>
                </a:gridCol>
                <a:gridCol w="3584448">
                  <a:extLst>
                    <a:ext uri="{9D8B030D-6E8A-4147-A177-3AD203B41FA5}">
                      <a16:colId xmlns:a16="http://schemas.microsoft.com/office/drawing/2014/main" val="181119450"/>
                    </a:ext>
                  </a:extLst>
                </a:gridCol>
                <a:gridCol w="2478024">
                  <a:extLst>
                    <a:ext uri="{9D8B030D-6E8A-4147-A177-3AD203B41FA5}">
                      <a16:colId xmlns:a16="http://schemas.microsoft.com/office/drawing/2014/main" val="2973773010"/>
                    </a:ext>
                  </a:extLst>
                </a:gridCol>
                <a:gridCol w="1810512">
                  <a:extLst>
                    <a:ext uri="{9D8B030D-6E8A-4147-A177-3AD203B41FA5}">
                      <a16:colId xmlns:a16="http://schemas.microsoft.com/office/drawing/2014/main" val="1705868989"/>
                    </a:ext>
                  </a:extLst>
                </a:gridCol>
                <a:gridCol w="1627632">
                  <a:extLst>
                    <a:ext uri="{9D8B030D-6E8A-4147-A177-3AD203B41FA5}">
                      <a16:colId xmlns:a16="http://schemas.microsoft.com/office/drawing/2014/main" val="2384879652"/>
                    </a:ext>
                  </a:extLst>
                </a:gridCol>
              </a:tblGrid>
              <a:tr h="206799">
                <a:tc>
                  <a:txBody>
                    <a:bodyPr/>
                    <a:lstStyle/>
                    <a:p>
                      <a:pPr algn="l" fontAlgn="ctr">
                        <a:buNone/>
                      </a:pPr>
                      <a:r>
                        <a:rPr lang="vi-VN" sz="1400" b="1" i="0" u="none" strike="noStrike" dirty="0">
                          <a:solidFill>
                            <a:schemeClr val="tx1"/>
                          </a:solidFill>
                          <a:effectLst/>
                          <a:latin typeface="Times New Roman" panose="02020603050405020304" pitchFamily="18" charset="0"/>
                        </a:rPr>
                        <a:t>Bước 3</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4">
                  <a:txBody>
                    <a:bodyPr/>
                    <a:lstStyle/>
                    <a:p>
                      <a:pPr algn="l" fontAlgn="ctr">
                        <a:buNone/>
                      </a:pPr>
                      <a:r>
                        <a:rPr lang="en-US" sz="1400" b="1" i="0" u="none" strike="noStrike" dirty="0" err="1">
                          <a:solidFill>
                            <a:schemeClr val="tx1"/>
                          </a:solidFill>
                          <a:effectLst/>
                          <a:latin typeface="Times New Roman" panose="02020603050405020304" pitchFamily="18" charset="0"/>
                        </a:rPr>
                        <a:t>Phê</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duyệt</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bổ</a:t>
                      </a:r>
                      <a:r>
                        <a:rPr lang="en-US" sz="1400" b="1" i="0" u="none" strike="noStrike" dirty="0">
                          <a:solidFill>
                            <a:schemeClr val="tx1"/>
                          </a:solidFill>
                          <a:effectLst/>
                          <a:latin typeface="Times New Roman" panose="02020603050405020304" pitchFamily="18" charset="0"/>
                        </a:rPr>
                        <a:t> sung </a:t>
                      </a:r>
                      <a:r>
                        <a:rPr lang="en-US" sz="1400" b="1" i="0" u="none" strike="noStrike" dirty="0" err="1">
                          <a:solidFill>
                            <a:schemeClr val="tx1"/>
                          </a:solidFill>
                          <a:effectLst/>
                          <a:latin typeface="Times New Roman" panose="02020603050405020304" pitchFamily="18" charset="0"/>
                        </a:rPr>
                        <a:t>Kế</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hoạch</a:t>
                      </a:r>
                      <a:r>
                        <a:rPr lang="en-US" sz="1400" b="1" i="0" u="none" strike="noStrike" dirty="0">
                          <a:solidFill>
                            <a:schemeClr val="tx1"/>
                          </a:solidFill>
                          <a:effectLst/>
                          <a:latin typeface="Times New Roman" panose="02020603050405020304" pitchFamily="18" charset="0"/>
                        </a:rPr>
                        <a:t> LCNT, </a:t>
                      </a:r>
                      <a:r>
                        <a:rPr lang="en-US" sz="1400" b="1" i="0" u="none" strike="noStrike" dirty="0" err="1">
                          <a:solidFill>
                            <a:schemeClr val="tx1"/>
                          </a:solidFill>
                          <a:effectLst/>
                          <a:latin typeface="Times New Roman" panose="02020603050405020304" pitchFamily="18" charset="0"/>
                        </a:rPr>
                        <a:t>Tổ</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chức</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lựa</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chọn</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nhà</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thầu</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giai</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đoạn</a:t>
                      </a:r>
                      <a:r>
                        <a:rPr lang="en-US" sz="1400" b="1" i="0" u="none" strike="noStrike" dirty="0">
                          <a:solidFill>
                            <a:schemeClr val="tx1"/>
                          </a:solidFill>
                          <a:effectLst/>
                          <a:latin typeface="Times New Roman" panose="02020603050405020304" pitchFamily="18" charset="0"/>
                        </a:rPr>
                        <a:t> CBDA</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dirty="0"/>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06080903"/>
                  </a:ext>
                </a:extLst>
              </a:tr>
              <a:tr h="206799">
                <a:tc>
                  <a:txBody>
                    <a:bodyPr/>
                    <a:lstStyle/>
                    <a:p>
                      <a:pPr algn="ctr" fontAlgn="ctr">
                        <a:buNone/>
                      </a:pPr>
                      <a:r>
                        <a:rPr lang="en-US" sz="1400" b="1" i="0" u="none" strike="noStrike">
                          <a:solidFill>
                            <a:srgbClr val="000000"/>
                          </a:solidFill>
                          <a:effectLst/>
                          <a:latin typeface="Times New Roman" panose="02020603050405020304" pitchFamily="18" charset="0"/>
                        </a:rPr>
                        <a:t>Stt</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1" i="0" u="none" strike="noStrike">
                          <a:solidFill>
                            <a:srgbClr val="000000"/>
                          </a:solidFill>
                          <a:effectLst/>
                          <a:latin typeface="Times New Roman" panose="02020603050405020304" pitchFamily="18" charset="0"/>
                        </a:rPr>
                        <a:t>Nội dung</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vi-VN" sz="1400" b="1" i="0" u="none" strike="noStrike">
                          <a:solidFill>
                            <a:srgbClr val="000000"/>
                          </a:solidFill>
                          <a:effectLst/>
                          <a:latin typeface="Times New Roman" panose="02020603050405020304" pitchFamily="18" charset="0"/>
                        </a:rPr>
                        <a:t>Đơn vị thực hiện</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1" i="0" u="none" strike="noStrike" dirty="0" err="1">
                          <a:solidFill>
                            <a:srgbClr val="000000"/>
                          </a:solidFill>
                          <a:effectLst/>
                          <a:latin typeface="Times New Roman" panose="02020603050405020304" pitchFamily="18" charset="0"/>
                        </a:rPr>
                        <a:t>Điều</a:t>
                      </a:r>
                      <a:r>
                        <a:rPr lang="en-US" sz="1400" b="1" i="0" u="none" strike="noStrike" dirty="0">
                          <a:solidFill>
                            <a:srgbClr val="000000"/>
                          </a:solidFill>
                          <a:effectLst/>
                          <a:latin typeface="Times New Roman" panose="02020603050405020304" pitchFamily="18" charset="0"/>
                        </a:rPr>
                        <a:t>, </a:t>
                      </a:r>
                      <a:r>
                        <a:rPr lang="en-US" sz="1400" b="1" i="0" u="none" strike="noStrike" dirty="0" err="1">
                          <a:solidFill>
                            <a:srgbClr val="000000"/>
                          </a:solidFill>
                          <a:effectLst/>
                          <a:latin typeface="Times New Roman" panose="02020603050405020304" pitchFamily="18" charset="0"/>
                        </a:rPr>
                        <a:t>khoản</a:t>
                      </a:r>
                      <a:r>
                        <a:rPr lang="en-US" sz="1400" b="1" i="0" u="none" strike="noStrike" dirty="0">
                          <a:solidFill>
                            <a:srgbClr val="000000"/>
                          </a:solidFill>
                          <a:effectLst/>
                          <a:latin typeface="Times New Roman" panose="02020603050405020304" pitchFamily="18" charset="0"/>
                        </a:rPr>
                        <a:t> </a:t>
                      </a:r>
                      <a:r>
                        <a:rPr lang="en-US" sz="1400" b="1" i="0" u="none" strike="noStrike" dirty="0" err="1">
                          <a:solidFill>
                            <a:srgbClr val="000000"/>
                          </a:solidFill>
                          <a:effectLst/>
                          <a:latin typeface="Times New Roman" panose="02020603050405020304" pitchFamily="18" charset="0"/>
                        </a:rPr>
                        <a:t>áp</a:t>
                      </a:r>
                      <a:r>
                        <a:rPr lang="en-US" sz="1400" b="1" i="0" u="none" strike="noStrike" dirty="0">
                          <a:solidFill>
                            <a:srgbClr val="000000"/>
                          </a:solidFill>
                          <a:effectLst/>
                          <a:latin typeface="Times New Roman" panose="02020603050405020304" pitchFamily="18" charset="0"/>
                        </a:rPr>
                        <a:t> </a:t>
                      </a:r>
                      <a:r>
                        <a:rPr lang="en-US" sz="1400" b="1" i="0" u="none" strike="noStrike" dirty="0" err="1">
                          <a:solidFill>
                            <a:srgbClr val="000000"/>
                          </a:solidFill>
                          <a:effectLst/>
                          <a:latin typeface="Times New Roman" panose="02020603050405020304" pitchFamily="18" charset="0"/>
                        </a:rPr>
                        <a:t>dụng</a:t>
                      </a:r>
                      <a:endParaRPr lang="en-US" sz="1400" b="1" i="0" u="none" strike="noStrike" dirty="0">
                        <a:solidFill>
                          <a:srgbClr val="000000"/>
                        </a:solidFill>
                        <a:effectLst/>
                        <a:latin typeface="Times New Roman" panose="02020603050405020304" pitchFamily="18" charset="0"/>
                      </a:endParaRP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1" i="0" u="none" strike="noStrike">
                          <a:solidFill>
                            <a:srgbClr val="000000"/>
                          </a:solidFill>
                          <a:effectLst/>
                          <a:latin typeface="Times New Roman" panose="02020603050405020304" pitchFamily="18" charset="0"/>
                        </a:rPr>
                        <a:t>Biểu mẫu áp dụng</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60697955"/>
                  </a:ext>
                </a:extLst>
              </a:tr>
              <a:tr h="2431155">
                <a:tc>
                  <a:txBody>
                    <a:bodyPr/>
                    <a:lstStyle/>
                    <a:p>
                      <a:pPr algn="ctr" fontAlgn="ctr">
                        <a:buNone/>
                      </a:pPr>
                      <a:r>
                        <a:rPr lang="en-US" sz="1400" b="0" i="0" u="none" strike="noStrike">
                          <a:solidFill>
                            <a:srgbClr val="000000"/>
                          </a:solidFill>
                          <a:effectLst/>
                          <a:latin typeface="Times New Roman" panose="02020603050405020304" pitchFamily="18" charset="0"/>
                        </a:rPr>
                        <a:t>1</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400" b="0" i="0" u="none" strike="noStrike" dirty="0" err="1">
                          <a:solidFill>
                            <a:srgbClr val="000000"/>
                          </a:solidFill>
                          <a:effectLst/>
                          <a:latin typeface="Times New Roman" panose="02020603050405020304" pitchFamily="18" charset="0"/>
                        </a:rPr>
                        <a:t>Lập</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tờ</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trình</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phê</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duyệt</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bổ</a:t>
                      </a:r>
                      <a:r>
                        <a:rPr lang="en-US" sz="1400" b="0" i="0" u="none" strike="noStrike" dirty="0">
                          <a:solidFill>
                            <a:srgbClr val="000000"/>
                          </a:solidFill>
                          <a:effectLst/>
                          <a:latin typeface="Times New Roman" panose="02020603050405020304" pitchFamily="18" charset="0"/>
                        </a:rPr>
                        <a:t> sung KHLCNT </a:t>
                      </a:r>
                      <a:r>
                        <a:rPr lang="en-US" sz="1400" b="0" i="0" u="none" strike="noStrike" dirty="0" err="1">
                          <a:solidFill>
                            <a:srgbClr val="000000"/>
                          </a:solidFill>
                          <a:effectLst/>
                          <a:latin typeface="Times New Roman" panose="02020603050405020304" pitchFamily="18" charset="0"/>
                        </a:rPr>
                        <a:t>giai</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đoạn</a:t>
                      </a:r>
                      <a:r>
                        <a:rPr lang="en-US" sz="1400" b="0" i="0" u="none" strike="noStrike" dirty="0">
                          <a:solidFill>
                            <a:srgbClr val="000000"/>
                          </a:solidFill>
                          <a:effectLst/>
                          <a:latin typeface="Times New Roman" panose="02020603050405020304" pitchFamily="18" charset="0"/>
                        </a:rPr>
                        <a:t> CBDA</a:t>
                      </a:r>
                    </a:p>
                    <a:p>
                      <a:pPr marL="0" marR="0" lvl="0" indent="0" algn="l" defTabSz="457200" rtl="0" eaLnBrk="1" fontAlgn="ctr" latinLnBrk="0" hangingPunct="1">
                        <a:lnSpc>
                          <a:spcPts val="1400"/>
                        </a:lnSpc>
                        <a:spcBef>
                          <a:spcPts val="0"/>
                        </a:spcBef>
                        <a:spcAft>
                          <a:spcPts val="0"/>
                        </a:spcAft>
                        <a:buClrTx/>
                        <a:buSzTx/>
                        <a:buFontTx/>
                        <a:buNone/>
                        <a:tabLst/>
                        <a:defRPr/>
                      </a:pPr>
                      <a:r>
                        <a:rPr lang="vi-VN" sz="1400" b="0" i="1" u="none" strike="noStrike" dirty="0">
                          <a:solidFill>
                            <a:srgbClr val="000000"/>
                          </a:solidFill>
                          <a:effectLst/>
                          <a:latin typeface="Times New Roman" panose="02020603050405020304" pitchFamily="18" charset="0"/>
                        </a:rPr>
                        <a:t>- Tư vấn khảo sát 1/500</a:t>
                      </a:r>
                      <a:br>
                        <a:rPr lang="vi-VN" sz="1400" b="0" i="1" u="none" strike="noStrike" dirty="0">
                          <a:solidFill>
                            <a:srgbClr val="000000"/>
                          </a:solidFill>
                          <a:effectLst/>
                          <a:latin typeface="Times New Roman" panose="02020603050405020304" pitchFamily="18" charset="0"/>
                        </a:rPr>
                      </a:br>
                      <a:r>
                        <a:rPr lang="vi-VN" sz="1400" b="0" i="1" u="none" strike="noStrike" dirty="0">
                          <a:solidFill>
                            <a:srgbClr val="000000"/>
                          </a:solidFill>
                          <a:effectLst/>
                          <a:latin typeface="Times New Roman" panose="02020603050405020304" pitchFamily="18" charset="0"/>
                        </a:rPr>
                        <a:t>- Tư vấn khảo sát bước lập BCNCKT (địa hình, địa chất, thủy văn, mỏ vật liệu, bãi đổ thải...)</a:t>
                      </a:r>
                      <a:br>
                        <a:rPr lang="vi-VN" sz="1400" b="0" i="1" u="none" strike="noStrike" dirty="0">
                          <a:solidFill>
                            <a:srgbClr val="000000"/>
                          </a:solidFill>
                          <a:effectLst/>
                          <a:latin typeface="Times New Roman" panose="02020603050405020304" pitchFamily="18" charset="0"/>
                        </a:rPr>
                      </a:br>
                      <a:r>
                        <a:rPr lang="vi-VN" sz="1400" b="0" i="1" u="none" strike="noStrike" dirty="0">
                          <a:solidFill>
                            <a:srgbClr val="000000"/>
                          </a:solidFill>
                          <a:effectLst/>
                          <a:latin typeface="Times New Roman" panose="02020603050405020304" pitchFamily="18" charset="0"/>
                        </a:rPr>
                        <a:t>- Tư vấn giám sát khảo sát</a:t>
                      </a:r>
                      <a:br>
                        <a:rPr lang="vi-VN" sz="1400" b="0" i="1" u="none" strike="noStrike" dirty="0">
                          <a:solidFill>
                            <a:srgbClr val="000000"/>
                          </a:solidFill>
                          <a:effectLst/>
                          <a:latin typeface="Times New Roman" panose="02020603050405020304" pitchFamily="18" charset="0"/>
                        </a:rPr>
                      </a:br>
                      <a:r>
                        <a:rPr lang="vi-VN" sz="1400" b="0" i="1" u="none" strike="noStrike" dirty="0">
                          <a:solidFill>
                            <a:srgbClr val="000000"/>
                          </a:solidFill>
                          <a:effectLst/>
                          <a:latin typeface="Times New Roman" panose="02020603050405020304" pitchFamily="18" charset="0"/>
                        </a:rPr>
                        <a:t>- Tư vấn cấp chỉ giới đường đỏ và số liệu HTKT/hướng tuyến HTKT</a:t>
                      </a:r>
                      <a:br>
                        <a:rPr lang="vi-VN" sz="1400" b="0" i="1" u="none" strike="noStrike" dirty="0">
                          <a:solidFill>
                            <a:srgbClr val="000000"/>
                          </a:solidFill>
                          <a:effectLst/>
                          <a:latin typeface="Times New Roman" panose="02020603050405020304" pitchFamily="18" charset="0"/>
                        </a:rPr>
                      </a:br>
                      <a:r>
                        <a:rPr lang="vi-VN" sz="1400" b="0" i="1" u="none" strike="noStrike" dirty="0">
                          <a:solidFill>
                            <a:srgbClr val="000000"/>
                          </a:solidFill>
                          <a:effectLst/>
                          <a:latin typeface="Times New Roman" panose="02020603050405020304" pitchFamily="18" charset="0"/>
                        </a:rPr>
                        <a:t>- Tư vấn môi trường</a:t>
                      </a:r>
                      <a:br>
                        <a:rPr lang="vi-VN" sz="1400" b="0" i="1" u="none" strike="noStrike" dirty="0">
                          <a:solidFill>
                            <a:srgbClr val="000000"/>
                          </a:solidFill>
                          <a:effectLst/>
                          <a:latin typeface="Times New Roman" panose="02020603050405020304" pitchFamily="18" charset="0"/>
                        </a:rPr>
                      </a:br>
                      <a:r>
                        <a:rPr lang="vi-VN" sz="1400" b="0" i="1" u="none" strike="noStrike" dirty="0">
                          <a:solidFill>
                            <a:srgbClr val="000000"/>
                          </a:solidFill>
                          <a:effectLst/>
                          <a:latin typeface="Times New Roman" panose="02020603050405020304" pitchFamily="18" charset="0"/>
                        </a:rPr>
                        <a:t>- Tư vấn lập BCKTKT/BCNCKT</a:t>
                      </a:r>
                      <a:br>
                        <a:rPr lang="vi-VN" sz="1400" b="0" i="1" u="none" strike="noStrike" dirty="0">
                          <a:solidFill>
                            <a:srgbClr val="000000"/>
                          </a:solidFill>
                          <a:effectLst/>
                          <a:latin typeface="Times New Roman" panose="02020603050405020304" pitchFamily="18" charset="0"/>
                        </a:rPr>
                      </a:br>
                      <a:r>
                        <a:rPr lang="vi-VN" sz="1400" b="0" i="1" u="none" strike="noStrike" dirty="0">
                          <a:solidFill>
                            <a:srgbClr val="000000"/>
                          </a:solidFill>
                          <a:effectLst/>
                          <a:latin typeface="Times New Roman" panose="02020603050405020304" pitchFamily="18" charset="0"/>
                        </a:rPr>
                        <a:t>- Tư vấn lập mô hình thông tin công trình</a:t>
                      </a:r>
                      <a:br>
                        <a:rPr lang="vi-VN" sz="1400" b="0" i="1" u="none" strike="noStrike" dirty="0">
                          <a:solidFill>
                            <a:srgbClr val="000000"/>
                          </a:solidFill>
                          <a:effectLst/>
                          <a:latin typeface="Times New Roman" panose="02020603050405020304" pitchFamily="18" charset="0"/>
                        </a:rPr>
                      </a:br>
                      <a:r>
                        <a:rPr lang="vi-VN" sz="1400" b="0" i="1" u="none" strike="noStrike" dirty="0">
                          <a:solidFill>
                            <a:srgbClr val="000000"/>
                          </a:solidFill>
                          <a:effectLst/>
                          <a:latin typeface="Times New Roman" panose="02020603050405020304" pitchFamily="18" charset="0"/>
                        </a:rPr>
                        <a:t>- Tư vấn thẩm tra báo cáo nghiên cứu khả thi/Báo cáo KTKT</a:t>
                      </a:r>
                      <a:br>
                        <a:rPr lang="vi-VN" sz="1400" b="0" i="1" u="none" strike="noStrike" dirty="0">
                          <a:solidFill>
                            <a:srgbClr val="000000"/>
                          </a:solidFill>
                          <a:effectLst/>
                          <a:latin typeface="Times New Roman" panose="02020603050405020304" pitchFamily="18" charset="0"/>
                        </a:rPr>
                      </a:br>
                      <a:r>
                        <a:rPr lang="vi-VN" sz="1400" b="0" i="1" u="none" strike="noStrike" dirty="0">
                          <a:solidFill>
                            <a:srgbClr val="000000"/>
                          </a:solidFill>
                          <a:effectLst/>
                          <a:latin typeface="Times New Roman" panose="02020603050405020304" pitchFamily="18" charset="0"/>
                        </a:rPr>
                        <a:t>- Các đơn vị tư vấn khác</a:t>
                      </a:r>
                      <a:endParaRPr lang="en-US" sz="1400" b="1" i="0" u="none" strike="noStrike" dirty="0">
                        <a:solidFill>
                          <a:schemeClr val="tx1"/>
                        </a:solidFill>
                        <a:effectLst/>
                        <a:latin typeface="Times New Roman" panose="02020603050405020304" pitchFamily="18" charset="0"/>
                      </a:endParaRP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vi-VN" sz="1400" b="0" i="0" u="none" strike="noStrike">
                          <a:solidFill>
                            <a:srgbClr val="000000"/>
                          </a:solidFill>
                          <a:effectLst/>
                          <a:latin typeface="Times New Roman" panose="02020603050405020304" pitchFamily="18" charset="0"/>
                        </a:rPr>
                        <a:t>Sau khi dự án được bố trí vốn, Đơn vị thuộc CĐT (Đơn vị được giao nhiệm vụ CBDA trường hợp chưa xác định được CĐT)</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dirty="0">
                          <a:solidFill>
                            <a:srgbClr val="000000"/>
                          </a:solidFill>
                          <a:effectLst/>
                          <a:latin typeface="Times New Roman" panose="02020603050405020304" pitchFamily="18" charset="0"/>
                        </a:rPr>
                        <a:t>- Đ37; K1 Đ38; Đ39 </a:t>
                      </a:r>
                      <a:r>
                        <a:rPr lang="en-US" sz="1400" b="0" i="0" u="none" strike="noStrike" dirty="0" err="1">
                          <a:solidFill>
                            <a:srgbClr val="000000"/>
                          </a:solidFill>
                          <a:effectLst/>
                          <a:latin typeface="Times New Roman" panose="02020603050405020304" pitchFamily="18" charset="0"/>
                        </a:rPr>
                        <a:t>Luật</a:t>
                      </a:r>
                      <a:r>
                        <a:rPr lang="en-US" sz="1400" b="0" i="0" u="none" strike="noStrike" dirty="0">
                          <a:solidFill>
                            <a:srgbClr val="000000"/>
                          </a:solidFill>
                          <a:effectLst/>
                          <a:latin typeface="Times New Roman" panose="02020603050405020304" pitchFamily="18" charset="0"/>
                        </a:rPr>
                        <a:t> ĐT </a:t>
                      </a:r>
                      <a:r>
                        <a:rPr lang="en-US" sz="1400" b="0" i="0" u="none" strike="noStrike" dirty="0" err="1">
                          <a:solidFill>
                            <a:srgbClr val="000000"/>
                          </a:solidFill>
                          <a:effectLst/>
                          <a:latin typeface="Times New Roman" panose="02020603050405020304" pitchFamily="18" charset="0"/>
                        </a:rPr>
                        <a:t>năm</a:t>
                      </a:r>
                      <a:r>
                        <a:rPr lang="en-US" sz="1400" b="0" i="0" u="none" strike="noStrike" dirty="0">
                          <a:solidFill>
                            <a:srgbClr val="000000"/>
                          </a:solidFill>
                          <a:effectLst/>
                          <a:latin typeface="Times New Roman" panose="02020603050405020304" pitchFamily="18" charset="0"/>
                        </a:rPr>
                        <a:t> 2023;</a:t>
                      </a:r>
                      <a:br>
                        <a:rPr lang="en-US" sz="1400" b="0" i="0" u="none" strike="noStrike" dirty="0">
                          <a:solidFill>
                            <a:srgbClr val="000000"/>
                          </a:solidFill>
                          <a:effectLst/>
                          <a:latin typeface="Times New Roman" panose="02020603050405020304" pitchFamily="18" charset="0"/>
                        </a:rPr>
                      </a:br>
                      <a:r>
                        <a:rPr lang="en-US" sz="1400" b="0" i="0" u="none" strike="noStrike" dirty="0">
                          <a:solidFill>
                            <a:srgbClr val="000000"/>
                          </a:solidFill>
                          <a:effectLst/>
                          <a:latin typeface="Times New Roman" panose="02020603050405020304" pitchFamily="18" charset="0"/>
                        </a:rPr>
                        <a:t>- K2 Đ4 TT </a:t>
                      </a:r>
                      <a:r>
                        <a:rPr lang="en-US" sz="1400" b="0" i="0" u="none" strike="noStrike" dirty="0" err="1">
                          <a:solidFill>
                            <a:srgbClr val="000000"/>
                          </a:solidFill>
                          <a:effectLst/>
                          <a:latin typeface="Times New Roman" panose="02020603050405020304" pitchFamily="18" charset="0"/>
                        </a:rPr>
                        <a:t>số</a:t>
                      </a:r>
                      <a:r>
                        <a:rPr lang="en-US" sz="1400" b="0" i="0" u="none" strike="noStrike" dirty="0">
                          <a:solidFill>
                            <a:srgbClr val="000000"/>
                          </a:solidFill>
                          <a:effectLst/>
                          <a:latin typeface="Times New Roman" panose="02020603050405020304" pitchFamily="18" charset="0"/>
                        </a:rPr>
                        <a:t> 79</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a:solidFill>
                            <a:srgbClr val="000000"/>
                          </a:solidFill>
                          <a:effectLst/>
                          <a:latin typeface="Times New Roman" panose="02020603050405020304" pitchFamily="18" charset="0"/>
                        </a:rPr>
                        <a:t>Mẫu 02A TT79</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08694918"/>
                  </a:ext>
                </a:extLst>
              </a:tr>
              <a:tr h="609701">
                <a:tc>
                  <a:txBody>
                    <a:bodyPr/>
                    <a:lstStyle/>
                    <a:p>
                      <a:pPr algn="ctr" fontAlgn="ctr">
                        <a:buNone/>
                      </a:pPr>
                      <a:r>
                        <a:rPr lang="en-US" sz="1400" b="0" i="0" u="none" strike="noStrike">
                          <a:solidFill>
                            <a:srgbClr val="000000"/>
                          </a:solidFill>
                          <a:effectLst/>
                          <a:latin typeface="Times New Roman" panose="02020603050405020304" pitchFamily="18" charset="0"/>
                        </a:rPr>
                        <a:t>2</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400" b="0" i="0" u="none" strike="noStrike">
                          <a:solidFill>
                            <a:srgbClr val="000000"/>
                          </a:solidFill>
                          <a:effectLst/>
                          <a:latin typeface="Times New Roman" panose="02020603050405020304" pitchFamily="18" charset="0"/>
                        </a:rPr>
                        <a:t>Phê duyệt bổ sung KHLCNT giai đoạn CBDA</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vi-VN" sz="1400" b="0" i="0" u="none" strike="noStrike" dirty="0">
                          <a:solidFill>
                            <a:srgbClr val="000000"/>
                          </a:solidFill>
                          <a:effectLst/>
                          <a:latin typeface="Times New Roman" panose="02020603050405020304" pitchFamily="18" charset="0"/>
                        </a:rPr>
                        <a:t>CĐT (hoặc người đứng đầu đơn vị được giao nhiệm vụ CBDA)</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dirty="0">
                          <a:solidFill>
                            <a:srgbClr val="000000"/>
                          </a:solidFill>
                          <a:effectLst/>
                          <a:latin typeface="Times New Roman" panose="02020603050405020304" pitchFamily="18" charset="0"/>
                        </a:rPr>
                        <a:t>Đ39; K2 Đ40 LĐT </a:t>
                      </a:r>
                      <a:r>
                        <a:rPr lang="en-US" sz="1400" b="0" i="0" u="none" strike="noStrike" dirty="0" err="1">
                          <a:solidFill>
                            <a:srgbClr val="000000"/>
                          </a:solidFill>
                          <a:effectLst/>
                          <a:latin typeface="Times New Roman" panose="02020603050405020304" pitchFamily="18" charset="0"/>
                        </a:rPr>
                        <a:t>năm</a:t>
                      </a:r>
                      <a:r>
                        <a:rPr lang="en-US" sz="1400" b="0" i="0" u="none" strike="noStrike" dirty="0">
                          <a:solidFill>
                            <a:srgbClr val="000000"/>
                          </a:solidFill>
                          <a:effectLst/>
                          <a:latin typeface="Times New Roman" panose="02020603050405020304" pitchFamily="18" charset="0"/>
                        </a:rPr>
                        <a:t> 2023; K2 Đ4 TT </a:t>
                      </a:r>
                      <a:r>
                        <a:rPr lang="en-US" sz="1400" b="0" i="0" u="none" strike="noStrike" dirty="0" err="1">
                          <a:solidFill>
                            <a:srgbClr val="000000"/>
                          </a:solidFill>
                          <a:effectLst/>
                          <a:latin typeface="Times New Roman" panose="02020603050405020304" pitchFamily="18" charset="0"/>
                        </a:rPr>
                        <a:t>số</a:t>
                      </a:r>
                      <a:r>
                        <a:rPr lang="en-US" sz="1400" b="0" i="0" u="none" strike="noStrike" dirty="0">
                          <a:solidFill>
                            <a:srgbClr val="000000"/>
                          </a:solidFill>
                          <a:effectLst/>
                          <a:latin typeface="Times New Roman" panose="02020603050405020304" pitchFamily="18" charset="0"/>
                        </a:rPr>
                        <a:t> 79</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a:solidFill>
                            <a:srgbClr val="000000"/>
                          </a:solidFill>
                          <a:effectLst/>
                          <a:latin typeface="Times New Roman" panose="02020603050405020304" pitchFamily="18" charset="0"/>
                        </a:rPr>
                        <a:t>Mẫu 02B TT79</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71282995"/>
                  </a:ext>
                </a:extLst>
              </a:tr>
              <a:tr h="2214825">
                <a:tc>
                  <a:txBody>
                    <a:bodyPr/>
                    <a:lstStyle/>
                    <a:p>
                      <a:pPr algn="ctr" fontAlgn="ctr">
                        <a:buNone/>
                      </a:pPr>
                      <a:r>
                        <a:rPr lang="en-US" sz="1400" b="0" i="0" u="none" strike="noStrike">
                          <a:solidFill>
                            <a:srgbClr val="000000"/>
                          </a:solidFill>
                          <a:effectLst/>
                          <a:latin typeface="Times New Roman" panose="02020603050405020304" pitchFamily="18" charset="0"/>
                        </a:rPr>
                        <a:t>3</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lnSpc>
                          <a:spcPts val="1400"/>
                        </a:lnSpc>
                        <a:buNone/>
                      </a:pPr>
                      <a:r>
                        <a:rPr lang="vi-VN" sz="1400" b="0" i="0" u="none" strike="noStrike" dirty="0">
                          <a:solidFill>
                            <a:srgbClr val="000000"/>
                          </a:solidFill>
                          <a:effectLst/>
                          <a:latin typeface="Times New Roman" panose="02020603050405020304" pitchFamily="18" charset="0"/>
                        </a:rPr>
                        <a:t>Tổ chức lựa chọn đơn vị tư vấn giai đoạn CBDA</a:t>
                      </a:r>
                      <a:br>
                        <a:rPr lang="vi-VN" sz="1400" b="0" i="0" u="none" strike="noStrike" dirty="0">
                          <a:solidFill>
                            <a:srgbClr val="000000"/>
                          </a:solidFill>
                          <a:effectLst/>
                          <a:latin typeface="Times New Roman" panose="02020603050405020304" pitchFamily="18" charset="0"/>
                        </a:rPr>
                      </a:br>
                      <a:r>
                        <a:rPr lang="vi-VN" sz="1400" b="0" i="1" u="none" strike="noStrike" dirty="0">
                          <a:solidFill>
                            <a:srgbClr val="000000"/>
                          </a:solidFill>
                          <a:effectLst/>
                          <a:latin typeface="Times New Roman" panose="02020603050405020304" pitchFamily="18" charset="0"/>
                        </a:rPr>
                        <a:t>- Tư vấn khảo sát 1/500</a:t>
                      </a:r>
                      <a:br>
                        <a:rPr lang="vi-VN" sz="1400" b="0" i="1" u="none" strike="noStrike" dirty="0">
                          <a:solidFill>
                            <a:srgbClr val="000000"/>
                          </a:solidFill>
                          <a:effectLst/>
                          <a:latin typeface="Times New Roman" panose="02020603050405020304" pitchFamily="18" charset="0"/>
                        </a:rPr>
                      </a:br>
                      <a:r>
                        <a:rPr lang="vi-VN" sz="1400" b="0" i="1" u="none" strike="noStrike" dirty="0">
                          <a:solidFill>
                            <a:srgbClr val="000000"/>
                          </a:solidFill>
                          <a:effectLst/>
                          <a:latin typeface="Times New Roman" panose="02020603050405020304" pitchFamily="18" charset="0"/>
                        </a:rPr>
                        <a:t>- Tư vấn khảo sát bước lập BCNCKT (địa hình, địa chất, thủy văn, mỏ vật liệu, bãi đổ thải...)</a:t>
                      </a:r>
                      <a:br>
                        <a:rPr lang="vi-VN" sz="1400" b="0" i="1" u="none" strike="noStrike" dirty="0">
                          <a:solidFill>
                            <a:srgbClr val="000000"/>
                          </a:solidFill>
                          <a:effectLst/>
                          <a:latin typeface="Times New Roman" panose="02020603050405020304" pitchFamily="18" charset="0"/>
                        </a:rPr>
                      </a:br>
                      <a:r>
                        <a:rPr lang="vi-VN" sz="1400" b="0" i="1" u="none" strike="noStrike" dirty="0">
                          <a:solidFill>
                            <a:srgbClr val="000000"/>
                          </a:solidFill>
                          <a:effectLst/>
                          <a:latin typeface="Times New Roman" panose="02020603050405020304" pitchFamily="18" charset="0"/>
                        </a:rPr>
                        <a:t>- Tư vấn giám sát khảo sát</a:t>
                      </a:r>
                      <a:br>
                        <a:rPr lang="vi-VN" sz="1400" b="0" i="1" u="none" strike="noStrike" dirty="0">
                          <a:solidFill>
                            <a:srgbClr val="000000"/>
                          </a:solidFill>
                          <a:effectLst/>
                          <a:latin typeface="Times New Roman" panose="02020603050405020304" pitchFamily="18" charset="0"/>
                        </a:rPr>
                      </a:br>
                      <a:r>
                        <a:rPr lang="vi-VN" sz="1400" b="0" i="1" u="none" strike="noStrike" dirty="0">
                          <a:solidFill>
                            <a:srgbClr val="000000"/>
                          </a:solidFill>
                          <a:effectLst/>
                          <a:latin typeface="Times New Roman" panose="02020603050405020304" pitchFamily="18" charset="0"/>
                        </a:rPr>
                        <a:t>- Tư vấn cấp chỉ giới đường đỏ và số liệu HTKT/hướng tuyến HTKT</a:t>
                      </a:r>
                      <a:br>
                        <a:rPr lang="vi-VN" sz="1400" b="0" i="1" u="none" strike="noStrike" dirty="0">
                          <a:solidFill>
                            <a:srgbClr val="000000"/>
                          </a:solidFill>
                          <a:effectLst/>
                          <a:latin typeface="Times New Roman" panose="02020603050405020304" pitchFamily="18" charset="0"/>
                        </a:rPr>
                      </a:br>
                      <a:r>
                        <a:rPr lang="vi-VN" sz="1400" b="0" i="1" u="none" strike="noStrike" dirty="0">
                          <a:solidFill>
                            <a:srgbClr val="000000"/>
                          </a:solidFill>
                          <a:effectLst/>
                          <a:latin typeface="Times New Roman" panose="02020603050405020304" pitchFamily="18" charset="0"/>
                        </a:rPr>
                        <a:t>- Tư vấn môi trường</a:t>
                      </a:r>
                      <a:br>
                        <a:rPr lang="vi-VN" sz="1400" b="0" i="1" u="none" strike="noStrike" dirty="0">
                          <a:solidFill>
                            <a:srgbClr val="000000"/>
                          </a:solidFill>
                          <a:effectLst/>
                          <a:latin typeface="Times New Roman" panose="02020603050405020304" pitchFamily="18" charset="0"/>
                        </a:rPr>
                      </a:br>
                      <a:r>
                        <a:rPr lang="vi-VN" sz="1400" b="0" i="1" u="none" strike="noStrike" dirty="0">
                          <a:solidFill>
                            <a:srgbClr val="000000"/>
                          </a:solidFill>
                          <a:effectLst/>
                          <a:latin typeface="Times New Roman" panose="02020603050405020304" pitchFamily="18" charset="0"/>
                        </a:rPr>
                        <a:t>- Tư vấn lập BCKTKT/BCNCKT</a:t>
                      </a:r>
                      <a:br>
                        <a:rPr lang="vi-VN" sz="1400" b="0" i="1" u="none" strike="noStrike" dirty="0">
                          <a:solidFill>
                            <a:srgbClr val="000000"/>
                          </a:solidFill>
                          <a:effectLst/>
                          <a:latin typeface="Times New Roman" panose="02020603050405020304" pitchFamily="18" charset="0"/>
                        </a:rPr>
                      </a:br>
                      <a:r>
                        <a:rPr lang="vi-VN" sz="1400" b="0" i="1" u="none" strike="noStrike" dirty="0">
                          <a:solidFill>
                            <a:srgbClr val="000000"/>
                          </a:solidFill>
                          <a:effectLst/>
                          <a:latin typeface="Times New Roman" panose="02020603050405020304" pitchFamily="18" charset="0"/>
                        </a:rPr>
                        <a:t>- Tư vấn lập mô hình thông tin công trình</a:t>
                      </a:r>
                      <a:br>
                        <a:rPr lang="vi-VN" sz="1400" b="0" i="1" u="none" strike="noStrike" dirty="0">
                          <a:solidFill>
                            <a:srgbClr val="000000"/>
                          </a:solidFill>
                          <a:effectLst/>
                          <a:latin typeface="Times New Roman" panose="02020603050405020304" pitchFamily="18" charset="0"/>
                        </a:rPr>
                      </a:br>
                      <a:r>
                        <a:rPr lang="vi-VN" sz="1400" b="0" i="1" u="none" strike="noStrike" dirty="0">
                          <a:solidFill>
                            <a:srgbClr val="000000"/>
                          </a:solidFill>
                          <a:effectLst/>
                          <a:latin typeface="Times New Roman" panose="02020603050405020304" pitchFamily="18" charset="0"/>
                        </a:rPr>
                        <a:t>- Tư vấn thẩm tra báo cáo nghiên cứu khả thi/Báo cáo KTKT</a:t>
                      </a:r>
                      <a:br>
                        <a:rPr lang="vi-VN" sz="1400" b="0" i="1" u="none" strike="noStrike" dirty="0">
                          <a:solidFill>
                            <a:srgbClr val="000000"/>
                          </a:solidFill>
                          <a:effectLst/>
                          <a:latin typeface="Times New Roman" panose="02020603050405020304" pitchFamily="18" charset="0"/>
                        </a:rPr>
                      </a:br>
                      <a:r>
                        <a:rPr lang="vi-VN" sz="1400" b="0" i="1" u="none" strike="noStrike" dirty="0">
                          <a:solidFill>
                            <a:srgbClr val="000000"/>
                          </a:solidFill>
                          <a:effectLst/>
                          <a:latin typeface="Times New Roman" panose="02020603050405020304" pitchFamily="18" charset="0"/>
                        </a:rPr>
                        <a:t>- Các đơn vị tư vấn khác</a:t>
                      </a:r>
                      <a:endParaRPr lang="vi-VN" sz="1400" b="0" i="0" u="none" strike="noStrike" dirty="0">
                        <a:solidFill>
                          <a:srgbClr val="000000"/>
                        </a:solidFill>
                        <a:effectLst/>
                        <a:latin typeface="Times New Roman" panose="02020603050405020304" pitchFamily="18" charset="0"/>
                      </a:endParaRP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dirty="0">
                          <a:solidFill>
                            <a:srgbClr val="000000"/>
                          </a:solidFill>
                          <a:effectLst/>
                          <a:latin typeface="Times New Roman" panose="02020603050405020304" pitchFamily="18" charset="0"/>
                        </a:rPr>
                        <a:t>CĐT</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dirty="0" err="1">
                          <a:solidFill>
                            <a:srgbClr val="000000"/>
                          </a:solidFill>
                          <a:effectLst/>
                          <a:latin typeface="Times New Roman" panose="02020603050405020304" pitchFamily="18" charset="0"/>
                        </a:rPr>
                        <a:t>Điểm</a:t>
                      </a:r>
                      <a:r>
                        <a:rPr lang="en-US" sz="1400" b="0" i="0" u="none" strike="noStrike" dirty="0">
                          <a:solidFill>
                            <a:srgbClr val="000000"/>
                          </a:solidFill>
                          <a:effectLst/>
                          <a:latin typeface="Times New Roman" panose="02020603050405020304" pitchFamily="18" charset="0"/>
                        </a:rPr>
                        <a:t> a, K1; K4 Đ8 LĐT </a:t>
                      </a:r>
                      <a:r>
                        <a:rPr lang="en-US" sz="1400" b="0" i="0" u="none" strike="noStrike" dirty="0" err="1">
                          <a:solidFill>
                            <a:srgbClr val="000000"/>
                          </a:solidFill>
                          <a:effectLst/>
                          <a:latin typeface="Times New Roman" panose="02020603050405020304" pitchFamily="18" charset="0"/>
                        </a:rPr>
                        <a:t>năm</a:t>
                      </a:r>
                      <a:r>
                        <a:rPr lang="en-US" sz="1400" b="0" i="0" u="none" strike="noStrike" dirty="0">
                          <a:solidFill>
                            <a:srgbClr val="000000"/>
                          </a:solidFill>
                          <a:effectLst/>
                          <a:latin typeface="Times New Roman" panose="02020603050405020304" pitchFamily="18" charset="0"/>
                        </a:rPr>
                        <a:t> 2023</a:t>
                      </a: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dirty="0">
                          <a:solidFill>
                            <a:srgbClr val="000000"/>
                          </a:solidFill>
                          <a:effectLst/>
                          <a:latin typeface="Times New Roman" panose="02020603050405020304" pitchFamily="18" charset="0"/>
                        </a:rPr>
                        <a:t>Quy </a:t>
                      </a:r>
                      <a:r>
                        <a:rPr lang="en-US" sz="1400" b="0" i="0" u="none" strike="noStrike" dirty="0" err="1">
                          <a:solidFill>
                            <a:srgbClr val="000000"/>
                          </a:solidFill>
                          <a:effectLst/>
                          <a:latin typeface="Times New Roman" panose="02020603050405020304" pitchFamily="18" charset="0"/>
                        </a:rPr>
                        <a:t>trình</a:t>
                      </a:r>
                      <a:r>
                        <a:rPr lang="en-US" sz="1400" b="0" i="0" u="none" strike="noStrike" dirty="0">
                          <a:solidFill>
                            <a:srgbClr val="000000"/>
                          </a:solidFill>
                          <a:effectLst/>
                          <a:latin typeface="Times New Roman" panose="02020603050405020304" pitchFamily="18" charset="0"/>
                        </a:rPr>
                        <a:t> LCNT </a:t>
                      </a:r>
                      <a:r>
                        <a:rPr lang="en-US" sz="1400" b="0" i="0" u="none" strike="noStrike" dirty="0" err="1">
                          <a:solidFill>
                            <a:srgbClr val="000000"/>
                          </a:solidFill>
                          <a:effectLst/>
                          <a:latin typeface="Times New Roman" panose="02020603050405020304" pitchFamily="18" charset="0"/>
                        </a:rPr>
                        <a:t>thực</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hiện</a:t>
                      </a:r>
                      <a:r>
                        <a:rPr lang="en-US" sz="1400" b="0" i="0" u="none" strike="noStrike" dirty="0">
                          <a:solidFill>
                            <a:srgbClr val="000000"/>
                          </a:solidFill>
                          <a:effectLst/>
                          <a:latin typeface="Times New Roman" panose="02020603050405020304" pitchFamily="18" charset="0"/>
                        </a:rPr>
                        <a:t> ở </a:t>
                      </a:r>
                      <a:r>
                        <a:rPr lang="en-US" sz="1400" b="0" i="0" u="none" strike="noStrike" dirty="0" err="1">
                          <a:solidFill>
                            <a:srgbClr val="000000"/>
                          </a:solidFill>
                          <a:effectLst/>
                          <a:latin typeface="Times New Roman" panose="02020603050405020304" pitchFamily="18" charset="0"/>
                        </a:rPr>
                        <a:t>chuyên</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đề</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riêng</a:t>
                      </a:r>
                      <a:endParaRPr lang="en-US" sz="1400" b="0" i="0" u="none" strike="noStrike" dirty="0">
                        <a:solidFill>
                          <a:srgbClr val="000000"/>
                        </a:solidFill>
                        <a:effectLst/>
                        <a:latin typeface="Times New Roman" panose="02020603050405020304" pitchFamily="18" charset="0"/>
                      </a:endParaRPr>
                    </a:p>
                  </a:txBody>
                  <a:tcPr marL="5664" marR="5664" marT="566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52527910"/>
                  </a:ext>
                </a:extLst>
              </a:tr>
            </a:tbl>
          </a:graphicData>
        </a:graphic>
      </p:graphicFrame>
    </p:spTree>
    <p:extLst>
      <p:ext uri="{BB962C8B-B14F-4D97-AF65-F5344CB8AC3E}">
        <p14:creationId xmlns:p14="http://schemas.microsoft.com/office/powerpoint/2010/main" val="13553008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BAD2E-5750-DB7B-6AF8-653D3D11000F}"/>
            </a:ext>
          </a:extLst>
        </p:cNvPr>
        <p:cNvGrpSpPr/>
        <p:nvPr/>
      </p:nvGrpSpPr>
      <p:grpSpPr>
        <a:xfrm>
          <a:off x="0" y="0"/>
          <a:ext cx="0" cy="0"/>
          <a:chOff x="0" y="0"/>
          <a:chExt cx="0" cy="0"/>
        </a:xfrm>
      </p:grpSpPr>
      <p:sp>
        <p:nvSpPr>
          <p:cNvPr id="7" name="Title 10">
            <a:extLst>
              <a:ext uri="{FF2B5EF4-FFF2-40B4-BE49-F238E27FC236}">
                <a16:creationId xmlns:a16="http://schemas.microsoft.com/office/drawing/2014/main" id="{BEE970AD-89E2-3190-6A60-66F66130D550}"/>
              </a:ext>
            </a:extLst>
          </p:cNvPr>
          <p:cNvSpPr txBox="1">
            <a:spLocks/>
          </p:cNvSpPr>
          <p:nvPr/>
        </p:nvSpPr>
        <p:spPr>
          <a:xfrm>
            <a:off x="4221479" y="274320"/>
            <a:ext cx="3749040" cy="43891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1000"/>
              </a:lnSpc>
            </a:pP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QUY TRÌNH CHI TIẾT</a:t>
            </a:r>
          </a:p>
        </p:txBody>
      </p:sp>
      <p:graphicFrame>
        <p:nvGraphicFramePr>
          <p:cNvPr id="3" name="Table 2">
            <a:extLst>
              <a:ext uri="{FF2B5EF4-FFF2-40B4-BE49-F238E27FC236}">
                <a16:creationId xmlns:a16="http://schemas.microsoft.com/office/drawing/2014/main" id="{44A54031-EFC9-CF4E-FD77-6EFE062B5BB9}"/>
              </a:ext>
            </a:extLst>
          </p:cNvPr>
          <p:cNvGraphicFramePr>
            <a:graphicFrameLocks noGrp="1"/>
          </p:cNvGraphicFramePr>
          <p:nvPr>
            <p:extLst>
              <p:ext uri="{D42A27DB-BD31-4B8C-83A1-F6EECF244321}">
                <p14:modId xmlns:p14="http://schemas.microsoft.com/office/powerpoint/2010/main" val="3173424509"/>
              </p:ext>
            </p:extLst>
          </p:nvPr>
        </p:nvGraphicFramePr>
        <p:xfrm>
          <a:off x="1033272" y="632844"/>
          <a:ext cx="10543032" cy="5777572"/>
        </p:xfrm>
        <a:graphic>
          <a:graphicData uri="http://schemas.openxmlformats.org/drawingml/2006/table">
            <a:tbl>
              <a:tblPr/>
              <a:tblGrid>
                <a:gridCol w="630936">
                  <a:extLst>
                    <a:ext uri="{9D8B030D-6E8A-4147-A177-3AD203B41FA5}">
                      <a16:colId xmlns:a16="http://schemas.microsoft.com/office/drawing/2014/main" val="3521319880"/>
                    </a:ext>
                  </a:extLst>
                </a:gridCol>
                <a:gridCol w="5212080">
                  <a:extLst>
                    <a:ext uri="{9D8B030D-6E8A-4147-A177-3AD203B41FA5}">
                      <a16:colId xmlns:a16="http://schemas.microsoft.com/office/drawing/2014/main" val="2756553603"/>
                    </a:ext>
                  </a:extLst>
                </a:gridCol>
                <a:gridCol w="1664208">
                  <a:extLst>
                    <a:ext uri="{9D8B030D-6E8A-4147-A177-3AD203B41FA5}">
                      <a16:colId xmlns:a16="http://schemas.microsoft.com/office/drawing/2014/main" val="3839450518"/>
                    </a:ext>
                  </a:extLst>
                </a:gridCol>
                <a:gridCol w="210312">
                  <a:extLst>
                    <a:ext uri="{9D8B030D-6E8A-4147-A177-3AD203B41FA5}">
                      <a16:colId xmlns:a16="http://schemas.microsoft.com/office/drawing/2014/main" val="1970313150"/>
                    </a:ext>
                  </a:extLst>
                </a:gridCol>
                <a:gridCol w="1344168">
                  <a:extLst>
                    <a:ext uri="{9D8B030D-6E8A-4147-A177-3AD203B41FA5}">
                      <a16:colId xmlns:a16="http://schemas.microsoft.com/office/drawing/2014/main" val="1675838987"/>
                    </a:ext>
                  </a:extLst>
                </a:gridCol>
                <a:gridCol w="1481328">
                  <a:extLst>
                    <a:ext uri="{9D8B030D-6E8A-4147-A177-3AD203B41FA5}">
                      <a16:colId xmlns:a16="http://schemas.microsoft.com/office/drawing/2014/main" val="72273437"/>
                    </a:ext>
                  </a:extLst>
                </a:gridCol>
              </a:tblGrid>
              <a:tr h="350648">
                <a:tc>
                  <a:txBody>
                    <a:bodyPr/>
                    <a:lstStyle/>
                    <a:p>
                      <a:pPr algn="l" fontAlgn="ctr"/>
                      <a:r>
                        <a:rPr lang="vi-VN" sz="1400" b="1" i="0" u="none" strike="noStrike" dirty="0">
                          <a:solidFill>
                            <a:schemeClr val="tx1"/>
                          </a:solidFill>
                          <a:effectLst/>
                          <a:latin typeface="Times New Roman" panose="02020603050405020304" pitchFamily="18" charset="0"/>
                        </a:rPr>
                        <a:t>Bước 4</a:t>
                      </a:r>
                    </a:p>
                  </a:txBody>
                  <a:tcPr marL="3618" marR="3618" marT="3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5">
                  <a:txBody>
                    <a:bodyPr/>
                    <a:lstStyle/>
                    <a:p>
                      <a:pPr algn="l" fontAlgn="ctr"/>
                      <a:r>
                        <a:rPr lang="en-US" sz="1400" b="1" i="0" u="none" strike="noStrike" dirty="0" err="1">
                          <a:solidFill>
                            <a:schemeClr val="tx1"/>
                          </a:solidFill>
                          <a:effectLst/>
                          <a:latin typeface="Times New Roman" panose="02020603050405020304" pitchFamily="18" charset="0"/>
                        </a:rPr>
                        <a:t>Tổ</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chức</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thực</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hiện</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công</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tác</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khảo</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sát</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lập</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chỉ</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giới</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cấp</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số</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liệu</a:t>
                      </a:r>
                      <a:r>
                        <a:rPr lang="en-US" sz="1400" b="1" i="0" u="none" strike="noStrike" dirty="0">
                          <a:solidFill>
                            <a:schemeClr val="tx1"/>
                          </a:solidFill>
                          <a:effectLst/>
                          <a:latin typeface="Times New Roman" panose="02020603050405020304" pitchFamily="18" charset="0"/>
                        </a:rPr>
                        <a:t> HTKT, </a:t>
                      </a:r>
                      <a:r>
                        <a:rPr lang="en-US" sz="1400" b="1" i="0" u="none" strike="noStrike" dirty="0" err="1">
                          <a:solidFill>
                            <a:schemeClr val="tx1"/>
                          </a:solidFill>
                          <a:effectLst/>
                          <a:latin typeface="Times New Roman" panose="02020603050405020304" pitchFamily="18" charset="0"/>
                        </a:rPr>
                        <a:t>quy</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hoạch</a:t>
                      </a:r>
                      <a:r>
                        <a:rPr lang="en-US" sz="1400" b="1" i="0" u="none" strike="noStrike" dirty="0">
                          <a:solidFill>
                            <a:schemeClr val="tx1"/>
                          </a:solidFill>
                          <a:effectLst/>
                          <a:latin typeface="Times New Roman" panose="02020603050405020304" pitchFamily="18" charset="0"/>
                        </a:rPr>
                        <a:t> TMB, </a:t>
                      </a:r>
                      <a:r>
                        <a:rPr lang="en-US" sz="1400" b="1" i="0" u="none" strike="noStrike" dirty="0" err="1">
                          <a:solidFill>
                            <a:schemeClr val="tx1"/>
                          </a:solidFill>
                          <a:effectLst/>
                          <a:latin typeface="Times New Roman" panose="02020603050405020304" pitchFamily="18" charset="0"/>
                        </a:rPr>
                        <a:t>lập</a:t>
                      </a:r>
                      <a:r>
                        <a:rPr lang="en-US" sz="1400" b="1" i="0" u="none" strike="noStrike" dirty="0">
                          <a:solidFill>
                            <a:schemeClr val="tx1"/>
                          </a:solidFill>
                          <a:effectLst/>
                          <a:latin typeface="Times New Roman" panose="02020603050405020304" pitchFamily="18" charset="0"/>
                        </a:rPr>
                        <a:t> BCKTKT/BCNCKT</a:t>
                      </a:r>
                    </a:p>
                  </a:txBody>
                  <a:tcPr marL="3618" marR="3618" marT="3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a:p>
                  </a:txBody>
                  <a:tcPr marL="3618" marR="3618" marT="3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a:p>
                  </a:txBody>
                  <a:tcPr marL="3618" marR="3618" marT="3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dirty="0"/>
                    </a:p>
                  </a:txBody>
                  <a:tcPr marL="3618" marR="3618" marT="3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65591740"/>
                  </a:ext>
                </a:extLst>
              </a:tr>
              <a:tr h="128537">
                <a:tc>
                  <a:txBody>
                    <a:bodyPr/>
                    <a:lstStyle/>
                    <a:p>
                      <a:pPr algn="ctr" fontAlgn="ctr"/>
                      <a:r>
                        <a:rPr lang="en-US" sz="1300" b="1" i="0" u="none" strike="noStrike" dirty="0" err="1">
                          <a:solidFill>
                            <a:srgbClr val="000000"/>
                          </a:solidFill>
                          <a:effectLst/>
                          <a:latin typeface="Times New Roman" panose="02020603050405020304" pitchFamily="18" charset="0"/>
                        </a:rPr>
                        <a:t>Stt</a:t>
                      </a:r>
                      <a:endParaRPr lang="en-US" sz="1300" b="1" i="0" u="none" strike="noStrike" dirty="0">
                        <a:solidFill>
                          <a:srgbClr val="000000"/>
                        </a:solidFill>
                        <a:effectLst/>
                        <a:latin typeface="Times New Roman" panose="02020603050405020304" pitchFamily="18" charset="0"/>
                      </a:endParaRPr>
                    </a:p>
                  </a:txBody>
                  <a:tcPr marL="3618" marR="3618" marT="3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1" i="0" u="none" strike="noStrike" dirty="0" err="1">
                          <a:solidFill>
                            <a:srgbClr val="000000"/>
                          </a:solidFill>
                          <a:effectLst/>
                          <a:latin typeface="Times New Roman" panose="02020603050405020304" pitchFamily="18" charset="0"/>
                        </a:rPr>
                        <a:t>Nội</a:t>
                      </a:r>
                      <a:r>
                        <a:rPr lang="en-US" sz="1300" b="1" i="0" u="none" strike="noStrike" dirty="0">
                          <a:solidFill>
                            <a:srgbClr val="000000"/>
                          </a:solidFill>
                          <a:effectLst/>
                          <a:latin typeface="Times New Roman" panose="02020603050405020304" pitchFamily="18" charset="0"/>
                        </a:rPr>
                        <a:t> dung</a:t>
                      </a:r>
                    </a:p>
                  </a:txBody>
                  <a:tcPr marL="3618" marR="3618" marT="3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vi-VN" sz="1300" b="1" i="0" u="none" strike="noStrike" dirty="0">
                          <a:solidFill>
                            <a:srgbClr val="000000"/>
                          </a:solidFill>
                          <a:effectLst/>
                          <a:latin typeface="Times New Roman" panose="02020603050405020304" pitchFamily="18" charset="0"/>
                        </a:rPr>
                        <a:t>Đơn vị thực hiện</a:t>
                      </a:r>
                    </a:p>
                  </a:txBody>
                  <a:tcPr marL="3618" marR="3618" marT="3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2">
                  <a:txBody>
                    <a:bodyPr/>
                    <a:lstStyle/>
                    <a:p>
                      <a:pPr algn="ctr" fontAlgn="ctr"/>
                      <a:r>
                        <a:rPr lang="en-US" sz="1300" b="1" i="0" u="none" strike="noStrike" dirty="0" err="1">
                          <a:solidFill>
                            <a:srgbClr val="000000"/>
                          </a:solidFill>
                          <a:effectLst/>
                          <a:latin typeface="Times New Roman" panose="02020603050405020304" pitchFamily="18" charset="0"/>
                        </a:rPr>
                        <a:t>Điều</a:t>
                      </a:r>
                      <a:r>
                        <a:rPr lang="en-US" sz="1300" b="1" i="0" u="none" strike="noStrike" dirty="0">
                          <a:solidFill>
                            <a:srgbClr val="000000"/>
                          </a:solidFill>
                          <a:effectLst/>
                          <a:latin typeface="Times New Roman" panose="02020603050405020304" pitchFamily="18" charset="0"/>
                        </a:rPr>
                        <a:t>, </a:t>
                      </a:r>
                      <a:r>
                        <a:rPr lang="en-US" sz="1300" b="1" i="0" u="none" strike="noStrike" dirty="0" err="1">
                          <a:solidFill>
                            <a:srgbClr val="000000"/>
                          </a:solidFill>
                          <a:effectLst/>
                          <a:latin typeface="Times New Roman" panose="02020603050405020304" pitchFamily="18" charset="0"/>
                        </a:rPr>
                        <a:t>khoản</a:t>
                      </a:r>
                      <a:r>
                        <a:rPr lang="en-US" sz="1300" b="1" i="0" u="none" strike="noStrike" dirty="0">
                          <a:solidFill>
                            <a:srgbClr val="000000"/>
                          </a:solidFill>
                          <a:effectLst/>
                          <a:latin typeface="Times New Roman" panose="02020603050405020304" pitchFamily="18" charset="0"/>
                        </a:rPr>
                        <a:t> </a:t>
                      </a:r>
                      <a:r>
                        <a:rPr lang="en-US" sz="1300" b="1" i="0" u="none" strike="noStrike" dirty="0" err="1">
                          <a:solidFill>
                            <a:srgbClr val="000000"/>
                          </a:solidFill>
                          <a:effectLst/>
                          <a:latin typeface="Times New Roman" panose="02020603050405020304" pitchFamily="18" charset="0"/>
                        </a:rPr>
                        <a:t>áp</a:t>
                      </a:r>
                      <a:r>
                        <a:rPr lang="en-US" sz="1300" b="1" i="0" u="none" strike="noStrike" dirty="0">
                          <a:solidFill>
                            <a:srgbClr val="000000"/>
                          </a:solidFill>
                          <a:effectLst/>
                          <a:latin typeface="Times New Roman" panose="02020603050405020304" pitchFamily="18" charset="0"/>
                        </a:rPr>
                        <a:t> </a:t>
                      </a:r>
                      <a:r>
                        <a:rPr lang="en-US" sz="1300" b="1" i="0" u="none" strike="noStrike" dirty="0" err="1">
                          <a:solidFill>
                            <a:srgbClr val="000000"/>
                          </a:solidFill>
                          <a:effectLst/>
                          <a:latin typeface="Times New Roman" panose="02020603050405020304" pitchFamily="18" charset="0"/>
                        </a:rPr>
                        <a:t>dụng</a:t>
                      </a:r>
                      <a:endParaRPr lang="en-US" sz="1300" b="1" i="0" u="none" strike="noStrike" dirty="0">
                        <a:solidFill>
                          <a:srgbClr val="000000"/>
                        </a:solidFill>
                        <a:effectLst/>
                        <a:latin typeface="Times New Roman" panose="02020603050405020304" pitchFamily="18" charset="0"/>
                      </a:endParaRPr>
                    </a:p>
                  </a:txBody>
                  <a:tcPr marL="3618" marR="3618" marT="3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en-US" sz="1300" b="1" i="0" u="none" strike="noStrike" dirty="0">
                        <a:solidFill>
                          <a:srgbClr val="000000"/>
                        </a:solidFill>
                        <a:effectLst/>
                        <a:latin typeface="Times New Roman" panose="02020603050405020304" pitchFamily="18" charset="0"/>
                      </a:endParaRPr>
                    </a:p>
                  </a:txBody>
                  <a:tcPr marL="3618" marR="3618" marT="3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1" i="0" u="none" strike="noStrike" dirty="0" err="1">
                          <a:solidFill>
                            <a:srgbClr val="000000"/>
                          </a:solidFill>
                          <a:effectLst/>
                          <a:latin typeface="Times New Roman" panose="02020603050405020304" pitchFamily="18" charset="0"/>
                        </a:rPr>
                        <a:t>Biểu</a:t>
                      </a:r>
                      <a:r>
                        <a:rPr lang="en-US" sz="1300" b="1" i="0" u="none" strike="noStrike" dirty="0">
                          <a:solidFill>
                            <a:srgbClr val="000000"/>
                          </a:solidFill>
                          <a:effectLst/>
                          <a:latin typeface="Times New Roman" panose="02020603050405020304" pitchFamily="18" charset="0"/>
                        </a:rPr>
                        <a:t> </a:t>
                      </a:r>
                      <a:r>
                        <a:rPr lang="en-US" sz="1300" b="1" i="0" u="none" strike="noStrike" dirty="0" err="1">
                          <a:solidFill>
                            <a:srgbClr val="000000"/>
                          </a:solidFill>
                          <a:effectLst/>
                          <a:latin typeface="Times New Roman" panose="02020603050405020304" pitchFamily="18" charset="0"/>
                        </a:rPr>
                        <a:t>mẫu</a:t>
                      </a:r>
                      <a:r>
                        <a:rPr lang="en-US" sz="1300" b="1" i="0" u="none" strike="noStrike" dirty="0">
                          <a:solidFill>
                            <a:srgbClr val="000000"/>
                          </a:solidFill>
                          <a:effectLst/>
                          <a:latin typeface="Times New Roman" panose="02020603050405020304" pitchFamily="18" charset="0"/>
                        </a:rPr>
                        <a:t> </a:t>
                      </a:r>
                      <a:r>
                        <a:rPr lang="en-US" sz="1300" b="1" i="0" u="none" strike="noStrike" dirty="0" err="1">
                          <a:solidFill>
                            <a:srgbClr val="000000"/>
                          </a:solidFill>
                          <a:effectLst/>
                          <a:latin typeface="Times New Roman" panose="02020603050405020304" pitchFamily="18" charset="0"/>
                        </a:rPr>
                        <a:t>áp</a:t>
                      </a:r>
                      <a:r>
                        <a:rPr lang="en-US" sz="1300" b="1" i="0" u="none" strike="noStrike" dirty="0">
                          <a:solidFill>
                            <a:srgbClr val="000000"/>
                          </a:solidFill>
                          <a:effectLst/>
                          <a:latin typeface="Times New Roman" panose="02020603050405020304" pitchFamily="18" charset="0"/>
                        </a:rPr>
                        <a:t> </a:t>
                      </a:r>
                      <a:r>
                        <a:rPr lang="en-US" sz="1300" b="1" i="0" u="none" strike="noStrike" dirty="0" err="1">
                          <a:solidFill>
                            <a:srgbClr val="000000"/>
                          </a:solidFill>
                          <a:effectLst/>
                          <a:latin typeface="Times New Roman" panose="02020603050405020304" pitchFamily="18" charset="0"/>
                        </a:rPr>
                        <a:t>dụng</a:t>
                      </a:r>
                      <a:endParaRPr lang="en-US" sz="1300" b="1" i="0" u="none" strike="noStrike" dirty="0">
                        <a:solidFill>
                          <a:srgbClr val="000000"/>
                        </a:solidFill>
                        <a:effectLst/>
                        <a:latin typeface="Times New Roman" panose="02020603050405020304" pitchFamily="18" charset="0"/>
                      </a:endParaRPr>
                    </a:p>
                  </a:txBody>
                  <a:tcPr marL="3618" marR="3618" marT="3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93751920"/>
                  </a:ext>
                </a:extLst>
              </a:tr>
              <a:tr h="642685">
                <a:tc>
                  <a:txBody>
                    <a:bodyPr/>
                    <a:lstStyle/>
                    <a:p>
                      <a:pPr algn="ctr" fontAlgn="ctr"/>
                      <a:r>
                        <a:rPr lang="en-US" sz="1400" b="0" i="0" u="none" strike="noStrike">
                          <a:solidFill>
                            <a:srgbClr val="000000"/>
                          </a:solidFill>
                          <a:effectLst/>
                          <a:latin typeface="Times New Roman" panose="02020603050405020304" pitchFamily="18" charset="0"/>
                        </a:rPr>
                        <a:t>1</a:t>
                      </a:r>
                    </a:p>
                  </a:txBody>
                  <a:tcPr marL="3618" marR="3618" marT="3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400" b="0" i="0" u="none" strike="noStrike" dirty="0">
                          <a:solidFill>
                            <a:srgbClr val="000000"/>
                          </a:solidFill>
                          <a:effectLst/>
                          <a:latin typeface="Times New Roman" panose="02020603050405020304" pitchFamily="18" charset="0"/>
                        </a:rPr>
                        <a:t>Thực hiện công tác khảo sát bước lập Báo cáo KTKT/Báo cáo NCKT: Khảo sát địa hình, địa chất, thủy văn, mỏ vật liệu, bãi đổ thải và các nội dung cần thiết khác</a:t>
                      </a:r>
                    </a:p>
                  </a:txBody>
                  <a:tcPr marL="3618" marR="3618" marT="3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vi-VN" sz="1400" b="0" i="0" u="none" strike="noStrike" dirty="0">
                          <a:solidFill>
                            <a:srgbClr val="000000"/>
                          </a:solidFill>
                          <a:effectLst/>
                          <a:latin typeface="Times New Roman" panose="02020603050405020304" pitchFamily="18" charset="0"/>
                        </a:rPr>
                        <a:t>CĐT, Đơn vị TVKS</a:t>
                      </a:r>
                    </a:p>
                  </a:txBody>
                  <a:tcPr marL="3618" marR="3618" marT="3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2">
                  <a:txBody>
                    <a:bodyPr/>
                    <a:lstStyle/>
                    <a:p>
                      <a:pPr algn="ctr" fontAlgn="ctr"/>
                      <a:r>
                        <a:rPr lang="en-US" sz="1400" b="0" i="0" u="none" strike="noStrike">
                          <a:solidFill>
                            <a:srgbClr val="000000"/>
                          </a:solidFill>
                          <a:effectLst/>
                          <a:latin typeface="Times New Roman" panose="02020603050405020304" pitchFamily="18" charset="0"/>
                        </a:rPr>
                        <a:t> </a:t>
                      </a:r>
                    </a:p>
                  </a:txBody>
                  <a:tcPr marL="3618" marR="3618" marT="3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en-US" sz="1400" b="0" i="0" u="none" strike="noStrike">
                        <a:solidFill>
                          <a:srgbClr val="000000"/>
                        </a:solidFill>
                        <a:effectLst/>
                        <a:latin typeface="Times New Roman" panose="02020603050405020304" pitchFamily="18" charset="0"/>
                      </a:endParaRPr>
                    </a:p>
                  </a:txBody>
                  <a:tcPr marL="3618" marR="3618" marT="3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a:solidFill>
                            <a:srgbClr val="000000"/>
                          </a:solidFill>
                          <a:effectLst/>
                          <a:latin typeface="Times New Roman" panose="02020603050405020304" pitchFamily="18" charset="0"/>
                        </a:rPr>
                        <a:t> </a:t>
                      </a:r>
                    </a:p>
                  </a:txBody>
                  <a:tcPr marL="3618" marR="3618" marT="3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45843405"/>
                  </a:ext>
                </a:extLst>
              </a:tr>
              <a:tr h="514148">
                <a:tc>
                  <a:txBody>
                    <a:bodyPr/>
                    <a:lstStyle/>
                    <a:p>
                      <a:pPr algn="ctr" fontAlgn="ctr"/>
                      <a:r>
                        <a:rPr lang="en-US" sz="1400" b="0" i="0" u="none" strike="noStrike">
                          <a:solidFill>
                            <a:srgbClr val="000000"/>
                          </a:solidFill>
                          <a:effectLst/>
                          <a:latin typeface="Times New Roman" panose="02020603050405020304" pitchFamily="18" charset="0"/>
                        </a:rPr>
                        <a:t>2</a:t>
                      </a:r>
                    </a:p>
                  </a:txBody>
                  <a:tcPr marL="3618" marR="3618" marT="3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400" b="0" i="0" u="none" strike="noStrike" dirty="0">
                          <a:solidFill>
                            <a:srgbClr val="000000"/>
                          </a:solidFill>
                          <a:effectLst/>
                          <a:latin typeface="Times New Roman" panose="02020603050405020304" pitchFamily="18" charset="0"/>
                        </a:rPr>
                        <a:t>Lập, thẩm định, phê duyệt chỉ giới đường đỏ/ cung cấp thông tin, chỉ giới đường đỏ, cung cấp số liệu HTKT (Khu vực chưa có QHCT tỷ lệ 1/500)</a:t>
                      </a:r>
                    </a:p>
                  </a:txBody>
                  <a:tcPr marL="3618" marR="3618" marT="3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a:solidFill>
                            <a:srgbClr val="000000"/>
                          </a:solidFill>
                          <a:effectLst/>
                          <a:latin typeface="Times New Roman" panose="02020603050405020304" pitchFamily="18" charset="0"/>
                        </a:rPr>
                        <a:t>CĐT, Viện Quy hoạch - Xây dựng HN</a:t>
                      </a:r>
                      <a:endParaRPr lang="en-US" sz="1400" b="0" i="0" u="none" strike="noStrike" dirty="0">
                        <a:solidFill>
                          <a:srgbClr val="000000"/>
                        </a:solidFill>
                        <a:effectLst/>
                        <a:latin typeface="Times New Roman" panose="02020603050405020304" pitchFamily="18" charset="0"/>
                      </a:endParaRPr>
                    </a:p>
                  </a:txBody>
                  <a:tcPr marL="3618" marR="3618" marT="3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2">
                  <a:txBody>
                    <a:bodyPr/>
                    <a:lstStyle/>
                    <a:p>
                      <a:pPr algn="ctr" fontAlgn="ctr"/>
                      <a:r>
                        <a:rPr lang="en-US" sz="1400" b="0" i="0" u="none" strike="noStrike">
                          <a:solidFill>
                            <a:srgbClr val="000000"/>
                          </a:solidFill>
                          <a:effectLst/>
                          <a:latin typeface="Times New Roman" panose="02020603050405020304" pitchFamily="18" charset="0"/>
                        </a:rPr>
                        <a:t> </a:t>
                      </a:r>
                    </a:p>
                  </a:txBody>
                  <a:tcPr marL="3618" marR="3618" marT="3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en-US" sz="1400" b="0" i="0" u="none" strike="noStrike">
                        <a:solidFill>
                          <a:srgbClr val="000000"/>
                        </a:solidFill>
                        <a:effectLst/>
                        <a:latin typeface="Times New Roman" panose="02020603050405020304" pitchFamily="18" charset="0"/>
                      </a:endParaRPr>
                    </a:p>
                  </a:txBody>
                  <a:tcPr marL="3618" marR="3618" marT="3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a:solidFill>
                            <a:srgbClr val="000000"/>
                          </a:solidFill>
                          <a:effectLst/>
                          <a:latin typeface="Times New Roman" panose="02020603050405020304" pitchFamily="18" charset="0"/>
                        </a:rPr>
                        <a:t> </a:t>
                      </a:r>
                    </a:p>
                  </a:txBody>
                  <a:tcPr marL="3618" marR="3618" marT="3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89770508"/>
                  </a:ext>
                </a:extLst>
              </a:tr>
              <a:tr h="385611">
                <a:tc>
                  <a:txBody>
                    <a:bodyPr/>
                    <a:lstStyle/>
                    <a:p>
                      <a:pPr algn="ctr" fontAlgn="ctr"/>
                      <a:r>
                        <a:rPr lang="en-US" sz="1400" b="0" i="0" u="none" strike="noStrike">
                          <a:solidFill>
                            <a:srgbClr val="000000"/>
                          </a:solidFill>
                          <a:effectLst/>
                          <a:latin typeface="Times New Roman" panose="02020603050405020304" pitchFamily="18" charset="0"/>
                        </a:rPr>
                        <a:t>3</a:t>
                      </a:r>
                    </a:p>
                  </a:txBody>
                  <a:tcPr marL="3618" marR="3618" marT="3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400" b="0" i="0" u="none" strike="noStrike">
                          <a:solidFill>
                            <a:srgbClr val="000000"/>
                          </a:solidFill>
                          <a:effectLst/>
                          <a:latin typeface="Times New Roman" panose="02020603050405020304" pitchFamily="18" charset="0"/>
                        </a:rPr>
                        <a:t>Cung cấp thông tin chỉ giới đường đỏ; cung cấp số liệu HTKT (Khu vực đã có QHCT tỷ lệ 1/500) </a:t>
                      </a:r>
                    </a:p>
                  </a:txBody>
                  <a:tcPr marL="3618" marR="3618" marT="3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a:solidFill>
                            <a:srgbClr val="000000"/>
                          </a:solidFill>
                          <a:effectLst/>
                          <a:latin typeface="Times New Roman" panose="02020603050405020304" pitchFamily="18" charset="0"/>
                        </a:rPr>
                        <a:t>Sở QHKT, UBND cấp xã</a:t>
                      </a:r>
                      <a:endParaRPr lang="en-US" sz="1400" b="0" i="0" u="none" strike="noStrike" dirty="0">
                        <a:solidFill>
                          <a:srgbClr val="000000"/>
                        </a:solidFill>
                        <a:effectLst/>
                        <a:latin typeface="Times New Roman" panose="02020603050405020304" pitchFamily="18" charset="0"/>
                      </a:endParaRPr>
                    </a:p>
                  </a:txBody>
                  <a:tcPr marL="3618" marR="3618" marT="3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2">
                  <a:txBody>
                    <a:bodyPr/>
                    <a:lstStyle/>
                    <a:p>
                      <a:pPr algn="ctr" fontAlgn="ctr"/>
                      <a:r>
                        <a:rPr lang="en-US" sz="1400" b="0" i="0" u="none" strike="noStrike">
                          <a:solidFill>
                            <a:srgbClr val="000000"/>
                          </a:solidFill>
                          <a:effectLst/>
                          <a:latin typeface="Times New Roman" panose="02020603050405020304" pitchFamily="18" charset="0"/>
                        </a:rPr>
                        <a:t> </a:t>
                      </a:r>
                    </a:p>
                  </a:txBody>
                  <a:tcPr marL="3618" marR="3618" marT="3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en-US" sz="1400" b="0" i="0" u="none" strike="noStrike">
                        <a:solidFill>
                          <a:srgbClr val="000000"/>
                        </a:solidFill>
                        <a:effectLst/>
                        <a:latin typeface="Times New Roman" panose="02020603050405020304" pitchFamily="18" charset="0"/>
                      </a:endParaRPr>
                    </a:p>
                  </a:txBody>
                  <a:tcPr marL="3618" marR="3618" marT="3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a:solidFill>
                            <a:srgbClr val="000000"/>
                          </a:solidFill>
                          <a:effectLst/>
                          <a:latin typeface="Times New Roman" panose="02020603050405020304" pitchFamily="18" charset="0"/>
                        </a:rPr>
                        <a:t> </a:t>
                      </a:r>
                    </a:p>
                  </a:txBody>
                  <a:tcPr marL="3618" marR="3618" marT="3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82816268"/>
                  </a:ext>
                </a:extLst>
              </a:tr>
              <a:tr h="899758">
                <a:tc>
                  <a:txBody>
                    <a:bodyPr/>
                    <a:lstStyle/>
                    <a:p>
                      <a:pPr algn="ctr" fontAlgn="ctr"/>
                      <a:r>
                        <a:rPr lang="en-US" sz="1400" b="0" i="0" u="none" strike="noStrike">
                          <a:solidFill>
                            <a:srgbClr val="000000"/>
                          </a:solidFill>
                          <a:effectLst/>
                          <a:latin typeface="Times New Roman" panose="02020603050405020304" pitchFamily="18" charset="0"/>
                        </a:rPr>
                        <a:t>4</a:t>
                      </a:r>
                    </a:p>
                  </a:txBody>
                  <a:tcPr marL="3618" marR="3618" marT="3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400" b="0" i="0" u="none" strike="noStrike">
                          <a:solidFill>
                            <a:srgbClr val="000000"/>
                          </a:solidFill>
                          <a:effectLst/>
                          <a:latin typeface="Times New Roman" panose="02020603050405020304" pitchFamily="18" charset="0"/>
                        </a:rPr>
                        <a:t>Lập quy hoạch tổng mặt bằng tỷ lệ 1/500 (đối với công trình đối tượng phải lập nhiệm vụ quy hoạch thì cần thực hiện tổ chức lập, phê duyệt dự toán lập nhiệm vụ, lựa chọn đơn vị tư vấn lập nhiệm vụ quy hoạch trước khi lập quy hoạch TMB)</a:t>
                      </a:r>
                    </a:p>
                  </a:txBody>
                  <a:tcPr marL="3618" marR="3618" marT="36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vi-VN" sz="1400" b="0" i="0" u="none" strike="noStrike">
                          <a:solidFill>
                            <a:srgbClr val="000000"/>
                          </a:solidFill>
                          <a:effectLst/>
                          <a:latin typeface="Times New Roman" panose="02020603050405020304" pitchFamily="18" charset="0"/>
                        </a:rPr>
                        <a:t>CĐT, đơn vị tư vấn</a:t>
                      </a:r>
                      <a:endParaRPr lang="vi-VN" sz="1400" b="0" i="0" u="none" strike="noStrike" dirty="0">
                        <a:solidFill>
                          <a:srgbClr val="000000"/>
                        </a:solidFill>
                        <a:effectLst/>
                        <a:latin typeface="Times New Roman" panose="02020603050405020304" pitchFamily="18" charset="0"/>
                      </a:endParaRPr>
                    </a:p>
                  </a:txBody>
                  <a:tcPr marL="3618" marR="3618" marT="3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2">
                  <a:txBody>
                    <a:bodyPr/>
                    <a:lstStyle/>
                    <a:p>
                      <a:pPr algn="ctr" fontAlgn="ctr"/>
                      <a:r>
                        <a:rPr lang="en-US" sz="1400" b="0" i="0" u="none" strike="noStrike">
                          <a:solidFill>
                            <a:srgbClr val="000000"/>
                          </a:solidFill>
                          <a:effectLst/>
                          <a:latin typeface="Times New Roman" panose="02020603050405020304" pitchFamily="18" charset="0"/>
                        </a:rPr>
                        <a:t>Điều 9 và 10 NĐ178</a:t>
                      </a:r>
                      <a:endParaRPr lang="en-US" sz="1400" b="0" i="0" u="none" strike="noStrike" dirty="0">
                        <a:solidFill>
                          <a:srgbClr val="000000"/>
                        </a:solidFill>
                        <a:effectLst/>
                        <a:latin typeface="Times New Roman" panose="02020603050405020304" pitchFamily="18" charset="0"/>
                      </a:endParaRPr>
                    </a:p>
                  </a:txBody>
                  <a:tcPr marL="3618" marR="3618" marT="3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en-US" sz="1400" b="0" i="0" u="none" strike="noStrike" dirty="0">
                        <a:solidFill>
                          <a:srgbClr val="000000"/>
                        </a:solidFill>
                        <a:effectLst/>
                        <a:latin typeface="Times New Roman" panose="02020603050405020304" pitchFamily="18" charset="0"/>
                      </a:endParaRPr>
                    </a:p>
                  </a:txBody>
                  <a:tcPr marL="3618" marR="3618" marT="3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a:solidFill>
                            <a:srgbClr val="000000"/>
                          </a:solidFill>
                          <a:effectLst/>
                          <a:latin typeface="Times New Roman" panose="02020603050405020304" pitchFamily="18" charset="0"/>
                        </a:rPr>
                        <a:t> </a:t>
                      </a:r>
                    </a:p>
                  </a:txBody>
                  <a:tcPr marL="3618" marR="3618" marT="3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27808253"/>
                  </a:ext>
                </a:extLst>
              </a:tr>
              <a:tr h="514148">
                <a:tc>
                  <a:txBody>
                    <a:bodyPr/>
                    <a:lstStyle/>
                    <a:p>
                      <a:pPr algn="ctr" fontAlgn="ctr"/>
                      <a:r>
                        <a:rPr lang="en-US" sz="1400" b="0" i="0" u="none" strike="noStrike">
                          <a:solidFill>
                            <a:srgbClr val="000000"/>
                          </a:solidFill>
                          <a:effectLst/>
                          <a:latin typeface="Times New Roman" panose="02020603050405020304" pitchFamily="18" charset="0"/>
                        </a:rPr>
                        <a:t>5</a:t>
                      </a:r>
                    </a:p>
                  </a:txBody>
                  <a:tcPr marL="3618" marR="3618" marT="3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400" b="0" i="0" u="none" strike="noStrike">
                          <a:solidFill>
                            <a:srgbClr val="000000"/>
                          </a:solidFill>
                          <a:effectLst/>
                          <a:latin typeface="Times New Roman" panose="02020603050405020304" pitchFamily="18" charset="0"/>
                        </a:rPr>
                        <a:t>Tổ chức niêm yết công khai, lấy ý kiến cộng đồng dân cư về hồ sơ quy hoạch Tổng hoạch tổng mặt bằng và phương án kiến trúc</a:t>
                      </a:r>
                    </a:p>
                  </a:txBody>
                  <a:tcPr marL="3618" marR="3618" marT="36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vi-VN" sz="1400" b="0" i="0" u="none" strike="noStrike" dirty="0">
                          <a:solidFill>
                            <a:srgbClr val="000000"/>
                          </a:solidFill>
                          <a:effectLst/>
                          <a:latin typeface="Times New Roman" panose="02020603050405020304" pitchFamily="18" charset="0"/>
                        </a:rPr>
                        <a:t>CĐT, đơn vị tư vấn</a:t>
                      </a:r>
                    </a:p>
                  </a:txBody>
                  <a:tcPr marL="3618" marR="3618" marT="3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2">
                  <a:txBody>
                    <a:bodyPr/>
                    <a:lstStyle/>
                    <a:p>
                      <a:pPr algn="ctr" fontAlgn="ctr"/>
                      <a:r>
                        <a:rPr lang="en-US" sz="1400" b="0" i="0" u="none" strike="noStrike" dirty="0">
                          <a:solidFill>
                            <a:srgbClr val="000000"/>
                          </a:solidFill>
                          <a:effectLst/>
                          <a:latin typeface="Times New Roman" panose="02020603050405020304" pitchFamily="18" charset="0"/>
                        </a:rPr>
                        <a:t>K7 DD </a:t>
                      </a:r>
                      <a:r>
                        <a:rPr lang="en-US" sz="1400" b="0" i="0" u="none" strike="noStrike" dirty="0" err="1">
                          <a:solidFill>
                            <a:srgbClr val="000000"/>
                          </a:solidFill>
                          <a:effectLst/>
                          <a:latin typeface="Times New Roman" panose="02020603050405020304" pitchFamily="18" charset="0"/>
                        </a:rPr>
                        <a:t>Luật</a:t>
                      </a:r>
                      <a:r>
                        <a:rPr lang="en-US" sz="1400" b="0" i="0" u="none" strike="noStrike" dirty="0">
                          <a:solidFill>
                            <a:srgbClr val="000000"/>
                          </a:solidFill>
                          <a:effectLst/>
                          <a:latin typeface="Times New Roman" panose="02020603050405020304" pitchFamily="18" charset="0"/>
                        </a:rPr>
                        <a:t> </a:t>
                      </a:r>
                    </a:p>
                  </a:txBody>
                  <a:tcPr marL="3618" marR="3618" marT="3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en-US" sz="1400" b="0" i="0" u="none" strike="noStrike" dirty="0">
                        <a:solidFill>
                          <a:srgbClr val="000000"/>
                        </a:solidFill>
                        <a:effectLst/>
                        <a:latin typeface="Times New Roman" panose="02020603050405020304" pitchFamily="18" charset="0"/>
                      </a:endParaRPr>
                    </a:p>
                  </a:txBody>
                  <a:tcPr marL="3618" marR="3618" marT="3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Times New Roman" panose="02020603050405020304" pitchFamily="18" charset="0"/>
                        </a:rPr>
                        <a:t> </a:t>
                      </a:r>
                    </a:p>
                  </a:txBody>
                  <a:tcPr marL="3618" marR="3618" marT="3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99594380"/>
                  </a:ext>
                </a:extLst>
              </a:tr>
              <a:tr h="979414">
                <a:tc>
                  <a:txBody>
                    <a:bodyPr/>
                    <a:lstStyle/>
                    <a:p>
                      <a:pPr algn="ctr" fontAlgn="ctr"/>
                      <a:r>
                        <a:rPr lang="en-US" sz="1200" b="0" i="0" u="none" strike="noStrike">
                          <a:solidFill>
                            <a:srgbClr val="000000"/>
                          </a:solidFill>
                          <a:effectLst/>
                          <a:latin typeface="Times New Roman" panose="02020603050405020304" pitchFamily="18" charset="0"/>
                        </a:rPr>
                        <a:t>*</a:t>
                      </a:r>
                    </a:p>
                  </a:txBody>
                  <a:tcPr marL="3618" marR="3618" marT="3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5">
                  <a:txBody>
                    <a:bodyPr/>
                    <a:lstStyle/>
                    <a:p>
                      <a:pPr algn="l" fontAlgn="ctr"/>
                      <a:r>
                        <a:rPr lang="vi-VN" sz="1000" b="0" i="1" u="none" strike="noStrike" dirty="0">
                          <a:solidFill>
                            <a:srgbClr val="000000"/>
                          </a:solidFill>
                          <a:effectLst/>
                          <a:latin typeface="Times New Roman" panose="02020603050405020304" pitchFamily="18" charset="0"/>
                        </a:rPr>
                        <a:t>Lưu ý: Theo quy định tại Khoản 7 Điều 37 Luật Quy hoạch đô thị và nông thông, việc lấy ý kiến cộng đồng dân cư có liên quan về quy hoạch được thực hiện như sau:</a:t>
                      </a:r>
                      <a:br>
                        <a:rPr lang="vi-VN" sz="1000" b="0" i="1" u="none" strike="noStrike" dirty="0">
                          <a:solidFill>
                            <a:srgbClr val="000000"/>
                          </a:solidFill>
                          <a:effectLst/>
                          <a:latin typeface="Times New Roman" panose="02020603050405020304" pitchFamily="18" charset="0"/>
                        </a:rPr>
                      </a:br>
                      <a:r>
                        <a:rPr lang="vi-VN" sz="1000" b="0" i="1" u="none" strike="noStrike" dirty="0">
                          <a:solidFill>
                            <a:srgbClr val="000000"/>
                          </a:solidFill>
                          <a:effectLst/>
                          <a:latin typeface="Times New Roman" panose="02020603050405020304" pitchFamily="18" charset="0"/>
                        </a:rPr>
                        <a:t>a) Hình thức lấy ý kiến được thực hiện bằng một, một số hoặc các hình thức sau: gửi hồ sơ, tài liệu để lấy ý kiến của người dân bằng văn bản; niêm yết, trưng bày tại nơi công cộng để tiếp nhận ý kiến của người dân; hình thức khác theo quy định của pháp luật về thực hiện dân chủ ở cơ sở;</a:t>
                      </a:r>
                      <a:br>
                        <a:rPr lang="vi-VN" sz="1000" b="0" i="1" u="none" strike="noStrike" dirty="0">
                          <a:solidFill>
                            <a:srgbClr val="000000"/>
                          </a:solidFill>
                          <a:effectLst/>
                          <a:latin typeface="Times New Roman" panose="02020603050405020304" pitchFamily="18" charset="0"/>
                        </a:rPr>
                      </a:br>
                      <a:r>
                        <a:rPr lang="vi-VN" sz="1000" b="0" i="1" u="none" strike="noStrike" dirty="0">
                          <a:solidFill>
                            <a:srgbClr val="000000"/>
                          </a:solidFill>
                          <a:effectLst/>
                          <a:latin typeface="Times New Roman" panose="02020603050405020304" pitchFamily="18" charset="0"/>
                        </a:rPr>
                        <a:t>b) Thời gian lấy ý kiến ít nhất là 20 ngày và không quá 30 ngày kể từ ngày công khai nội dung lấy ý kiến. Trong trường hợp chưa hết thời gian lấy ý kiến mà đã nhận được đầy đủ ý kiến của cộng đồng dân cư thì cơ quan, tổ chức có trách nhiệm tổ chức lập quy hoạch đô thị và nông thôn được thực hiện các bước tiếp theo;</a:t>
                      </a:r>
                      <a:br>
                        <a:rPr lang="vi-VN" sz="1000" b="0" i="1" u="none" strike="noStrike" dirty="0">
                          <a:solidFill>
                            <a:srgbClr val="000000"/>
                          </a:solidFill>
                          <a:effectLst/>
                          <a:latin typeface="Times New Roman" panose="02020603050405020304" pitchFamily="18" charset="0"/>
                        </a:rPr>
                      </a:br>
                      <a:r>
                        <a:rPr lang="vi-VN" sz="1000" b="0" i="1" u="none" strike="noStrike" dirty="0">
                          <a:solidFill>
                            <a:srgbClr val="000000"/>
                          </a:solidFill>
                          <a:effectLst/>
                          <a:latin typeface="Times New Roman" panose="02020603050405020304" pitchFamily="18" charset="0"/>
                        </a:rPr>
                        <a:t>c) Trình tự, thủ tục lấy ý kiến cộng đồng dân cư được thực hiện theo quy định về việc Nhân dân tham gia ý kiến quy định tại pháp luật về thực hiện dân chủ ở cơ sở.</a:t>
                      </a:r>
                    </a:p>
                  </a:txBody>
                  <a:tcPr marL="3618" marR="3618" marT="3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h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hMerge="1">
                  <a:txBody>
                    <a:bodyPr/>
                    <a:lstStyle/>
                    <a:p>
                      <a:endParaRPr lang="en-US"/>
                    </a:p>
                  </a:txBody>
                  <a:tcPr/>
                </a:tc>
                <a:tc hMerge="1">
                  <a:txBody>
                    <a:bodyPr/>
                    <a:lstStyle/>
                    <a:p>
                      <a:pPr algn="l" fontAlgn="ctr"/>
                      <a:endParaRPr lang="vi-VN" sz="1200" b="0" i="1" u="none" strike="noStrike" dirty="0">
                        <a:solidFill>
                          <a:srgbClr val="000000"/>
                        </a:solidFill>
                        <a:effectLst/>
                        <a:latin typeface="Times New Roman" panose="02020603050405020304" pitchFamily="18" charset="0"/>
                      </a:endParaRPr>
                    </a:p>
                  </a:txBody>
                  <a:tcPr marL="3618" marR="3618" marT="3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88223432"/>
                  </a:ext>
                </a:extLst>
              </a:tr>
              <a:tr h="257074">
                <a:tc>
                  <a:txBody>
                    <a:bodyPr/>
                    <a:lstStyle/>
                    <a:p>
                      <a:pPr algn="ctr" fontAlgn="ctr"/>
                      <a:r>
                        <a:rPr lang="en-US" sz="1400" b="0" i="0" u="none" strike="noStrike">
                          <a:solidFill>
                            <a:srgbClr val="000000"/>
                          </a:solidFill>
                          <a:effectLst/>
                          <a:latin typeface="Times New Roman" panose="02020603050405020304" pitchFamily="18" charset="0"/>
                        </a:rPr>
                        <a:t>6</a:t>
                      </a:r>
                    </a:p>
                  </a:txBody>
                  <a:tcPr marL="3618" marR="3618" marT="3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400" b="0" i="0" u="none" strike="noStrike">
                          <a:solidFill>
                            <a:srgbClr val="000000"/>
                          </a:solidFill>
                          <a:effectLst/>
                          <a:latin typeface="Times New Roman" panose="02020603050405020304" pitchFamily="18" charset="0"/>
                        </a:rPr>
                        <a:t>Chấp thuận quy hoạch TMB tỷ lệ 1/500</a:t>
                      </a:r>
                    </a:p>
                  </a:txBody>
                  <a:tcPr marL="3618" marR="3618" marT="3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2">
                  <a:txBody>
                    <a:bodyPr/>
                    <a:lstStyle/>
                    <a:p>
                      <a:pPr algn="ctr" fontAlgn="ctr"/>
                      <a:r>
                        <a:rPr lang="en-US" sz="1400" b="0" i="0" u="none" strike="noStrike" kern="900" baseline="0" dirty="0" err="1">
                          <a:solidFill>
                            <a:srgbClr val="000000"/>
                          </a:solidFill>
                          <a:effectLst/>
                          <a:latin typeface="Times New Roman" panose="02020603050405020304" pitchFamily="18" charset="0"/>
                        </a:rPr>
                        <a:t>Sở</a:t>
                      </a:r>
                      <a:r>
                        <a:rPr lang="en-US" sz="1400" b="0" i="0" u="none" strike="noStrike" kern="900" baseline="0" dirty="0">
                          <a:solidFill>
                            <a:srgbClr val="000000"/>
                          </a:solidFill>
                          <a:effectLst/>
                          <a:latin typeface="Times New Roman" panose="02020603050405020304" pitchFamily="18" charset="0"/>
                        </a:rPr>
                        <a:t> QHKT, UBND </a:t>
                      </a:r>
                      <a:r>
                        <a:rPr lang="en-US" sz="1400" b="0" i="0" u="none" strike="noStrike" kern="900" baseline="0" dirty="0" err="1">
                          <a:solidFill>
                            <a:srgbClr val="000000"/>
                          </a:solidFill>
                          <a:effectLst/>
                          <a:latin typeface="Times New Roman" panose="02020603050405020304" pitchFamily="18" charset="0"/>
                        </a:rPr>
                        <a:t>cấp</a:t>
                      </a:r>
                      <a:r>
                        <a:rPr lang="en-US" sz="1400" b="0" i="0" u="none" strike="noStrike" kern="900" baseline="0" dirty="0">
                          <a:solidFill>
                            <a:srgbClr val="000000"/>
                          </a:solidFill>
                          <a:effectLst/>
                          <a:latin typeface="Times New Roman" panose="02020603050405020304" pitchFamily="18" charset="0"/>
                        </a:rPr>
                        <a:t> </a:t>
                      </a:r>
                      <a:r>
                        <a:rPr lang="en-US" sz="1400" b="0" i="0" u="none" strike="noStrike" kern="900" baseline="0" dirty="0" err="1">
                          <a:solidFill>
                            <a:srgbClr val="000000"/>
                          </a:solidFill>
                          <a:effectLst/>
                          <a:latin typeface="Times New Roman" panose="02020603050405020304" pitchFamily="18" charset="0"/>
                        </a:rPr>
                        <a:t>xã</a:t>
                      </a:r>
                      <a:endParaRPr lang="en-US" sz="1400" b="0" i="0" u="none" strike="noStrike" kern="900" baseline="0" dirty="0">
                        <a:solidFill>
                          <a:srgbClr val="000000"/>
                        </a:solidFill>
                        <a:effectLst/>
                        <a:latin typeface="Times New Roman" panose="02020603050405020304" pitchFamily="18" charset="0"/>
                      </a:endParaRPr>
                    </a:p>
                  </a:txBody>
                  <a:tcPr marL="3618" marR="3618" marT="3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noFill/>
                  </a:tcPr>
                </a:tc>
                <a:tc hMerge="1">
                  <a:txBody>
                    <a:bodyPr/>
                    <a:lstStyle/>
                    <a:p>
                      <a:pPr algn="ctr" fontAlgn="ctr"/>
                      <a:r>
                        <a:rPr lang="en-US" sz="1400" b="0" i="0" u="none" strike="noStrike">
                          <a:solidFill>
                            <a:srgbClr val="000000"/>
                          </a:solidFill>
                          <a:effectLst/>
                          <a:latin typeface="Times New Roman" panose="02020603050405020304" pitchFamily="18" charset="0"/>
                        </a:rPr>
                        <a:t>Điều 10 NĐ178</a:t>
                      </a:r>
                    </a:p>
                  </a:txBody>
                  <a:tcPr marL="3618" marR="3618" marT="3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a:solidFill>
                            <a:srgbClr val="000000"/>
                          </a:solidFill>
                          <a:effectLst/>
                          <a:latin typeface="Times New Roman" panose="02020603050405020304" pitchFamily="18" charset="0"/>
                        </a:rPr>
                        <a:t>Điều 10 NĐ178</a:t>
                      </a:r>
                    </a:p>
                  </a:txBody>
                  <a:tcPr marL="3618" marR="3618" marT="3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a:solidFill>
                            <a:srgbClr val="000000"/>
                          </a:solidFill>
                          <a:effectLst/>
                          <a:latin typeface="Times New Roman" panose="02020603050405020304" pitchFamily="18" charset="0"/>
                        </a:rPr>
                        <a:t> </a:t>
                      </a:r>
                      <a:endParaRPr lang="en-US" sz="1400" b="0" i="0" u="none" strike="noStrike" dirty="0">
                        <a:solidFill>
                          <a:srgbClr val="000000"/>
                        </a:solidFill>
                        <a:effectLst/>
                        <a:latin typeface="Times New Roman" panose="02020603050405020304" pitchFamily="18" charset="0"/>
                      </a:endParaRPr>
                    </a:p>
                  </a:txBody>
                  <a:tcPr marL="3618" marR="3618" marT="3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65428695"/>
                  </a:ext>
                </a:extLst>
              </a:tr>
              <a:tr h="514148">
                <a:tc>
                  <a:txBody>
                    <a:bodyPr/>
                    <a:lstStyle/>
                    <a:p>
                      <a:pPr algn="ctr" fontAlgn="ctr"/>
                      <a:r>
                        <a:rPr lang="en-US" sz="1400" b="0" i="0" u="none" strike="noStrike">
                          <a:solidFill>
                            <a:srgbClr val="000000"/>
                          </a:solidFill>
                          <a:effectLst/>
                          <a:latin typeface="Times New Roman" panose="02020603050405020304" pitchFamily="18" charset="0"/>
                        </a:rPr>
                        <a:t>7</a:t>
                      </a:r>
                    </a:p>
                  </a:txBody>
                  <a:tcPr marL="3618" marR="3618" marT="3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400" b="0" i="0" u="none" strike="noStrike">
                          <a:solidFill>
                            <a:srgbClr val="000000"/>
                          </a:solidFill>
                          <a:effectLst/>
                          <a:latin typeface="Times New Roman" panose="02020603050405020304" pitchFamily="18" charset="0"/>
                        </a:rPr>
                        <a:t>Thỏa thuận cấp điện, cấp nước, thoát nước; thông tin liên lạc; đấu nối giao thông; thỏa thuận về chiều cao tĩnh không….</a:t>
                      </a:r>
                    </a:p>
                  </a:txBody>
                  <a:tcPr marL="3618" marR="3618" marT="3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2">
                  <a:txBody>
                    <a:bodyPr/>
                    <a:lstStyle/>
                    <a:p>
                      <a:pPr algn="ctr" fontAlgn="ctr"/>
                      <a:r>
                        <a:rPr lang="vi-VN" sz="1400" b="0" i="0" u="none" strike="noStrike" dirty="0">
                          <a:solidFill>
                            <a:srgbClr val="000000"/>
                          </a:solidFill>
                          <a:effectLst/>
                          <a:latin typeface="Times New Roman" panose="02020603050405020304" pitchFamily="18" charset="0"/>
                        </a:rPr>
                        <a:t>CĐT lập hồ sơ gửi các cơ quan, đơn vị có thẩm quyền đề nghị thỏa thuận, đấu nối</a:t>
                      </a:r>
                    </a:p>
                  </a:txBody>
                  <a:tcPr marL="3618" marR="3618" marT="3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r>
                        <a:rPr lang="en-US" sz="1400" b="0" i="0" u="none" strike="noStrike" dirty="0">
                          <a:solidFill>
                            <a:srgbClr val="000000"/>
                          </a:solidFill>
                          <a:effectLst/>
                          <a:latin typeface="Times New Roman" panose="02020603050405020304" pitchFamily="18" charset="0"/>
                        </a:rPr>
                        <a:t> </a:t>
                      </a:r>
                    </a:p>
                  </a:txBody>
                  <a:tcPr marL="3618" marR="3618" marT="3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Times New Roman" panose="02020603050405020304" pitchFamily="18" charset="0"/>
                        </a:rPr>
                        <a:t> </a:t>
                      </a:r>
                    </a:p>
                  </a:txBody>
                  <a:tcPr marL="3618" marR="3618" marT="3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Times New Roman" panose="02020603050405020304" pitchFamily="18" charset="0"/>
                        </a:rPr>
                        <a:t> </a:t>
                      </a:r>
                    </a:p>
                  </a:txBody>
                  <a:tcPr marL="3618" marR="3618" marT="361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93372246"/>
                  </a:ext>
                </a:extLst>
              </a:tr>
            </a:tbl>
          </a:graphicData>
        </a:graphic>
      </p:graphicFrame>
    </p:spTree>
    <p:extLst>
      <p:ext uri="{BB962C8B-B14F-4D97-AF65-F5344CB8AC3E}">
        <p14:creationId xmlns:p14="http://schemas.microsoft.com/office/powerpoint/2010/main" val="13514635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3B64F-7B09-744F-E712-B9B108DD9128}"/>
            </a:ext>
          </a:extLst>
        </p:cNvPr>
        <p:cNvGrpSpPr/>
        <p:nvPr/>
      </p:nvGrpSpPr>
      <p:grpSpPr>
        <a:xfrm>
          <a:off x="0" y="0"/>
          <a:ext cx="0" cy="0"/>
          <a:chOff x="0" y="0"/>
          <a:chExt cx="0" cy="0"/>
        </a:xfrm>
      </p:grpSpPr>
      <p:sp>
        <p:nvSpPr>
          <p:cNvPr id="7" name="Title 10">
            <a:extLst>
              <a:ext uri="{FF2B5EF4-FFF2-40B4-BE49-F238E27FC236}">
                <a16:creationId xmlns:a16="http://schemas.microsoft.com/office/drawing/2014/main" id="{10423F6A-7023-A4A3-9AF2-52231689C18A}"/>
              </a:ext>
            </a:extLst>
          </p:cNvPr>
          <p:cNvSpPr txBox="1">
            <a:spLocks/>
          </p:cNvSpPr>
          <p:nvPr/>
        </p:nvSpPr>
        <p:spPr>
          <a:xfrm>
            <a:off x="4221479" y="274320"/>
            <a:ext cx="3749040" cy="43891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1000"/>
              </a:lnSpc>
            </a:pP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QUY TRÌNH CHI TIẾT</a:t>
            </a:r>
          </a:p>
        </p:txBody>
      </p:sp>
      <p:graphicFrame>
        <p:nvGraphicFramePr>
          <p:cNvPr id="2" name="Table 1">
            <a:extLst>
              <a:ext uri="{FF2B5EF4-FFF2-40B4-BE49-F238E27FC236}">
                <a16:creationId xmlns:a16="http://schemas.microsoft.com/office/drawing/2014/main" id="{0A16F6D3-4E92-26F9-101D-BD4C38377F1F}"/>
              </a:ext>
            </a:extLst>
          </p:cNvPr>
          <p:cNvGraphicFramePr>
            <a:graphicFrameLocks noGrp="1"/>
          </p:cNvGraphicFramePr>
          <p:nvPr>
            <p:extLst>
              <p:ext uri="{D42A27DB-BD31-4B8C-83A1-F6EECF244321}">
                <p14:modId xmlns:p14="http://schemas.microsoft.com/office/powerpoint/2010/main" val="940628347"/>
              </p:ext>
            </p:extLst>
          </p:nvPr>
        </p:nvGraphicFramePr>
        <p:xfrm>
          <a:off x="786384" y="713232"/>
          <a:ext cx="10954513" cy="5603839"/>
        </p:xfrm>
        <a:graphic>
          <a:graphicData uri="http://schemas.openxmlformats.org/drawingml/2006/table">
            <a:tbl>
              <a:tblPr/>
              <a:tblGrid>
                <a:gridCol w="585216">
                  <a:extLst>
                    <a:ext uri="{9D8B030D-6E8A-4147-A177-3AD203B41FA5}">
                      <a16:colId xmlns:a16="http://schemas.microsoft.com/office/drawing/2014/main" val="2525459171"/>
                    </a:ext>
                  </a:extLst>
                </a:gridCol>
                <a:gridCol w="2679192">
                  <a:extLst>
                    <a:ext uri="{9D8B030D-6E8A-4147-A177-3AD203B41FA5}">
                      <a16:colId xmlns:a16="http://schemas.microsoft.com/office/drawing/2014/main" val="3010420649"/>
                    </a:ext>
                  </a:extLst>
                </a:gridCol>
                <a:gridCol w="3118104">
                  <a:extLst>
                    <a:ext uri="{9D8B030D-6E8A-4147-A177-3AD203B41FA5}">
                      <a16:colId xmlns:a16="http://schemas.microsoft.com/office/drawing/2014/main" val="671206262"/>
                    </a:ext>
                  </a:extLst>
                </a:gridCol>
                <a:gridCol w="2459949">
                  <a:extLst>
                    <a:ext uri="{9D8B030D-6E8A-4147-A177-3AD203B41FA5}">
                      <a16:colId xmlns:a16="http://schemas.microsoft.com/office/drawing/2014/main" val="969240635"/>
                    </a:ext>
                  </a:extLst>
                </a:gridCol>
                <a:gridCol w="2112052">
                  <a:extLst>
                    <a:ext uri="{9D8B030D-6E8A-4147-A177-3AD203B41FA5}">
                      <a16:colId xmlns:a16="http://schemas.microsoft.com/office/drawing/2014/main" val="1430479626"/>
                    </a:ext>
                  </a:extLst>
                </a:gridCol>
              </a:tblGrid>
              <a:tr h="365760">
                <a:tc>
                  <a:txBody>
                    <a:bodyPr/>
                    <a:lstStyle/>
                    <a:p>
                      <a:pPr algn="l" fontAlgn="ctr"/>
                      <a:r>
                        <a:rPr lang="vi-VN" sz="1300" b="1" i="0" u="none" strike="noStrike" dirty="0">
                          <a:solidFill>
                            <a:schemeClr val="tx1"/>
                          </a:solidFill>
                          <a:effectLst/>
                          <a:latin typeface="Times New Roman" panose="02020603050405020304" pitchFamily="18" charset="0"/>
                          <a:cs typeface="Times New Roman" panose="02020603050405020304" pitchFamily="18" charset="0"/>
                        </a:rPr>
                        <a:t>Bước 4</a:t>
                      </a: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4">
                  <a:txBody>
                    <a:bodyPr/>
                    <a:lstStyle/>
                    <a:p>
                      <a:pPr algn="l" fontAlgn="ctr"/>
                      <a:r>
                        <a:rPr lang="en-US" sz="1300" b="1" i="0" u="none" strike="noStrike" dirty="0" err="1">
                          <a:solidFill>
                            <a:schemeClr val="tx1"/>
                          </a:solidFill>
                          <a:effectLst/>
                          <a:latin typeface="Times New Roman" panose="02020603050405020304" pitchFamily="18" charset="0"/>
                          <a:cs typeface="Times New Roman" panose="02020603050405020304" pitchFamily="18" charset="0"/>
                        </a:rPr>
                        <a:t>Tổ</a:t>
                      </a:r>
                      <a:r>
                        <a:rPr lang="en-US" sz="13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1" i="0" u="none" strike="noStrike" dirty="0" err="1">
                          <a:solidFill>
                            <a:schemeClr val="tx1"/>
                          </a:solidFill>
                          <a:effectLst/>
                          <a:latin typeface="Times New Roman" panose="02020603050405020304" pitchFamily="18" charset="0"/>
                          <a:cs typeface="Times New Roman" panose="02020603050405020304" pitchFamily="18" charset="0"/>
                        </a:rPr>
                        <a:t>chức</a:t>
                      </a:r>
                      <a:r>
                        <a:rPr lang="en-US" sz="13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3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1" i="0" u="none" strike="noStrike" dirty="0" err="1">
                          <a:solidFill>
                            <a:schemeClr val="tx1"/>
                          </a:solidFill>
                          <a:effectLst/>
                          <a:latin typeface="Times New Roman" panose="02020603050405020304" pitchFamily="18" charset="0"/>
                          <a:cs typeface="Times New Roman" panose="02020603050405020304" pitchFamily="18" charset="0"/>
                        </a:rPr>
                        <a:t>hiện</a:t>
                      </a:r>
                      <a:r>
                        <a:rPr lang="en-US" sz="13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3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1" i="0" u="none" strike="noStrike" dirty="0" err="1">
                          <a:solidFill>
                            <a:schemeClr val="tx1"/>
                          </a:solidFill>
                          <a:effectLst/>
                          <a:latin typeface="Times New Roman" panose="02020603050405020304" pitchFamily="18" charset="0"/>
                          <a:cs typeface="Times New Roman" panose="02020603050405020304" pitchFamily="18" charset="0"/>
                        </a:rPr>
                        <a:t>tác</a:t>
                      </a:r>
                      <a:r>
                        <a:rPr lang="en-US" sz="13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1" i="0" u="none" strike="noStrike" dirty="0" err="1">
                          <a:solidFill>
                            <a:schemeClr val="tx1"/>
                          </a:solidFill>
                          <a:effectLst/>
                          <a:latin typeface="Times New Roman" panose="02020603050405020304" pitchFamily="18" charset="0"/>
                          <a:cs typeface="Times New Roman" panose="02020603050405020304" pitchFamily="18" charset="0"/>
                        </a:rPr>
                        <a:t>khảo</a:t>
                      </a:r>
                      <a:r>
                        <a:rPr lang="en-US" sz="13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1" i="0" u="none" strike="noStrike" dirty="0" err="1">
                          <a:solidFill>
                            <a:schemeClr val="tx1"/>
                          </a:solidFill>
                          <a:effectLst/>
                          <a:latin typeface="Times New Roman" panose="02020603050405020304" pitchFamily="18" charset="0"/>
                          <a:cs typeface="Times New Roman" panose="02020603050405020304" pitchFamily="18" charset="0"/>
                        </a:rPr>
                        <a:t>sát</a:t>
                      </a:r>
                      <a:r>
                        <a:rPr lang="en-US" sz="13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1" i="0" u="none" strike="noStrike" dirty="0" err="1">
                          <a:solidFill>
                            <a:schemeClr val="tx1"/>
                          </a:solidFill>
                          <a:effectLst/>
                          <a:latin typeface="Times New Roman" panose="02020603050405020304" pitchFamily="18" charset="0"/>
                          <a:cs typeface="Times New Roman" panose="02020603050405020304" pitchFamily="18" charset="0"/>
                        </a:rPr>
                        <a:t>lập</a:t>
                      </a:r>
                      <a:r>
                        <a:rPr lang="en-US" sz="13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1" i="0" u="none" strike="noStrike" dirty="0" err="1">
                          <a:solidFill>
                            <a:schemeClr val="tx1"/>
                          </a:solidFill>
                          <a:effectLst/>
                          <a:latin typeface="Times New Roman" panose="02020603050405020304" pitchFamily="18" charset="0"/>
                          <a:cs typeface="Times New Roman" panose="02020603050405020304" pitchFamily="18" charset="0"/>
                        </a:rPr>
                        <a:t>chỉ</a:t>
                      </a:r>
                      <a:r>
                        <a:rPr lang="en-US" sz="13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1" i="0" u="none" strike="noStrike" dirty="0" err="1">
                          <a:solidFill>
                            <a:schemeClr val="tx1"/>
                          </a:solidFill>
                          <a:effectLst/>
                          <a:latin typeface="Times New Roman" panose="02020603050405020304" pitchFamily="18" charset="0"/>
                          <a:cs typeface="Times New Roman" panose="02020603050405020304" pitchFamily="18" charset="0"/>
                        </a:rPr>
                        <a:t>giới</a:t>
                      </a:r>
                      <a:r>
                        <a:rPr lang="en-US" sz="13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1" i="0" u="none" strike="noStrike" dirty="0" err="1">
                          <a:solidFill>
                            <a:schemeClr val="tx1"/>
                          </a:solidFill>
                          <a:effectLst/>
                          <a:latin typeface="Times New Roman" panose="02020603050405020304" pitchFamily="18" charset="0"/>
                          <a:cs typeface="Times New Roman" panose="02020603050405020304" pitchFamily="18" charset="0"/>
                        </a:rPr>
                        <a:t>cấp</a:t>
                      </a:r>
                      <a:r>
                        <a:rPr lang="en-US" sz="13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1" i="0" u="none" strike="noStrike" dirty="0" err="1">
                          <a:solidFill>
                            <a:schemeClr val="tx1"/>
                          </a:solidFill>
                          <a:effectLst/>
                          <a:latin typeface="Times New Roman" panose="02020603050405020304" pitchFamily="18" charset="0"/>
                          <a:cs typeface="Times New Roman" panose="02020603050405020304" pitchFamily="18" charset="0"/>
                        </a:rPr>
                        <a:t>số</a:t>
                      </a:r>
                      <a:r>
                        <a:rPr lang="en-US" sz="13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1" i="0" u="none" strike="noStrike" dirty="0" err="1">
                          <a:solidFill>
                            <a:schemeClr val="tx1"/>
                          </a:solidFill>
                          <a:effectLst/>
                          <a:latin typeface="Times New Roman" panose="02020603050405020304" pitchFamily="18" charset="0"/>
                          <a:cs typeface="Times New Roman" panose="02020603050405020304" pitchFamily="18" charset="0"/>
                        </a:rPr>
                        <a:t>liệu</a:t>
                      </a:r>
                      <a:r>
                        <a:rPr lang="en-US" sz="1300" b="1" i="0" u="none" strike="noStrike" dirty="0">
                          <a:solidFill>
                            <a:schemeClr val="tx1"/>
                          </a:solidFill>
                          <a:effectLst/>
                          <a:latin typeface="Times New Roman" panose="02020603050405020304" pitchFamily="18" charset="0"/>
                          <a:cs typeface="Times New Roman" panose="02020603050405020304" pitchFamily="18" charset="0"/>
                        </a:rPr>
                        <a:t> HTKT, </a:t>
                      </a:r>
                      <a:r>
                        <a:rPr lang="en-US" sz="1300" b="1" i="0" u="none" strike="noStrike" dirty="0" err="1">
                          <a:solidFill>
                            <a:schemeClr val="tx1"/>
                          </a:solidFill>
                          <a:effectLst/>
                          <a:latin typeface="Times New Roman" panose="02020603050405020304" pitchFamily="18" charset="0"/>
                          <a:cs typeface="Times New Roman" panose="02020603050405020304" pitchFamily="18" charset="0"/>
                        </a:rPr>
                        <a:t>quy</a:t>
                      </a:r>
                      <a:r>
                        <a:rPr lang="en-US" sz="13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1" i="0" u="none" strike="noStrike" dirty="0" err="1">
                          <a:solidFill>
                            <a:schemeClr val="tx1"/>
                          </a:solidFill>
                          <a:effectLst/>
                          <a:latin typeface="Times New Roman" panose="02020603050405020304" pitchFamily="18" charset="0"/>
                          <a:cs typeface="Times New Roman" panose="02020603050405020304" pitchFamily="18" charset="0"/>
                        </a:rPr>
                        <a:t>hoạch</a:t>
                      </a:r>
                      <a:r>
                        <a:rPr lang="en-US" sz="1300" b="1" i="0" u="none" strike="noStrike" dirty="0">
                          <a:solidFill>
                            <a:schemeClr val="tx1"/>
                          </a:solidFill>
                          <a:effectLst/>
                          <a:latin typeface="Times New Roman" panose="02020603050405020304" pitchFamily="18" charset="0"/>
                          <a:cs typeface="Times New Roman" panose="02020603050405020304" pitchFamily="18" charset="0"/>
                        </a:rPr>
                        <a:t> TMB, </a:t>
                      </a:r>
                      <a:r>
                        <a:rPr lang="en-US" sz="1300" b="1" i="0" u="none" strike="noStrike" dirty="0" err="1">
                          <a:solidFill>
                            <a:schemeClr val="tx1"/>
                          </a:solidFill>
                          <a:effectLst/>
                          <a:latin typeface="Times New Roman" panose="02020603050405020304" pitchFamily="18" charset="0"/>
                          <a:cs typeface="Times New Roman" panose="02020603050405020304" pitchFamily="18" charset="0"/>
                        </a:rPr>
                        <a:t>lập</a:t>
                      </a:r>
                      <a:r>
                        <a:rPr lang="en-US" sz="1300" b="1" i="0" u="none" strike="noStrike" dirty="0">
                          <a:solidFill>
                            <a:schemeClr val="tx1"/>
                          </a:solidFill>
                          <a:effectLst/>
                          <a:latin typeface="Times New Roman" panose="02020603050405020304" pitchFamily="18" charset="0"/>
                          <a:cs typeface="Times New Roman" panose="02020603050405020304" pitchFamily="18" charset="0"/>
                        </a:rPr>
                        <a:t> BCKTKT/BCNCKT</a:t>
                      </a: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dirty="0"/>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02275107"/>
                  </a:ext>
                </a:extLst>
              </a:tr>
              <a:tr h="138400">
                <a:tc>
                  <a:txBody>
                    <a:bodyPr/>
                    <a:lstStyle/>
                    <a:p>
                      <a:pPr algn="ctr" fontAlgn="ctr"/>
                      <a:r>
                        <a:rPr lang="en-US" sz="1300" b="1" i="0" u="none" strike="noStrike">
                          <a:solidFill>
                            <a:srgbClr val="000000"/>
                          </a:solidFill>
                          <a:effectLst/>
                          <a:latin typeface="Times New Roman" panose="02020603050405020304" pitchFamily="18" charset="0"/>
                          <a:cs typeface="Times New Roman" panose="02020603050405020304" pitchFamily="18" charset="0"/>
                        </a:rPr>
                        <a:t>Stt</a:t>
                      </a: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1" i="0" u="none" strike="noStrike" dirty="0" err="1">
                          <a:solidFill>
                            <a:srgbClr val="000000"/>
                          </a:solidFill>
                          <a:effectLst/>
                          <a:latin typeface="Times New Roman" panose="02020603050405020304" pitchFamily="18" charset="0"/>
                          <a:cs typeface="Times New Roman" panose="02020603050405020304" pitchFamily="18" charset="0"/>
                        </a:rPr>
                        <a:t>Nội</a:t>
                      </a:r>
                      <a:r>
                        <a:rPr lang="en-US" sz="1300" b="1" i="0" u="none" strike="noStrike" dirty="0">
                          <a:solidFill>
                            <a:srgbClr val="000000"/>
                          </a:solidFill>
                          <a:effectLst/>
                          <a:latin typeface="Times New Roman" panose="02020603050405020304" pitchFamily="18" charset="0"/>
                          <a:cs typeface="Times New Roman" panose="02020603050405020304" pitchFamily="18" charset="0"/>
                        </a:rPr>
                        <a:t> dung</a:t>
                      </a: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vi-VN" sz="1300" b="1" i="0" u="none" strike="noStrike">
                          <a:solidFill>
                            <a:srgbClr val="000000"/>
                          </a:solidFill>
                          <a:effectLst/>
                          <a:latin typeface="Times New Roman" panose="02020603050405020304" pitchFamily="18" charset="0"/>
                          <a:cs typeface="Times New Roman" panose="02020603050405020304" pitchFamily="18" charset="0"/>
                        </a:rPr>
                        <a:t>Đơn vị thực hiện</a:t>
                      </a: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1" i="0" u="none" strike="noStrike" dirty="0" err="1">
                          <a:solidFill>
                            <a:srgbClr val="000000"/>
                          </a:solidFill>
                          <a:effectLst/>
                          <a:latin typeface="Times New Roman" panose="02020603050405020304" pitchFamily="18" charset="0"/>
                          <a:cs typeface="Times New Roman" panose="02020603050405020304" pitchFamily="18" charset="0"/>
                        </a:rPr>
                        <a:t>Điều</a:t>
                      </a:r>
                      <a:r>
                        <a:rPr lang="en-US" sz="1300" b="1" i="0" u="none" strike="noStrike" dirty="0">
                          <a:solidFill>
                            <a:srgbClr val="000000"/>
                          </a:solidFill>
                          <a:effectLst/>
                          <a:latin typeface="Times New Roman" panose="02020603050405020304" pitchFamily="18" charset="0"/>
                          <a:cs typeface="Times New Roman" panose="02020603050405020304" pitchFamily="18" charset="0"/>
                        </a:rPr>
                        <a:t>, </a:t>
                      </a:r>
                      <a:r>
                        <a:rPr lang="en-US" sz="1300" b="1" i="0" u="none" strike="noStrike" dirty="0" err="1">
                          <a:solidFill>
                            <a:srgbClr val="000000"/>
                          </a:solidFill>
                          <a:effectLst/>
                          <a:latin typeface="Times New Roman" panose="02020603050405020304" pitchFamily="18" charset="0"/>
                          <a:cs typeface="Times New Roman" panose="02020603050405020304" pitchFamily="18" charset="0"/>
                        </a:rPr>
                        <a:t>khoản</a:t>
                      </a:r>
                      <a:r>
                        <a:rPr lang="en-US" sz="1300" b="1" i="0" u="none" strike="noStrike" dirty="0">
                          <a:solidFill>
                            <a:srgbClr val="000000"/>
                          </a:solidFill>
                          <a:effectLst/>
                          <a:latin typeface="Times New Roman" panose="02020603050405020304" pitchFamily="18" charset="0"/>
                          <a:cs typeface="Times New Roman" panose="02020603050405020304" pitchFamily="18" charset="0"/>
                        </a:rPr>
                        <a:t> </a:t>
                      </a:r>
                      <a:r>
                        <a:rPr lang="en-US" sz="1300" b="1" i="0" u="none" strike="noStrike" dirty="0" err="1">
                          <a:solidFill>
                            <a:srgbClr val="000000"/>
                          </a:solidFill>
                          <a:effectLst/>
                          <a:latin typeface="Times New Roman" panose="02020603050405020304" pitchFamily="18" charset="0"/>
                          <a:cs typeface="Times New Roman" panose="02020603050405020304" pitchFamily="18" charset="0"/>
                        </a:rPr>
                        <a:t>áp</a:t>
                      </a:r>
                      <a:r>
                        <a:rPr lang="en-US" sz="1300" b="1" i="0" u="none" strike="noStrike" dirty="0">
                          <a:solidFill>
                            <a:srgbClr val="000000"/>
                          </a:solidFill>
                          <a:effectLst/>
                          <a:latin typeface="Times New Roman" panose="02020603050405020304" pitchFamily="18" charset="0"/>
                          <a:cs typeface="Times New Roman" panose="02020603050405020304" pitchFamily="18" charset="0"/>
                        </a:rPr>
                        <a:t> </a:t>
                      </a:r>
                      <a:r>
                        <a:rPr lang="en-US" sz="1300" b="1" i="0" u="none" strike="noStrike" dirty="0" err="1">
                          <a:solidFill>
                            <a:srgbClr val="000000"/>
                          </a:solidFill>
                          <a:effectLst/>
                          <a:latin typeface="Times New Roman" panose="02020603050405020304" pitchFamily="18" charset="0"/>
                          <a:cs typeface="Times New Roman" panose="02020603050405020304" pitchFamily="18" charset="0"/>
                        </a:rPr>
                        <a:t>dụng</a:t>
                      </a:r>
                      <a:endParaRPr lang="en-US" sz="13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1" i="0" u="none" strike="noStrike" dirty="0" err="1">
                          <a:solidFill>
                            <a:srgbClr val="000000"/>
                          </a:solidFill>
                          <a:effectLst/>
                          <a:latin typeface="Times New Roman" panose="02020603050405020304" pitchFamily="18" charset="0"/>
                          <a:cs typeface="Times New Roman" panose="02020603050405020304" pitchFamily="18" charset="0"/>
                        </a:rPr>
                        <a:t>Biểu</a:t>
                      </a:r>
                      <a:r>
                        <a:rPr lang="en-US" sz="1300" b="1" i="0" u="none" strike="noStrike" dirty="0">
                          <a:solidFill>
                            <a:srgbClr val="000000"/>
                          </a:solidFill>
                          <a:effectLst/>
                          <a:latin typeface="Times New Roman" panose="02020603050405020304" pitchFamily="18" charset="0"/>
                          <a:cs typeface="Times New Roman" panose="02020603050405020304" pitchFamily="18" charset="0"/>
                        </a:rPr>
                        <a:t> </a:t>
                      </a:r>
                      <a:r>
                        <a:rPr lang="en-US" sz="1300" b="1" i="0" u="none" strike="noStrike" dirty="0" err="1">
                          <a:solidFill>
                            <a:srgbClr val="000000"/>
                          </a:solidFill>
                          <a:effectLst/>
                          <a:latin typeface="Times New Roman" panose="02020603050405020304" pitchFamily="18" charset="0"/>
                          <a:cs typeface="Times New Roman" panose="02020603050405020304" pitchFamily="18" charset="0"/>
                        </a:rPr>
                        <a:t>mẫu</a:t>
                      </a:r>
                      <a:r>
                        <a:rPr lang="en-US" sz="1300" b="1" i="0" u="none" strike="noStrike" dirty="0">
                          <a:solidFill>
                            <a:srgbClr val="000000"/>
                          </a:solidFill>
                          <a:effectLst/>
                          <a:latin typeface="Times New Roman" panose="02020603050405020304" pitchFamily="18" charset="0"/>
                          <a:cs typeface="Times New Roman" panose="02020603050405020304" pitchFamily="18" charset="0"/>
                        </a:rPr>
                        <a:t> </a:t>
                      </a:r>
                      <a:r>
                        <a:rPr lang="en-US" sz="1300" b="1" i="0" u="none" strike="noStrike" dirty="0" err="1">
                          <a:solidFill>
                            <a:srgbClr val="000000"/>
                          </a:solidFill>
                          <a:effectLst/>
                          <a:latin typeface="Times New Roman" panose="02020603050405020304" pitchFamily="18" charset="0"/>
                          <a:cs typeface="Times New Roman" panose="02020603050405020304" pitchFamily="18" charset="0"/>
                        </a:rPr>
                        <a:t>áp</a:t>
                      </a:r>
                      <a:r>
                        <a:rPr lang="en-US" sz="1300" b="1" i="0" u="none" strike="noStrike" dirty="0">
                          <a:solidFill>
                            <a:srgbClr val="000000"/>
                          </a:solidFill>
                          <a:effectLst/>
                          <a:latin typeface="Times New Roman" panose="02020603050405020304" pitchFamily="18" charset="0"/>
                          <a:cs typeface="Times New Roman" panose="02020603050405020304" pitchFamily="18" charset="0"/>
                        </a:rPr>
                        <a:t> </a:t>
                      </a:r>
                      <a:r>
                        <a:rPr lang="en-US" sz="1300" b="1" i="0" u="none" strike="noStrike" dirty="0" err="1">
                          <a:solidFill>
                            <a:srgbClr val="000000"/>
                          </a:solidFill>
                          <a:effectLst/>
                          <a:latin typeface="Times New Roman" panose="02020603050405020304" pitchFamily="18" charset="0"/>
                          <a:cs typeface="Times New Roman" panose="02020603050405020304" pitchFamily="18" charset="0"/>
                        </a:rPr>
                        <a:t>dụng</a:t>
                      </a:r>
                      <a:endParaRPr lang="en-US" sz="13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75633063"/>
                  </a:ext>
                </a:extLst>
              </a:tr>
              <a:tr h="276801">
                <a:tc>
                  <a:txBody>
                    <a:bodyPr/>
                    <a:lstStyle/>
                    <a:p>
                      <a:pPr algn="ctr" fontAlgn="ctr"/>
                      <a:r>
                        <a:rPr lang="en-US" sz="13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300" b="0" i="0" u="none" strike="noStrike" dirty="0" err="1">
                          <a:solidFill>
                            <a:srgbClr val="000000"/>
                          </a:solidFill>
                          <a:effectLst/>
                          <a:latin typeface="Times New Roman" panose="02020603050405020304" pitchFamily="18" charset="0"/>
                          <a:cs typeface="Times New Roman" panose="02020603050405020304" pitchFamily="18" charset="0"/>
                        </a:rPr>
                        <a:t>Lập</a:t>
                      </a:r>
                      <a:r>
                        <a:rPr lang="en-US" sz="13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300" b="0" i="0" u="none" strike="noStrike" dirty="0" err="1">
                          <a:solidFill>
                            <a:srgbClr val="000000"/>
                          </a:solidFill>
                          <a:effectLst/>
                          <a:latin typeface="Times New Roman" panose="02020603050405020304" pitchFamily="18" charset="0"/>
                          <a:cs typeface="Times New Roman" panose="02020603050405020304" pitchFamily="18" charset="0"/>
                        </a:rPr>
                        <a:t>thẩm</a:t>
                      </a:r>
                      <a:r>
                        <a:rPr lang="en-US" sz="13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300" b="0" i="0" u="none" strike="noStrike" dirty="0" err="1">
                          <a:solidFill>
                            <a:srgbClr val="000000"/>
                          </a:solidFill>
                          <a:effectLst/>
                          <a:latin typeface="Times New Roman" panose="02020603050405020304" pitchFamily="18" charset="0"/>
                          <a:cs typeface="Times New Roman" panose="02020603050405020304" pitchFamily="18" charset="0"/>
                        </a:rPr>
                        <a:t>định</a:t>
                      </a:r>
                      <a:r>
                        <a:rPr lang="en-US" sz="13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300" b="0" i="0" u="none" strike="noStrike" dirty="0" err="1">
                          <a:solidFill>
                            <a:srgbClr val="000000"/>
                          </a:solidFill>
                          <a:effectLst/>
                          <a:latin typeface="Times New Roman" panose="02020603050405020304" pitchFamily="18" charset="0"/>
                          <a:cs typeface="Times New Roman" panose="02020603050405020304" pitchFamily="18" charset="0"/>
                        </a:rPr>
                        <a:t>phê</a:t>
                      </a:r>
                      <a:r>
                        <a:rPr lang="en-US" sz="13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300" b="0" i="0" u="none" strike="noStrike" dirty="0" err="1">
                          <a:solidFill>
                            <a:srgbClr val="000000"/>
                          </a:solidFill>
                          <a:effectLst/>
                          <a:latin typeface="Times New Roman" panose="02020603050405020304" pitchFamily="18" charset="0"/>
                          <a:cs typeface="Times New Roman" panose="02020603050405020304" pitchFamily="18" charset="0"/>
                        </a:rPr>
                        <a:t>duyệt</a:t>
                      </a:r>
                      <a:r>
                        <a:rPr lang="en-US" sz="1300" b="0" i="0" u="none" strike="noStrike" dirty="0">
                          <a:solidFill>
                            <a:srgbClr val="000000"/>
                          </a:solidFill>
                          <a:effectLst/>
                          <a:latin typeface="Times New Roman" panose="02020603050405020304" pitchFamily="18" charset="0"/>
                          <a:cs typeface="Times New Roman" panose="02020603050405020304" pitchFamily="18" charset="0"/>
                        </a:rPr>
                        <a:t> ĐTM/GPMT/ĐKMT (</a:t>
                      </a:r>
                      <a:r>
                        <a:rPr lang="en-US" sz="1300" b="0" i="0" u="none" strike="noStrike" dirty="0" err="1">
                          <a:solidFill>
                            <a:srgbClr val="000000"/>
                          </a:solidFill>
                          <a:effectLst/>
                          <a:latin typeface="Times New Roman" panose="02020603050405020304" pitchFamily="18" charset="0"/>
                          <a:cs typeface="Times New Roman" panose="02020603050405020304" pitchFamily="18" charset="0"/>
                        </a:rPr>
                        <a:t>nếu</a:t>
                      </a:r>
                      <a:r>
                        <a:rPr lang="en-US" sz="13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300" b="0" i="0" u="none" strike="noStrike" dirty="0" err="1">
                          <a:solidFill>
                            <a:srgbClr val="000000"/>
                          </a:solidFill>
                          <a:effectLst/>
                          <a:latin typeface="Times New Roman" panose="02020603050405020304" pitchFamily="18" charset="0"/>
                          <a:cs typeface="Times New Roman" panose="02020603050405020304" pitchFamily="18" charset="0"/>
                        </a:rPr>
                        <a:t>có</a:t>
                      </a:r>
                      <a:r>
                        <a:rPr lang="en-US" sz="1300" b="0" i="0" u="none" strike="noStrike" dirty="0">
                          <a:solidFill>
                            <a:srgbClr val="000000"/>
                          </a:solidFill>
                          <a:effectLst/>
                          <a:latin typeface="Times New Roman" panose="02020603050405020304" pitchFamily="18" charset="0"/>
                          <a:cs typeface="Times New Roman" panose="02020603050405020304" pitchFamily="18" charset="0"/>
                        </a:rPr>
                        <a:t>)</a:t>
                      </a: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67887025"/>
                  </a:ext>
                </a:extLst>
              </a:tr>
              <a:tr h="408869">
                <a:tc>
                  <a:txBody>
                    <a:bodyPr/>
                    <a:lstStyle/>
                    <a:p>
                      <a:pPr algn="ctr" fontAlgn="ctr"/>
                      <a:r>
                        <a:rPr lang="en-US" sz="1300" b="0" i="0" u="none" strike="noStrike" dirty="0">
                          <a:solidFill>
                            <a:srgbClr val="000000"/>
                          </a:solidFill>
                          <a:effectLst/>
                          <a:latin typeface="Times New Roman" panose="02020603050405020304" pitchFamily="18" charset="0"/>
                          <a:cs typeface="Times New Roman" panose="02020603050405020304" pitchFamily="18" charset="0"/>
                        </a:rPr>
                        <a:t>8a</a:t>
                      </a: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300" b="0" i="0" u="none" strike="noStrike" dirty="0">
                          <a:solidFill>
                            <a:srgbClr val="000000"/>
                          </a:solidFill>
                          <a:effectLst/>
                          <a:latin typeface="Times New Roman" panose="02020603050405020304" pitchFamily="18" charset="0"/>
                          <a:cs typeface="Times New Roman" panose="02020603050405020304" pitchFamily="18" charset="0"/>
                        </a:rPr>
                        <a:t>Báo cáo đánh giá tác động môi trường</a:t>
                      </a: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vi-VN" sz="1300" b="0" i="0" u="none" strike="noStrike" dirty="0">
                          <a:solidFill>
                            <a:srgbClr val="000000"/>
                          </a:solidFill>
                          <a:effectLst/>
                          <a:latin typeface="Times New Roman" panose="02020603050405020304" pitchFamily="18" charset="0"/>
                          <a:cs typeface="Times New Roman" panose="02020603050405020304" pitchFamily="18" charset="0"/>
                        </a:rPr>
                        <a:t>Đ30 Luật BVMT</a:t>
                      </a:r>
                      <a:r>
                        <a:rPr lang="en-US" sz="1300" b="0" i="0" u="none" strike="noStrike" dirty="0">
                          <a:solidFill>
                            <a:srgbClr val="000000"/>
                          </a:solidFill>
                          <a:effectLst/>
                          <a:latin typeface="Times New Roman" panose="02020603050405020304" pitchFamily="18" charset="0"/>
                          <a:cs typeface="Times New Roman" panose="02020603050405020304" pitchFamily="18" charset="0"/>
                        </a:rPr>
                        <a:t> </a:t>
                      </a:r>
                      <a:r>
                        <a:rPr lang="vi-VN" sz="1300" b="0" i="0" u="none" strike="noStrike" dirty="0">
                          <a:solidFill>
                            <a:srgbClr val="000000"/>
                          </a:solidFill>
                          <a:effectLst/>
                          <a:latin typeface="Times New Roman" panose="02020603050405020304" pitchFamily="18" charset="0"/>
                          <a:cs typeface="Times New Roman" panose="02020603050405020304" pitchFamily="18" charset="0"/>
                        </a:rPr>
                        <a:t>2020 (đối tượng</a:t>
                      </a:r>
                      <a:br>
                        <a:rPr lang="vi-VN" sz="1300" b="0" i="0" u="none" strike="noStrike" dirty="0">
                          <a:solidFill>
                            <a:srgbClr val="000000"/>
                          </a:solidFill>
                          <a:effectLst/>
                          <a:latin typeface="Times New Roman" panose="02020603050405020304" pitchFamily="18" charset="0"/>
                          <a:cs typeface="Times New Roman" panose="02020603050405020304" pitchFamily="18" charset="0"/>
                        </a:rPr>
                      </a:br>
                      <a:r>
                        <a:rPr lang="vi-VN" sz="1300" b="0" i="0" u="none" strike="noStrike" dirty="0">
                          <a:solidFill>
                            <a:srgbClr val="000000"/>
                          </a:solidFill>
                          <a:effectLst/>
                          <a:latin typeface="Times New Roman" panose="02020603050405020304" pitchFamily="18" charset="0"/>
                          <a:cs typeface="Times New Roman" panose="02020603050405020304" pitchFamily="18" charset="0"/>
                        </a:rPr>
                        <a:t>phải thực hiện</a:t>
                      </a:r>
                      <a:r>
                        <a:rPr lang="en-US" sz="1300" b="0" i="0" u="none" strike="noStrike" dirty="0">
                          <a:solidFill>
                            <a:srgbClr val="000000"/>
                          </a:solidFill>
                          <a:effectLst/>
                          <a:latin typeface="Times New Roman" panose="02020603050405020304" pitchFamily="18" charset="0"/>
                          <a:cs typeface="Times New Roman" panose="02020603050405020304" pitchFamily="18" charset="0"/>
                        </a:rPr>
                        <a:t> </a:t>
                      </a:r>
                      <a:r>
                        <a:rPr lang="vi-VN" sz="1300" b="0" i="0" u="none" strike="noStrike" dirty="0">
                          <a:solidFill>
                            <a:srgbClr val="000000"/>
                          </a:solidFill>
                          <a:effectLst/>
                          <a:latin typeface="Times New Roman" panose="02020603050405020304" pitchFamily="18" charset="0"/>
                          <a:cs typeface="Times New Roman" panose="02020603050405020304" pitchFamily="18" charset="0"/>
                        </a:rPr>
                        <a:t>ĐTM)</a:t>
                      </a: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76264294"/>
                  </a:ext>
                </a:extLst>
              </a:tr>
              <a:tr h="397392">
                <a:tc>
                  <a:txBody>
                    <a:bodyPr/>
                    <a:lstStyle/>
                    <a:p>
                      <a:pPr algn="ctr" fontAlgn="ctr"/>
                      <a:r>
                        <a:rPr lang="en-US" sz="13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300" b="0" i="0" u="none" strike="noStrike" dirty="0">
                          <a:solidFill>
                            <a:srgbClr val="000000"/>
                          </a:solidFill>
                          <a:effectLst/>
                          <a:latin typeface="Times New Roman" panose="02020603050405020304" pitchFamily="18" charset="0"/>
                          <a:cs typeface="Times New Roman" panose="02020603050405020304" pitchFamily="18" charset="0"/>
                        </a:rPr>
                        <a:t>Lập báo cáo đánh giá tác động môi trường</a:t>
                      </a: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vi-VN" sz="1300" b="0" i="0" u="none" strike="noStrike" dirty="0">
                          <a:solidFill>
                            <a:srgbClr val="000000"/>
                          </a:solidFill>
                          <a:effectLst/>
                          <a:latin typeface="Times New Roman" panose="02020603050405020304" pitchFamily="18" charset="0"/>
                          <a:cs typeface="Times New Roman" panose="02020603050405020304" pitchFamily="18" charset="0"/>
                        </a:rPr>
                        <a:t>Chủ đầu tư; Đơn vị tư vấn</a:t>
                      </a: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dirty="0" err="1">
                          <a:solidFill>
                            <a:srgbClr val="000000"/>
                          </a:solidFill>
                          <a:effectLst/>
                          <a:latin typeface="Times New Roman" panose="02020603050405020304" pitchFamily="18" charset="0"/>
                          <a:cs typeface="Times New Roman" panose="02020603050405020304" pitchFamily="18" charset="0"/>
                        </a:rPr>
                        <a:t>Các</a:t>
                      </a:r>
                      <a:r>
                        <a:rPr lang="en-US" sz="13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300" b="0" i="0" u="none" strike="noStrike" dirty="0" err="1">
                          <a:solidFill>
                            <a:srgbClr val="000000"/>
                          </a:solidFill>
                          <a:effectLst/>
                          <a:latin typeface="Times New Roman" panose="02020603050405020304" pitchFamily="18" charset="0"/>
                          <a:cs typeface="Times New Roman" panose="02020603050405020304" pitchFamily="18" charset="0"/>
                        </a:rPr>
                        <a:t>điều</a:t>
                      </a:r>
                      <a:r>
                        <a:rPr lang="en-US" sz="1300" b="0" i="0" u="none" strike="noStrike" dirty="0">
                          <a:solidFill>
                            <a:srgbClr val="000000"/>
                          </a:solidFill>
                          <a:effectLst/>
                          <a:latin typeface="Times New Roman" panose="02020603050405020304" pitchFamily="18" charset="0"/>
                          <a:cs typeface="Times New Roman" panose="02020603050405020304" pitchFamily="18" charset="0"/>
                        </a:rPr>
                        <a:t> 32, 32, 33 </a:t>
                      </a:r>
                      <a:r>
                        <a:rPr lang="en-US" sz="1300" b="0" i="0" u="none" strike="noStrike" dirty="0" err="1">
                          <a:solidFill>
                            <a:srgbClr val="000000"/>
                          </a:solidFill>
                          <a:effectLst/>
                          <a:latin typeface="Times New Roman" panose="02020603050405020304" pitchFamily="18" charset="0"/>
                          <a:cs typeface="Times New Roman" panose="02020603050405020304" pitchFamily="18" charset="0"/>
                        </a:rPr>
                        <a:t>Luật</a:t>
                      </a:r>
                      <a:r>
                        <a:rPr lang="en-US" sz="1300" b="0" i="0" u="none" strike="noStrike" dirty="0">
                          <a:solidFill>
                            <a:srgbClr val="000000"/>
                          </a:solidFill>
                          <a:effectLst/>
                          <a:latin typeface="Times New Roman" panose="02020603050405020304" pitchFamily="18" charset="0"/>
                          <a:cs typeface="Times New Roman" panose="02020603050405020304" pitchFamily="18" charset="0"/>
                        </a:rPr>
                        <a:t> BVMT 2020</a:t>
                      </a: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vi-VN" sz="1300" b="0" i="0" u="none" strike="noStrike" dirty="0">
                          <a:solidFill>
                            <a:srgbClr val="000000"/>
                          </a:solidFill>
                          <a:effectLst/>
                          <a:latin typeface="Times New Roman" panose="02020603050405020304" pitchFamily="18" charset="0"/>
                          <a:cs typeface="Times New Roman" panose="02020603050405020304" pitchFamily="18" charset="0"/>
                        </a:rPr>
                        <a:t>Mẫu số 02, 04 Thông tư 09</a:t>
                      </a: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84289367"/>
                  </a:ext>
                </a:extLst>
              </a:tr>
              <a:tr h="968804">
                <a:tc>
                  <a:txBody>
                    <a:bodyPr/>
                    <a:lstStyle/>
                    <a:p>
                      <a:pPr algn="ctr" fontAlgn="ctr"/>
                      <a:r>
                        <a:rPr lang="en-US" sz="13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300" b="0" i="0" u="none" strike="noStrike" dirty="0">
                          <a:solidFill>
                            <a:srgbClr val="000000"/>
                          </a:solidFill>
                          <a:effectLst/>
                          <a:latin typeface="Times New Roman" panose="02020603050405020304" pitchFamily="18" charset="0"/>
                          <a:cs typeface="Times New Roman" panose="02020603050405020304" pitchFamily="18" charset="0"/>
                        </a:rPr>
                        <a:t>Thẩm định và phê duyệt báo cáo đánh giá tác động môi trường</a:t>
                      </a: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vi-VN" sz="1300" b="0" i="0" u="none" strike="noStrike" dirty="0">
                          <a:solidFill>
                            <a:srgbClr val="000000"/>
                          </a:solidFill>
                          <a:effectLst/>
                          <a:latin typeface="Times New Roman" panose="02020603050405020304" pitchFamily="18" charset="0"/>
                          <a:cs typeface="Times New Roman" panose="02020603050405020304" pitchFamily="18" charset="0"/>
                        </a:rPr>
                        <a:t>Bộ NN&amp;MT;</a:t>
                      </a:r>
                      <a:r>
                        <a:rPr lang="en-US" sz="1300" b="0" i="0" u="none" strike="noStrike" dirty="0">
                          <a:solidFill>
                            <a:srgbClr val="000000"/>
                          </a:solidFill>
                          <a:effectLst/>
                          <a:latin typeface="Times New Roman" panose="02020603050405020304" pitchFamily="18" charset="0"/>
                          <a:cs typeface="Times New Roman" panose="02020603050405020304" pitchFamily="18" charset="0"/>
                        </a:rPr>
                        <a:t> </a:t>
                      </a:r>
                      <a:r>
                        <a:rPr lang="vi-VN" sz="1300" b="0" i="0" u="none" strike="noStrike" dirty="0">
                          <a:solidFill>
                            <a:srgbClr val="000000"/>
                          </a:solidFill>
                          <a:effectLst/>
                          <a:latin typeface="Times New Roman" panose="02020603050405020304" pitchFamily="18" charset="0"/>
                          <a:cs typeface="Times New Roman" panose="02020603050405020304" pitchFamily="18" charset="0"/>
                        </a:rPr>
                        <a:t>Sở NN&amp;MT;</a:t>
                      </a:r>
                      <a:br>
                        <a:rPr lang="vi-VN" sz="1300" b="0" i="0" u="none" strike="noStrike" dirty="0">
                          <a:solidFill>
                            <a:srgbClr val="000000"/>
                          </a:solidFill>
                          <a:effectLst/>
                          <a:latin typeface="Times New Roman" panose="02020603050405020304" pitchFamily="18" charset="0"/>
                          <a:cs typeface="Times New Roman" panose="02020603050405020304" pitchFamily="18" charset="0"/>
                        </a:rPr>
                      </a:br>
                      <a:r>
                        <a:rPr lang="vi-VN" sz="1300" b="0" i="0" u="none" strike="noStrike" dirty="0">
                          <a:solidFill>
                            <a:srgbClr val="000000"/>
                          </a:solidFill>
                          <a:effectLst/>
                          <a:latin typeface="Times New Roman" panose="02020603050405020304" pitchFamily="18" charset="0"/>
                          <a:cs typeface="Times New Roman" panose="02020603050405020304" pitchFamily="18" charset="0"/>
                        </a:rPr>
                        <a:t>Chủ tịch UBND phường (chỉ với dự án đầu tư công thuộc thẩm quyền phê duyệt dự án đầu tư của UBND cấp xã bao gồm cả trường hợp được ủy quyền)</a:t>
                      </a: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dirty="0" err="1">
                          <a:solidFill>
                            <a:srgbClr val="000000"/>
                          </a:solidFill>
                          <a:effectLst/>
                          <a:latin typeface="Times New Roman" panose="02020603050405020304" pitchFamily="18" charset="0"/>
                          <a:cs typeface="Times New Roman" panose="02020603050405020304" pitchFamily="18" charset="0"/>
                        </a:rPr>
                        <a:t>Các</a:t>
                      </a:r>
                      <a:r>
                        <a:rPr lang="en-US" sz="13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300" b="0" i="0" u="none" strike="noStrike" dirty="0" err="1">
                          <a:solidFill>
                            <a:srgbClr val="000000"/>
                          </a:solidFill>
                          <a:effectLst/>
                          <a:latin typeface="Times New Roman" panose="02020603050405020304" pitchFamily="18" charset="0"/>
                          <a:cs typeface="Times New Roman" panose="02020603050405020304" pitchFamily="18" charset="0"/>
                        </a:rPr>
                        <a:t>điều</a:t>
                      </a:r>
                      <a:r>
                        <a:rPr lang="en-US" sz="1300" b="0" i="0" u="none" strike="noStrike" dirty="0">
                          <a:solidFill>
                            <a:srgbClr val="000000"/>
                          </a:solidFill>
                          <a:effectLst/>
                          <a:latin typeface="Times New Roman" panose="02020603050405020304" pitchFamily="18" charset="0"/>
                          <a:cs typeface="Times New Roman" panose="02020603050405020304" pitchFamily="18" charset="0"/>
                        </a:rPr>
                        <a:t> 34, 35, 36 </a:t>
                      </a:r>
                      <a:r>
                        <a:rPr lang="en-US" sz="1300" b="0" i="0" u="none" strike="noStrike" dirty="0" err="1">
                          <a:solidFill>
                            <a:srgbClr val="000000"/>
                          </a:solidFill>
                          <a:effectLst/>
                          <a:latin typeface="Times New Roman" panose="02020603050405020304" pitchFamily="18" charset="0"/>
                          <a:cs typeface="Times New Roman" panose="02020603050405020304" pitchFamily="18" charset="0"/>
                        </a:rPr>
                        <a:t>Luật</a:t>
                      </a:r>
                      <a:r>
                        <a:rPr lang="en-US" sz="1300" b="0" i="0" u="none" strike="noStrike" dirty="0">
                          <a:solidFill>
                            <a:srgbClr val="000000"/>
                          </a:solidFill>
                          <a:effectLst/>
                          <a:latin typeface="Times New Roman" panose="02020603050405020304" pitchFamily="18" charset="0"/>
                          <a:cs typeface="Times New Roman" panose="02020603050405020304" pitchFamily="18" charset="0"/>
                        </a:rPr>
                        <a:t> BVMT 2020, </a:t>
                      </a:r>
                      <a:br>
                        <a:rPr lang="en-US" sz="1300" b="0" i="0" u="none" strike="noStrike" dirty="0">
                          <a:solidFill>
                            <a:srgbClr val="000000"/>
                          </a:solidFill>
                          <a:effectLst/>
                          <a:latin typeface="Times New Roman" panose="02020603050405020304" pitchFamily="18" charset="0"/>
                          <a:cs typeface="Times New Roman" panose="02020603050405020304" pitchFamily="18" charset="0"/>
                        </a:rPr>
                      </a:br>
                      <a:r>
                        <a:rPr lang="en-US" sz="1300" b="0" i="0" u="none" strike="noStrike" dirty="0" err="1">
                          <a:solidFill>
                            <a:srgbClr val="000000"/>
                          </a:solidFill>
                          <a:effectLst/>
                          <a:latin typeface="Times New Roman" panose="02020603050405020304" pitchFamily="18" charset="0"/>
                          <a:cs typeface="Times New Roman" panose="02020603050405020304" pitchFamily="18" charset="0"/>
                        </a:rPr>
                        <a:t>Phụ</a:t>
                      </a:r>
                      <a:r>
                        <a:rPr lang="en-US" sz="13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300" b="0" i="0" u="none" strike="noStrike" dirty="0" err="1">
                          <a:solidFill>
                            <a:srgbClr val="000000"/>
                          </a:solidFill>
                          <a:effectLst/>
                          <a:latin typeface="Times New Roman" panose="02020603050405020304" pitchFamily="18" charset="0"/>
                          <a:cs typeface="Times New Roman" panose="02020603050405020304" pitchFamily="18" charset="0"/>
                        </a:rPr>
                        <a:t>lục</a:t>
                      </a:r>
                      <a:r>
                        <a:rPr lang="en-US" sz="1300" b="0" i="0" u="none" strike="noStrike" dirty="0">
                          <a:solidFill>
                            <a:srgbClr val="000000"/>
                          </a:solidFill>
                          <a:effectLst/>
                          <a:latin typeface="Times New Roman" panose="02020603050405020304" pitchFamily="18" charset="0"/>
                          <a:cs typeface="Times New Roman" panose="02020603050405020304" pitchFamily="18" charset="0"/>
                        </a:rPr>
                        <a:t> QĐ </a:t>
                      </a:r>
                      <a:r>
                        <a:rPr lang="en-US" sz="1300" b="0" i="0" u="none" strike="noStrike" dirty="0" err="1">
                          <a:solidFill>
                            <a:srgbClr val="000000"/>
                          </a:solidFill>
                          <a:effectLst/>
                          <a:latin typeface="Times New Roman" panose="02020603050405020304" pitchFamily="18" charset="0"/>
                          <a:cs typeface="Times New Roman" panose="02020603050405020304" pitchFamily="18" charset="0"/>
                        </a:rPr>
                        <a:t>số</a:t>
                      </a:r>
                      <a:r>
                        <a:rPr lang="en-US" sz="1300" b="0" i="0" u="none" strike="noStrike" dirty="0">
                          <a:solidFill>
                            <a:srgbClr val="000000"/>
                          </a:solidFill>
                          <a:effectLst/>
                          <a:latin typeface="Times New Roman" panose="02020603050405020304" pitchFamily="18" charset="0"/>
                          <a:cs typeface="Times New Roman" panose="02020603050405020304" pitchFamily="18" charset="0"/>
                        </a:rPr>
                        <a:t> 1315/QĐ-UBND </a:t>
                      </a:r>
                      <a:r>
                        <a:rPr lang="en-US" sz="1300" b="0" i="0" u="none" strike="noStrike" dirty="0" err="1">
                          <a:solidFill>
                            <a:srgbClr val="000000"/>
                          </a:solidFill>
                          <a:effectLst/>
                          <a:latin typeface="Times New Roman" panose="02020603050405020304" pitchFamily="18" charset="0"/>
                          <a:cs typeface="Times New Roman" panose="02020603050405020304" pitchFamily="18" charset="0"/>
                        </a:rPr>
                        <a:t>ngày</a:t>
                      </a:r>
                      <a:r>
                        <a:rPr lang="en-US" sz="1300" b="0" i="0" u="none" strike="noStrike" dirty="0">
                          <a:solidFill>
                            <a:srgbClr val="000000"/>
                          </a:solidFill>
                          <a:effectLst/>
                          <a:latin typeface="Times New Roman" panose="02020603050405020304" pitchFamily="18" charset="0"/>
                          <a:cs typeface="Times New Roman" panose="02020603050405020304" pitchFamily="18" charset="0"/>
                        </a:rPr>
                        <a:t> 25/3/2026</a:t>
                      </a: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vi-VN" sz="1300" b="0" i="0" u="none" strike="noStrike" dirty="0">
                          <a:solidFill>
                            <a:srgbClr val="000000"/>
                          </a:solidFill>
                          <a:effectLst/>
                          <a:latin typeface="Times New Roman" panose="02020603050405020304" pitchFamily="18" charset="0"/>
                          <a:cs typeface="Times New Roman" panose="02020603050405020304" pitchFamily="18" charset="0"/>
                        </a:rPr>
                        <a:t>Mẫu số 10 Thông tư 09</a:t>
                      </a: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11406915"/>
                  </a:ext>
                </a:extLst>
              </a:tr>
              <a:tr h="348769">
                <a:tc>
                  <a:txBody>
                    <a:bodyPr/>
                    <a:lstStyle/>
                    <a:p>
                      <a:pPr algn="ctr" fontAlgn="ctr"/>
                      <a:r>
                        <a:rPr lang="en-US" sz="1300" b="0" i="0" u="none" strike="noStrike" dirty="0">
                          <a:solidFill>
                            <a:srgbClr val="000000"/>
                          </a:solidFill>
                          <a:effectLst/>
                          <a:latin typeface="Times New Roman" panose="02020603050405020304" pitchFamily="18" charset="0"/>
                          <a:cs typeface="Times New Roman" panose="02020603050405020304" pitchFamily="18" charset="0"/>
                        </a:rPr>
                        <a:t>8b</a:t>
                      </a: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300" b="0" i="0" u="none" strike="noStrike" dirty="0">
                          <a:solidFill>
                            <a:srgbClr val="000000"/>
                          </a:solidFill>
                          <a:effectLst/>
                          <a:latin typeface="Times New Roman" panose="02020603050405020304" pitchFamily="18" charset="0"/>
                          <a:cs typeface="Times New Roman" panose="02020603050405020304" pitchFamily="18" charset="0"/>
                        </a:rPr>
                        <a:t>Giấy phép môi trường</a:t>
                      </a: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 </a:t>
                      </a: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vi-VN" sz="1300" b="0" i="0" u="none" strike="noStrike" dirty="0">
                          <a:solidFill>
                            <a:srgbClr val="000000"/>
                          </a:solidFill>
                          <a:effectLst/>
                          <a:latin typeface="Times New Roman" panose="02020603050405020304" pitchFamily="18" charset="0"/>
                          <a:cs typeface="Times New Roman" panose="02020603050405020304" pitchFamily="18" charset="0"/>
                        </a:rPr>
                        <a:t>Đ39 Luật BVMT</a:t>
                      </a:r>
                      <a:r>
                        <a:rPr lang="en-US" sz="1300" b="0" i="0" u="none" strike="noStrike" dirty="0">
                          <a:solidFill>
                            <a:srgbClr val="000000"/>
                          </a:solidFill>
                          <a:effectLst/>
                          <a:latin typeface="Times New Roman" panose="02020603050405020304" pitchFamily="18" charset="0"/>
                          <a:cs typeface="Times New Roman" panose="02020603050405020304" pitchFamily="18" charset="0"/>
                        </a:rPr>
                        <a:t> </a:t>
                      </a:r>
                      <a:r>
                        <a:rPr lang="vi-VN" sz="1300" b="0" i="0" u="none" strike="noStrike" dirty="0">
                          <a:solidFill>
                            <a:srgbClr val="000000"/>
                          </a:solidFill>
                          <a:effectLst/>
                          <a:latin typeface="Times New Roman" panose="02020603050405020304" pitchFamily="18" charset="0"/>
                          <a:cs typeface="Times New Roman" panose="02020603050405020304" pitchFamily="18" charset="0"/>
                        </a:rPr>
                        <a:t>2020 (đối tượng</a:t>
                      </a:r>
                      <a:r>
                        <a:rPr lang="en-US" sz="1300" b="0" i="0" u="none" strike="noStrike" dirty="0">
                          <a:solidFill>
                            <a:srgbClr val="000000"/>
                          </a:solidFill>
                          <a:effectLst/>
                          <a:latin typeface="Times New Roman" panose="02020603050405020304" pitchFamily="18" charset="0"/>
                          <a:cs typeface="Times New Roman" panose="02020603050405020304" pitchFamily="18" charset="0"/>
                        </a:rPr>
                        <a:t> </a:t>
                      </a:r>
                      <a:r>
                        <a:rPr lang="vi-VN" sz="1300" b="0" i="0" u="none" strike="noStrike" dirty="0">
                          <a:solidFill>
                            <a:srgbClr val="000000"/>
                          </a:solidFill>
                          <a:effectLst/>
                          <a:latin typeface="Times New Roman" panose="02020603050405020304" pitchFamily="18" charset="0"/>
                          <a:cs typeface="Times New Roman" panose="02020603050405020304" pitchFamily="18" charset="0"/>
                        </a:rPr>
                        <a:t>phải có GPMT)</a:t>
                      </a: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70281444"/>
                  </a:ext>
                </a:extLst>
              </a:tr>
              <a:tr h="415201">
                <a:tc>
                  <a:txBody>
                    <a:bodyPr/>
                    <a:lstStyle/>
                    <a:p>
                      <a:pPr algn="ctr" fontAlgn="ctr"/>
                      <a:r>
                        <a:rPr lang="en-US" sz="1300" b="0" i="0" u="none" strike="noStrike">
                          <a:solidFill>
                            <a:srgbClr val="000000"/>
                          </a:solidFill>
                          <a:effectLst/>
                          <a:latin typeface="Times New Roman" panose="02020603050405020304" pitchFamily="18" charset="0"/>
                          <a:cs typeface="Times New Roman" panose="02020603050405020304" pitchFamily="18" charset="0"/>
                        </a:rPr>
                        <a:t> </a:t>
                      </a: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300" b="0" i="0" u="none" strike="noStrike" dirty="0" err="1">
                          <a:solidFill>
                            <a:srgbClr val="000000"/>
                          </a:solidFill>
                          <a:effectLst/>
                          <a:latin typeface="Times New Roman" panose="02020603050405020304" pitchFamily="18" charset="0"/>
                          <a:cs typeface="Times New Roman" panose="02020603050405020304" pitchFamily="18" charset="0"/>
                        </a:rPr>
                        <a:t>Lập</a:t>
                      </a:r>
                      <a:r>
                        <a:rPr lang="en-US" sz="13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300" b="0" i="0" u="none" strike="noStrike" dirty="0" err="1">
                          <a:solidFill>
                            <a:srgbClr val="000000"/>
                          </a:solidFill>
                          <a:effectLst/>
                          <a:latin typeface="Times New Roman" panose="02020603050405020304" pitchFamily="18" charset="0"/>
                          <a:cs typeface="Times New Roman" panose="02020603050405020304" pitchFamily="18" charset="0"/>
                        </a:rPr>
                        <a:t>báo</a:t>
                      </a:r>
                      <a:r>
                        <a:rPr lang="en-US" sz="13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300" b="0" i="0" u="none" strike="noStrike" dirty="0" err="1">
                          <a:solidFill>
                            <a:srgbClr val="000000"/>
                          </a:solidFill>
                          <a:effectLst/>
                          <a:latin typeface="Times New Roman" panose="02020603050405020304" pitchFamily="18" charset="0"/>
                          <a:cs typeface="Times New Roman" panose="02020603050405020304" pitchFamily="18" charset="0"/>
                        </a:rPr>
                        <a:t>cáo</a:t>
                      </a:r>
                      <a:r>
                        <a:rPr lang="en-US" sz="13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300" b="0" i="0" u="none" strike="noStrike" dirty="0" err="1">
                          <a:solidFill>
                            <a:srgbClr val="000000"/>
                          </a:solidFill>
                          <a:effectLst/>
                          <a:latin typeface="Times New Roman" panose="02020603050405020304" pitchFamily="18" charset="0"/>
                          <a:cs typeface="Times New Roman" panose="02020603050405020304" pitchFamily="18" charset="0"/>
                        </a:rPr>
                        <a:t>đề</a:t>
                      </a:r>
                      <a:r>
                        <a:rPr lang="en-US" sz="13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300" b="0" i="0" u="none" strike="noStrike" dirty="0" err="1">
                          <a:solidFill>
                            <a:srgbClr val="000000"/>
                          </a:solidFill>
                          <a:effectLst/>
                          <a:latin typeface="Times New Roman" panose="02020603050405020304" pitchFamily="18" charset="0"/>
                          <a:cs typeface="Times New Roman" panose="02020603050405020304" pitchFamily="18" charset="0"/>
                        </a:rPr>
                        <a:t>xuất</a:t>
                      </a:r>
                      <a:r>
                        <a:rPr lang="en-US" sz="13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300" b="0" i="0" u="none" strike="noStrike" dirty="0" err="1">
                          <a:solidFill>
                            <a:srgbClr val="000000"/>
                          </a:solidFill>
                          <a:effectLst/>
                          <a:latin typeface="Times New Roman" panose="02020603050405020304" pitchFamily="18" charset="0"/>
                          <a:cs typeface="Times New Roman" panose="02020603050405020304" pitchFamily="18" charset="0"/>
                        </a:rPr>
                        <a:t>cấp</a:t>
                      </a:r>
                      <a:r>
                        <a:rPr lang="en-US" sz="1300" b="0" i="0" u="none" strike="noStrike" dirty="0">
                          <a:solidFill>
                            <a:srgbClr val="000000"/>
                          </a:solidFill>
                          <a:effectLst/>
                          <a:latin typeface="Times New Roman" panose="02020603050405020304" pitchFamily="18" charset="0"/>
                          <a:cs typeface="Times New Roman" panose="02020603050405020304" pitchFamily="18" charset="0"/>
                        </a:rPr>
                        <a:t> GPMT</a:t>
                      </a: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vi-VN" sz="1300" b="0" i="0" u="none" strike="noStrike" dirty="0">
                          <a:solidFill>
                            <a:srgbClr val="000000"/>
                          </a:solidFill>
                          <a:effectLst/>
                          <a:latin typeface="Times New Roman" panose="02020603050405020304" pitchFamily="18" charset="0"/>
                          <a:cs typeface="Times New Roman" panose="02020603050405020304" pitchFamily="18" charset="0"/>
                        </a:rPr>
                        <a:t>Chủ đầu tư; Đơn vị tư vấn</a:t>
                      </a: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dirty="0">
                          <a:solidFill>
                            <a:srgbClr val="000000"/>
                          </a:solidFill>
                          <a:effectLst/>
                          <a:latin typeface="Times New Roman" panose="02020603050405020304" pitchFamily="18" charset="0"/>
                          <a:cs typeface="Times New Roman" panose="02020603050405020304" pitchFamily="18" charset="0"/>
                        </a:rPr>
                        <a:t>Đ40 </a:t>
                      </a:r>
                      <a:r>
                        <a:rPr lang="en-US" sz="1300" b="0" i="0" u="none" strike="noStrike" dirty="0" err="1">
                          <a:solidFill>
                            <a:srgbClr val="000000"/>
                          </a:solidFill>
                          <a:effectLst/>
                          <a:latin typeface="Times New Roman" panose="02020603050405020304" pitchFamily="18" charset="0"/>
                          <a:cs typeface="Times New Roman" panose="02020603050405020304" pitchFamily="18" charset="0"/>
                        </a:rPr>
                        <a:t>Luật</a:t>
                      </a:r>
                      <a:r>
                        <a:rPr lang="en-US" sz="1300" b="0" i="0" u="none" strike="noStrike" dirty="0">
                          <a:solidFill>
                            <a:srgbClr val="000000"/>
                          </a:solidFill>
                          <a:effectLst/>
                          <a:latin typeface="Times New Roman" panose="02020603050405020304" pitchFamily="18" charset="0"/>
                          <a:cs typeface="Times New Roman" panose="02020603050405020304" pitchFamily="18" charset="0"/>
                        </a:rPr>
                        <a:t> BVMT 2020</a:t>
                      </a: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vi-VN" sz="1300" b="0" i="0" u="none" strike="noStrike" dirty="0">
                          <a:solidFill>
                            <a:srgbClr val="000000"/>
                          </a:solidFill>
                          <a:effectLst/>
                          <a:latin typeface="Times New Roman" panose="02020603050405020304" pitchFamily="18" charset="0"/>
                          <a:cs typeface="Times New Roman" panose="02020603050405020304" pitchFamily="18" charset="0"/>
                        </a:rPr>
                        <a:t>Mẫu 22a, 22b Thông tư 09</a:t>
                      </a: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26614672"/>
                  </a:ext>
                </a:extLst>
              </a:tr>
              <a:tr h="968804">
                <a:tc>
                  <a:txBody>
                    <a:bodyPr/>
                    <a:lstStyle/>
                    <a:p>
                      <a:pPr algn="ctr" fontAlgn="ctr"/>
                      <a:r>
                        <a:rPr lang="en-US" sz="13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300" b="0" i="0" u="none" strike="noStrike" dirty="0" err="1">
                          <a:solidFill>
                            <a:srgbClr val="000000"/>
                          </a:solidFill>
                          <a:effectLst/>
                          <a:latin typeface="Times New Roman" panose="02020603050405020304" pitchFamily="18" charset="0"/>
                          <a:cs typeface="Times New Roman" panose="02020603050405020304" pitchFamily="18" charset="0"/>
                        </a:rPr>
                        <a:t>Thẩm</a:t>
                      </a:r>
                      <a:r>
                        <a:rPr lang="en-US" sz="13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300" b="0" i="0" u="none" strike="noStrike" dirty="0" err="1">
                          <a:solidFill>
                            <a:srgbClr val="000000"/>
                          </a:solidFill>
                          <a:effectLst/>
                          <a:latin typeface="Times New Roman" panose="02020603050405020304" pitchFamily="18" charset="0"/>
                          <a:cs typeface="Times New Roman" panose="02020603050405020304" pitchFamily="18" charset="0"/>
                        </a:rPr>
                        <a:t>định</a:t>
                      </a:r>
                      <a:r>
                        <a:rPr lang="en-US" sz="13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300" b="0" i="0" u="none" strike="noStrike" dirty="0" err="1">
                          <a:solidFill>
                            <a:srgbClr val="000000"/>
                          </a:solidFill>
                          <a:effectLst/>
                          <a:latin typeface="Times New Roman" panose="02020603050405020304" pitchFamily="18" charset="0"/>
                          <a:cs typeface="Times New Roman" panose="02020603050405020304" pitchFamily="18" charset="0"/>
                        </a:rPr>
                        <a:t>và</a:t>
                      </a:r>
                      <a:r>
                        <a:rPr lang="en-US" sz="13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300" b="0" i="0" u="none" strike="noStrike" dirty="0" err="1">
                          <a:solidFill>
                            <a:srgbClr val="000000"/>
                          </a:solidFill>
                          <a:effectLst/>
                          <a:latin typeface="Times New Roman" panose="02020603050405020304" pitchFamily="18" charset="0"/>
                          <a:cs typeface="Times New Roman" panose="02020603050405020304" pitchFamily="18" charset="0"/>
                        </a:rPr>
                        <a:t>phê</a:t>
                      </a:r>
                      <a:r>
                        <a:rPr lang="en-US" sz="13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300" b="0" i="0" u="none" strike="noStrike" dirty="0" err="1">
                          <a:solidFill>
                            <a:srgbClr val="000000"/>
                          </a:solidFill>
                          <a:effectLst/>
                          <a:latin typeface="Times New Roman" panose="02020603050405020304" pitchFamily="18" charset="0"/>
                          <a:cs typeface="Times New Roman" panose="02020603050405020304" pitchFamily="18" charset="0"/>
                        </a:rPr>
                        <a:t>duyệt</a:t>
                      </a:r>
                      <a:r>
                        <a:rPr lang="en-US" sz="1300" b="0" i="0" u="none" strike="noStrike" dirty="0">
                          <a:solidFill>
                            <a:srgbClr val="000000"/>
                          </a:solidFill>
                          <a:effectLst/>
                          <a:latin typeface="Times New Roman" panose="02020603050405020304" pitchFamily="18" charset="0"/>
                          <a:cs typeface="Times New Roman" panose="02020603050405020304" pitchFamily="18" charset="0"/>
                        </a:rPr>
                        <a:t> GPMT</a:t>
                      </a: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vi-VN" sz="1300" b="0" i="0" u="none" strike="noStrike" dirty="0">
                          <a:solidFill>
                            <a:srgbClr val="000000"/>
                          </a:solidFill>
                          <a:effectLst/>
                          <a:latin typeface="Times New Roman" panose="02020603050405020304" pitchFamily="18" charset="0"/>
                          <a:cs typeface="Times New Roman" panose="02020603050405020304" pitchFamily="18" charset="0"/>
                        </a:rPr>
                        <a:t>Bộ NN&amp;MT; Sở NN&amp;MT;</a:t>
                      </a:r>
                      <a:br>
                        <a:rPr lang="vi-VN" sz="1300" b="0" i="0" u="none" strike="noStrike" dirty="0">
                          <a:solidFill>
                            <a:srgbClr val="000000"/>
                          </a:solidFill>
                          <a:effectLst/>
                          <a:latin typeface="Times New Roman" panose="02020603050405020304" pitchFamily="18" charset="0"/>
                          <a:cs typeface="Times New Roman" panose="02020603050405020304" pitchFamily="18" charset="0"/>
                        </a:rPr>
                      </a:br>
                      <a:r>
                        <a:rPr lang="vi-VN" sz="1300" b="0" i="0" u="none" strike="noStrike" dirty="0">
                          <a:solidFill>
                            <a:srgbClr val="000000"/>
                          </a:solidFill>
                          <a:effectLst/>
                          <a:latin typeface="Times New Roman" panose="02020603050405020304" pitchFamily="18" charset="0"/>
                          <a:cs typeface="Times New Roman" panose="02020603050405020304" pitchFamily="18" charset="0"/>
                        </a:rPr>
                        <a:t>Chủ tịch UBND Phường (đối với các dự án thuộc thẩm quyền phê duyệt dự án đầu tư của UBND cấp xã ,bao gồm cả trường hợp được ủy quyền)</a:t>
                      </a: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dirty="0">
                          <a:solidFill>
                            <a:srgbClr val="000000"/>
                          </a:solidFill>
                          <a:effectLst/>
                          <a:latin typeface="Times New Roman" panose="02020603050405020304" pitchFamily="18" charset="0"/>
                          <a:cs typeface="Times New Roman" panose="02020603050405020304" pitchFamily="18" charset="0"/>
                        </a:rPr>
                        <a:t>Đ41 </a:t>
                      </a:r>
                      <a:r>
                        <a:rPr lang="en-US" sz="1300" b="0" i="0" u="none" strike="noStrike" dirty="0" err="1">
                          <a:solidFill>
                            <a:srgbClr val="000000"/>
                          </a:solidFill>
                          <a:effectLst/>
                          <a:latin typeface="Times New Roman" panose="02020603050405020304" pitchFamily="18" charset="0"/>
                          <a:cs typeface="Times New Roman" panose="02020603050405020304" pitchFamily="18" charset="0"/>
                        </a:rPr>
                        <a:t>Luật</a:t>
                      </a:r>
                      <a:r>
                        <a:rPr lang="en-US" sz="1300" b="0" i="0" u="none" strike="noStrike" dirty="0">
                          <a:solidFill>
                            <a:srgbClr val="000000"/>
                          </a:solidFill>
                          <a:effectLst/>
                          <a:latin typeface="Times New Roman" panose="02020603050405020304" pitchFamily="18" charset="0"/>
                          <a:cs typeface="Times New Roman" panose="02020603050405020304" pitchFamily="18" charset="0"/>
                        </a:rPr>
                        <a:t> BVMT 2020</a:t>
                      </a:r>
                      <a:br>
                        <a:rPr lang="en-US" sz="1300" b="0" i="0" u="none" strike="noStrike" dirty="0">
                          <a:solidFill>
                            <a:srgbClr val="000000"/>
                          </a:solidFill>
                          <a:effectLst/>
                          <a:latin typeface="Times New Roman" panose="02020603050405020304" pitchFamily="18" charset="0"/>
                          <a:cs typeface="Times New Roman" panose="02020603050405020304" pitchFamily="18" charset="0"/>
                        </a:rPr>
                      </a:br>
                      <a:r>
                        <a:rPr lang="en-US" sz="1300" b="0" i="0" u="none" strike="noStrike" dirty="0" err="1">
                          <a:solidFill>
                            <a:srgbClr val="000000"/>
                          </a:solidFill>
                          <a:effectLst/>
                          <a:latin typeface="Times New Roman" panose="02020603050405020304" pitchFamily="18" charset="0"/>
                          <a:cs typeface="Times New Roman" panose="02020603050405020304" pitchFamily="18" charset="0"/>
                        </a:rPr>
                        <a:t>Điểm</a:t>
                      </a:r>
                      <a:r>
                        <a:rPr lang="en-US" sz="1300" b="0" i="0" u="none" strike="noStrike" dirty="0">
                          <a:solidFill>
                            <a:srgbClr val="000000"/>
                          </a:solidFill>
                          <a:effectLst/>
                          <a:latin typeface="Times New Roman" panose="02020603050405020304" pitchFamily="18" charset="0"/>
                          <a:cs typeface="Times New Roman" panose="02020603050405020304" pitchFamily="18" charset="0"/>
                        </a:rPr>
                        <a:t> 1, </a:t>
                      </a:r>
                      <a:r>
                        <a:rPr lang="en-US" sz="1300" b="0" i="0" u="none" strike="noStrike" dirty="0" err="1">
                          <a:solidFill>
                            <a:srgbClr val="000000"/>
                          </a:solidFill>
                          <a:effectLst/>
                          <a:latin typeface="Times New Roman" panose="02020603050405020304" pitchFamily="18" charset="0"/>
                          <a:cs typeface="Times New Roman" panose="02020603050405020304" pitchFamily="18" charset="0"/>
                        </a:rPr>
                        <a:t>điều</a:t>
                      </a:r>
                      <a:r>
                        <a:rPr lang="en-US" sz="1300" b="0" i="0" u="none" strike="noStrike" dirty="0">
                          <a:solidFill>
                            <a:srgbClr val="000000"/>
                          </a:solidFill>
                          <a:effectLst/>
                          <a:latin typeface="Times New Roman" panose="02020603050405020304" pitchFamily="18" charset="0"/>
                          <a:cs typeface="Times New Roman" panose="02020603050405020304" pitchFamily="18" charset="0"/>
                        </a:rPr>
                        <a:t> 26, </a:t>
                      </a:r>
                      <a:r>
                        <a:rPr lang="en-US" sz="1300" b="0" i="0" u="none" strike="noStrike" dirty="0" err="1">
                          <a:solidFill>
                            <a:srgbClr val="000000"/>
                          </a:solidFill>
                          <a:effectLst/>
                          <a:latin typeface="Times New Roman" panose="02020603050405020304" pitchFamily="18" charset="0"/>
                          <a:cs typeface="Times New Roman" panose="02020603050405020304" pitchFamily="18" charset="0"/>
                        </a:rPr>
                        <a:t>mục</a:t>
                      </a:r>
                      <a:r>
                        <a:rPr lang="en-US" sz="1300" b="0" i="0" u="none" strike="noStrike" dirty="0">
                          <a:solidFill>
                            <a:srgbClr val="000000"/>
                          </a:solidFill>
                          <a:effectLst/>
                          <a:latin typeface="Times New Roman" panose="02020603050405020304" pitchFamily="18" charset="0"/>
                          <a:cs typeface="Times New Roman" panose="02020603050405020304" pitchFamily="18" charset="0"/>
                        </a:rPr>
                        <a:t> 3 NĐ 131</a:t>
                      </a:r>
                      <a:br>
                        <a:rPr lang="en-US" sz="1300" b="0" i="0" u="none" strike="noStrike" dirty="0">
                          <a:solidFill>
                            <a:srgbClr val="000000"/>
                          </a:solidFill>
                          <a:effectLst/>
                          <a:latin typeface="Times New Roman" panose="02020603050405020304" pitchFamily="18" charset="0"/>
                          <a:cs typeface="Times New Roman" panose="02020603050405020304" pitchFamily="18" charset="0"/>
                        </a:rPr>
                      </a:br>
                      <a:r>
                        <a:rPr lang="en-US" sz="1300" b="0" i="0" u="none" strike="noStrike" dirty="0" err="1">
                          <a:solidFill>
                            <a:srgbClr val="000000"/>
                          </a:solidFill>
                          <a:effectLst/>
                          <a:latin typeface="Times New Roman" panose="02020603050405020304" pitchFamily="18" charset="0"/>
                          <a:cs typeface="Times New Roman" panose="02020603050405020304" pitchFamily="18" charset="0"/>
                        </a:rPr>
                        <a:t>Phụ</a:t>
                      </a:r>
                      <a:r>
                        <a:rPr lang="en-US" sz="13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300" b="0" i="0" u="none" strike="noStrike" dirty="0" err="1">
                          <a:solidFill>
                            <a:srgbClr val="000000"/>
                          </a:solidFill>
                          <a:effectLst/>
                          <a:latin typeface="Times New Roman" panose="02020603050405020304" pitchFamily="18" charset="0"/>
                          <a:cs typeface="Times New Roman" panose="02020603050405020304" pitchFamily="18" charset="0"/>
                        </a:rPr>
                        <a:t>lục</a:t>
                      </a:r>
                      <a:r>
                        <a:rPr lang="en-US" sz="1300" b="0" i="0" u="none" strike="noStrike" dirty="0">
                          <a:solidFill>
                            <a:srgbClr val="000000"/>
                          </a:solidFill>
                          <a:effectLst/>
                          <a:latin typeface="Times New Roman" panose="02020603050405020304" pitchFamily="18" charset="0"/>
                          <a:cs typeface="Times New Roman" panose="02020603050405020304" pitchFamily="18" charset="0"/>
                        </a:rPr>
                        <a:t> QĐ </a:t>
                      </a:r>
                      <a:r>
                        <a:rPr lang="en-US" sz="1300" b="0" i="0" u="none" strike="noStrike" dirty="0" err="1">
                          <a:solidFill>
                            <a:srgbClr val="000000"/>
                          </a:solidFill>
                          <a:effectLst/>
                          <a:latin typeface="Times New Roman" panose="02020603050405020304" pitchFamily="18" charset="0"/>
                          <a:cs typeface="Times New Roman" panose="02020603050405020304" pitchFamily="18" charset="0"/>
                        </a:rPr>
                        <a:t>số</a:t>
                      </a:r>
                      <a:r>
                        <a:rPr lang="en-US" sz="1300" b="0" i="0" u="none" strike="noStrike" dirty="0">
                          <a:solidFill>
                            <a:srgbClr val="000000"/>
                          </a:solidFill>
                          <a:effectLst/>
                          <a:latin typeface="Times New Roman" panose="02020603050405020304" pitchFamily="18" charset="0"/>
                          <a:cs typeface="Times New Roman" panose="02020603050405020304" pitchFamily="18" charset="0"/>
                        </a:rPr>
                        <a:t> 1315</a:t>
                      </a: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vi-VN" sz="1300" b="0" i="0" u="none" strike="noStrike" dirty="0">
                          <a:solidFill>
                            <a:srgbClr val="000000"/>
                          </a:solidFill>
                          <a:effectLst/>
                          <a:latin typeface="Times New Roman" panose="02020603050405020304" pitchFamily="18" charset="0"/>
                          <a:cs typeface="Times New Roman" panose="02020603050405020304" pitchFamily="18" charset="0"/>
                        </a:rPr>
                        <a:t>Mẫu số 40 Thông tư 09</a:t>
                      </a: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99080214"/>
                  </a:ext>
                </a:extLst>
              </a:tr>
              <a:tr h="138400">
                <a:tc>
                  <a:txBody>
                    <a:bodyPr/>
                    <a:lstStyle/>
                    <a:p>
                      <a:pPr algn="ctr" fontAlgn="ctr"/>
                      <a:r>
                        <a:rPr lang="en-US" sz="1300" b="0" i="0" u="none" strike="noStrike" dirty="0">
                          <a:solidFill>
                            <a:srgbClr val="000000"/>
                          </a:solidFill>
                          <a:effectLst/>
                          <a:latin typeface="Times New Roman" panose="02020603050405020304" pitchFamily="18" charset="0"/>
                          <a:cs typeface="Times New Roman" panose="02020603050405020304" pitchFamily="18" charset="0"/>
                        </a:rPr>
                        <a:t>8c</a:t>
                      </a: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300" b="0" i="0" u="none" strike="noStrike">
                          <a:solidFill>
                            <a:srgbClr val="000000"/>
                          </a:solidFill>
                          <a:effectLst/>
                          <a:latin typeface="Times New Roman" panose="02020603050405020304" pitchFamily="18" charset="0"/>
                          <a:cs typeface="Times New Roman" panose="02020603050405020304" pitchFamily="18" charset="0"/>
                        </a:rPr>
                        <a:t>Đăng ký môi trường</a:t>
                      </a: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dirty="0">
                          <a:solidFill>
                            <a:srgbClr val="000000"/>
                          </a:solidFill>
                          <a:effectLst/>
                          <a:latin typeface="Times New Roman" panose="02020603050405020304" pitchFamily="18" charset="0"/>
                          <a:cs typeface="Times New Roman" panose="02020603050405020304" pitchFamily="18" charset="0"/>
                        </a:rPr>
                        <a:t>Đ49 </a:t>
                      </a:r>
                      <a:r>
                        <a:rPr lang="en-US" sz="1300" b="0" i="0" u="none" strike="noStrike" dirty="0" err="1">
                          <a:solidFill>
                            <a:srgbClr val="000000"/>
                          </a:solidFill>
                          <a:effectLst/>
                          <a:latin typeface="Times New Roman" panose="02020603050405020304" pitchFamily="18" charset="0"/>
                          <a:cs typeface="Times New Roman" panose="02020603050405020304" pitchFamily="18" charset="0"/>
                        </a:rPr>
                        <a:t>Luật</a:t>
                      </a:r>
                      <a:r>
                        <a:rPr lang="en-US" sz="1300" b="0" i="0" u="none" strike="noStrike" dirty="0">
                          <a:solidFill>
                            <a:srgbClr val="000000"/>
                          </a:solidFill>
                          <a:effectLst/>
                          <a:latin typeface="Times New Roman" panose="02020603050405020304" pitchFamily="18" charset="0"/>
                          <a:cs typeface="Times New Roman" panose="02020603050405020304" pitchFamily="18" charset="0"/>
                        </a:rPr>
                        <a:t> BVMT 2020</a:t>
                      </a: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45282268"/>
                  </a:ext>
                </a:extLst>
              </a:tr>
              <a:tr h="415201">
                <a:tc>
                  <a:txBody>
                    <a:bodyPr/>
                    <a:lstStyle/>
                    <a:p>
                      <a:pPr algn="ctr" fontAlgn="ctr"/>
                      <a:r>
                        <a:rPr lang="en-US" sz="13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300" b="0" i="0" u="none" strike="noStrike" dirty="0">
                          <a:solidFill>
                            <a:srgbClr val="000000"/>
                          </a:solidFill>
                          <a:effectLst/>
                          <a:latin typeface="Times New Roman" panose="02020603050405020304" pitchFamily="18" charset="0"/>
                          <a:cs typeface="Times New Roman" panose="02020603050405020304" pitchFamily="18" charset="0"/>
                        </a:rPr>
                        <a:t>Lập đăng ký môi trường</a:t>
                      </a: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vi-VN" sz="1300" b="0" i="0" u="none" strike="noStrike" dirty="0">
                          <a:solidFill>
                            <a:srgbClr val="000000"/>
                          </a:solidFill>
                          <a:effectLst/>
                          <a:latin typeface="Times New Roman" panose="02020603050405020304" pitchFamily="18" charset="0"/>
                          <a:cs typeface="Times New Roman" panose="02020603050405020304" pitchFamily="18" charset="0"/>
                        </a:rPr>
                        <a:t>CĐT; Đơn vị tư vấn</a:t>
                      </a: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dirty="0" err="1">
                          <a:solidFill>
                            <a:srgbClr val="000000"/>
                          </a:solidFill>
                          <a:effectLst/>
                          <a:latin typeface="Times New Roman" panose="02020603050405020304" pitchFamily="18" charset="0"/>
                          <a:cs typeface="Times New Roman" panose="02020603050405020304" pitchFamily="18" charset="0"/>
                        </a:rPr>
                        <a:t>khoản</a:t>
                      </a:r>
                      <a:r>
                        <a:rPr lang="en-US" sz="1300" b="0" i="0" u="none" strike="noStrike" dirty="0">
                          <a:solidFill>
                            <a:srgbClr val="000000"/>
                          </a:solidFill>
                          <a:effectLst/>
                          <a:latin typeface="Times New Roman" panose="02020603050405020304" pitchFamily="18" charset="0"/>
                          <a:cs typeface="Times New Roman" panose="02020603050405020304" pitchFamily="18" charset="0"/>
                        </a:rPr>
                        <a:t> 4 </a:t>
                      </a:r>
                      <a:r>
                        <a:rPr lang="en-US" sz="1300" b="0" i="0" u="none" strike="noStrike" dirty="0" err="1">
                          <a:solidFill>
                            <a:srgbClr val="000000"/>
                          </a:solidFill>
                          <a:effectLst/>
                          <a:latin typeface="Times New Roman" panose="02020603050405020304" pitchFamily="18" charset="0"/>
                          <a:cs typeface="Times New Roman" panose="02020603050405020304" pitchFamily="18" charset="0"/>
                        </a:rPr>
                        <a:t>Điều</a:t>
                      </a:r>
                      <a:r>
                        <a:rPr lang="en-US" sz="1300" b="0" i="0" u="none" strike="noStrike" dirty="0">
                          <a:solidFill>
                            <a:srgbClr val="000000"/>
                          </a:solidFill>
                          <a:effectLst/>
                          <a:latin typeface="Times New Roman" panose="02020603050405020304" pitchFamily="18" charset="0"/>
                          <a:cs typeface="Times New Roman" panose="02020603050405020304" pitchFamily="18" charset="0"/>
                        </a:rPr>
                        <a:t> 49 </a:t>
                      </a:r>
                      <a:r>
                        <a:rPr lang="en-US" sz="1300" b="0" i="0" u="none" strike="noStrike" dirty="0" err="1">
                          <a:solidFill>
                            <a:srgbClr val="000000"/>
                          </a:solidFill>
                          <a:effectLst/>
                          <a:latin typeface="Times New Roman" panose="02020603050405020304" pitchFamily="18" charset="0"/>
                          <a:cs typeface="Times New Roman" panose="02020603050405020304" pitchFamily="18" charset="0"/>
                        </a:rPr>
                        <a:t>Luật</a:t>
                      </a:r>
                      <a:r>
                        <a:rPr lang="en-US" sz="1300" b="0" i="0" u="none" strike="noStrike" dirty="0">
                          <a:solidFill>
                            <a:srgbClr val="000000"/>
                          </a:solidFill>
                          <a:effectLst/>
                          <a:latin typeface="Times New Roman" panose="02020603050405020304" pitchFamily="18" charset="0"/>
                          <a:cs typeface="Times New Roman" panose="02020603050405020304" pitchFamily="18" charset="0"/>
                        </a:rPr>
                        <a:t> BVMT 2020</a:t>
                      </a: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vi-VN" sz="1300" b="0" i="0" u="none" strike="noStrike" dirty="0">
                          <a:solidFill>
                            <a:srgbClr val="000000"/>
                          </a:solidFill>
                          <a:effectLst/>
                          <a:latin typeface="Times New Roman" panose="02020603050405020304" pitchFamily="18" charset="0"/>
                          <a:cs typeface="Times New Roman" panose="02020603050405020304" pitchFamily="18" charset="0"/>
                        </a:rPr>
                        <a:t>Mẫu số 47 Thông tư 07</a:t>
                      </a: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06317350"/>
                  </a:ext>
                </a:extLst>
              </a:tr>
              <a:tr h="276801">
                <a:tc>
                  <a:txBody>
                    <a:bodyPr/>
                    <a:lstStyle/>
                    <a:p>
                      <a:pPr algn="ctr" fontAlgn="ctr"/>
                      <a:r>
                        <a:rPr lang="en-US" sz="13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300" b="0" i="0" u="none" strike="noStrike" dirty="0">
                          <a:solidFill>
                            <a:srgbClr val="000000"/>
                          </a:solidFill>
                          <a:effectLst/>
                          <a:latin typeface="Times New Roman" panose="02020603050405020304" pitchFamily="18" charset="0"/>
                          <a:cs typeface="Times New Roman" panose="02020603050405020304" pitchFamily="18" charset="0"/>
                        </a:rPr>
                        <a:t>Tiếp nhận đăng ký môi trường</a:t>
                      </a: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vi-VN" sz="1300" b="0" i="0" u="none" strike="noStrike" dirty="0">
                          <a:solidFill>
                            <a:srgbClr val="000000"/>
                          </a:solidFill>
                          <a:effectLst/>
                          <a:latin typeface="Times New Roman" panose="02020603050405020304" pitchFamily="18" charset="0"/>
                          <a:cs typeface="Times New Roman" panose="02020603050405020304" pitchFamily="18" charset="0"/>
                        </a:rPr>
                        <a:t> Chủ tịch UBND xã/phường</a:t>
                      </a: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dirty="0" err="1">
                          <a:solidFill>
                            <a:srgbClr val="000000"/>
                          </a:solidFill>
                          <a:effectLst/>
                          <a:latin typeface="Times New Roman" panose="02020603050405020304" pitchFamily="18" charset="0"/>
                          <a:cs typeface="Times New Roman" panose="02020603050405020304" pitchFamily="18" charset="0"/>
                        </a:rPr>
                        <a:t>Điểm</a:t>
                      </a:r>
                      <a:r>
                        <a:rPr lang="en-US" sz="1300" b="0" i="0" u="none" strike="noStrike" dirty="0">
                          <a:solidFill>
                            <a:srgbClr val="000000"/>
                          </a:solidFill>
                          <a:effectLst/>
                          <a:latin typeface="Times New Roman" panose="02020603050405020304" pitchFamily="18" charset="0"/>
                          <a:cs typeface="Times New Roman" panose="02020603050405020304" pitchFamily="18" charset="0"/>
                        </a:rPr>
                        <a:t> 1, </a:t>
                      </a:r>
                      <a:r>
                        <a:rPr lang="en-US" sz="1300" b="0" i="0" u="none" strike="noStrike" dirty="0" err="1">
                          <a:solidFill>
                            <a:srgbClr val="000000"/>
                          </a:solidFill>
                          <a:effectLst/>
                          <a:latin typeface="Times New Roman" panose="02020603050405020304" pitchFamily="18" charset="0"/>
                          <a:cs typeface="Times New Roman" panose="02020603050405020304" pitchFamily="18" charset="0"/>
                        </a:rPr>
                        <a:t>điều</a:t>
                      </a:r>
                      <a:r>
                        <a:rPr lang="en-US" sz="1300" b="0" i="0" u="none" strike="noStrike" dirty="0">
                          <a:solidFill>
                            <a:srgbClr val="000000"/>
                          </a:solidFill>
                          <a:effectLst/>
                          <a:latin typeface="Times New Roman" panose="02020603050405020304" pitchFamily="18" charset="0"/>
                          <a:cs typeface="Times New Roman" panose="02020603050405020304" pitchFamily="18" charset="0"/>
                        </a:rPr>
                        <a:t> 29, </a:t>
                      </a:r>
                      <a:r>
                        <a:rPr lang="en-US" sz="1300" b="0" i="0" u="none" strike="noStrike" dirty="0" err="1">
                          <a:solidFill>
                            <a:srgbClr val="000000"/>
                          </a:solidFill>
                          <a:effectLst/>
                          <a:latin typeface="Times New Roman" panose="02020603050405020304" pitchFamily="18" charset="0"/>
                          <a:cs typeface="Times New Roman" panose="02020603050405020304" pitchFamily="18" charset="0"/>
                        </a:rPr>
                        <a:t>mục</a:t>
                      </a:r>
                      <a:r>
                        <a:rPr lang="en-US" sz="1300" b="0" i="0" u="none" strike="noStrike" dirty="0">
                          <a:solidFill>
                            <a:srgbClr val="000000"/>
                          </a:solidFill>
                          <a:effectLst/>
                          <a:latin typeface="Times New Roman" panose="02020603050405020304" pitchFamily="18" charset="0"/>
                          <a:cs typeface="Times New Roman" panose="02020603050405020304" pitchFamily="18" charset="0"/>
                        </a:rPr>
                        <a:t> 3 NĐ 131/2025/NĐ-CP</a:t>
                      </a: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3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4551" marR="4551" marT="45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34232288"/>
                  </a:ext>
                </a:extLst>
              </a:tr>
            </a:tbl>
          </a:graphicData>
        </a:graphic>
      </p:graphicFrame>
    </p:spTree>
    <p:extLst>
      <p:ext uri="{BB962C8B-B14F-4D97-AF65-F5344CB8AC3E}">
        <p14:creationId xmlns:p14="http://schemas.microsoft.com/office/powerpoint/2010/main" val="36420614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772A5-ADBB-3DF4-05FB-63BDFBABFAF3}"/>
            </a:ext>
          </a:extLst>
        </p:cNvPr>
        <p:cNvGrpSpPr/>
        <p:nvPr/>
      </p:nvGrpSpPr>
      <p:grpSpPr>
        <a:xfrm>
          <a:off x="0" y="0"/>
          <a:ext cx="0" cy="0"/>
          <a:chOff x="0" y="0"/>
          <a:chExt cx="0" cy="0"/>
        </a:xfrm>
      </p:grpSpPr>
      <p:sp>
        <p:nvSpPr>
          <p:cNvPr id="7" name="Title 10">
            <a:extLst>
              <a:ext uri="{FF2B5EF4-FFF2-40B4-BE49-F238E27FC236}">
                <a16:creationId xmlns:a16="http://schemas.microsoft.com/office/drawing/2014/main" id="{527CF74B-AC95-9407-0024-EEE2B6B2CBF9}"/>
              </a:ext>
            </a:extLst>
          </p:cNvPr>
          <p:cNvSpPr txBox="1">
            <a:spLocks/>
          </p:cNvSpPr>
          <p:nvPr/>
        </p:nvSpPr>
        <p:spPr>
          <a:xfrm>
            <a:off x="4221479" y="274320"/>
            <a:ext cx="3749040" cy="43891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1000"/>
              </a:lnSpc>
            </a:pP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QUY TRÌNH CHI TIẾT</a:t>
            </a:r>
          </a:p>
        </p:txBody>
      </p:sp>
      <p:graphicFrame>
        <p:nvGraphicFramePr>
          <p:cNvPr id="2" name="Table 1">
            <a:extLst>
              <a:ext uri="{FF2B5EF4-FFF2-40B4-BE49-F238E27FC236}">
                <a16:creationId xmlns:a16="http://schemas.microsoft.com/office/drawing/2014/main" id="{1032DD71-5BBD-8297-7471-1FEE5F04FECD}"/>
              </a:ext>
            </a:extLst>
          </p:cNvPr>
          <p:cNvGraphicFramePr>
            <a:graphicFrameLocks noGrp="1"/>
          </p:cNvGraphicFramePr>
          <p:nvPr>
            <p:extLst>
              <p:ext uri="{D42A27DB-BD31-4B8C-83A1-F6EECF244321}">
                <p14:modId xmlns:p14="http://schemas.microsoft.com/office/powerpoint/2010/main" val="3125607794"/>
              </p:ext>
            </p:extLst>
          </p:nvPr>
        </p:nvGraphicFramePr>
        <p:xfrm>
          <a:off x="850392" y="713232"/>
          <a:ext cx="10771633" cy="5522196"/>
        </p:xfrm>
        <a:graphic>
          <a:graphicData uri="http://schemas.openxmlformats.org/drawingml/2006/table">
            <a:tbl>
              <a:tblPr/>
              <a:tblGrid>
                <a:gridCol w="706109">
                  <a:extLst>
                    <a:ext uri="{9D8B030D-6E8A-4147-A177-3AD203B41FA5}">
                      <a16:colId xmlns:a16="http://schemas.microsoft.com/office/drawing/2014/main" val="961770849"/>
                    </a:ext>
                  </a:extLst>
                </a:gridCol>
                <a:gridCol w="4277371">
                  <a:extLst>
                    <a:ext uri="{9D8B030D-6E8A-4147-A177-3AD203B41FA5}">
                      <a16:colId xmlns:a16="http://schemas.microsoft.com/office/drawing/2014/main" val="3549141202"/>
                    </a:ext>
                  </a:extLst>
                </a:gridCol>
                <a:gridCol w="2514600">
                  <a:extLst>
                    <a:ext uri="{9D8B030D-6E8A-4147-A177-3AD203B41FA5}">
                      <a16:colId xmlns:a16="http://schemas.microsoft.com/office/drawing/2014/main" val="1995128415"/>
                    </a:ext>
                  </a:extLst>
                </a:gridCol>
                <a:gridCol w="1700784">
                  <a:extLst>
                    <a:ext uri="{9D8B030D-6E8A-4147-A177-3AD203B41FA5}">
                      <a16:colId xmlns:a16="http://schemas.microsoft.com/office/drawing/2014/main" val="443187110"/>
                    </a:ext>
                  </a:extLst>
                </a:gridCol>
                <a:gridCol w="1572769">
                  <a:extLst>
                    <a:ext uri="{9D8B030D-6E8A-4147-A177-3AD203B41FA5}">
                      <a16:colId xmlns:a16="http://schemas.microsoft.com/office/drawing/2014/main" val="121628833"/>
                    </a:ext>
                  </a:extLst>
                </a:gridCol>
              </a:tblGrid>
              <a:tr h="283464">
                <a:tc>
                  <a:txBody>
                    <a:bodyPr/>
                    <a:lstStyle/>
                    <a:p>
                      <a:pPr algn="l" fontAlgn="ctr">
                        <a:buNone/>
                      </a:pPr>
                      <a:r>
                        <a:rPr lang="vi-VN" sz="1400" b="1" i="0" u="none" strike="noStrike" dirty="0">
                          <a:solidFill>
                            <a:schemeClr val="tx1"/>
                          </a:solidFill>
                          <a:effectLst/>
                          <a:latin typeface="Times New Roman" panose="02020603050405020304" pitchFamily="18" charset="0"/>
                        </a:rPr>
                        <a:t>Bước 4</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4">
                  <a:txBody>
                    <a:bodyPr/>
                    <a:lstStyle/>
                    <a:p>
                      <a:pPr algn="l" fontAlgn="ctr">
                        <a:buNone/>
                      </a:pPr>
                      <a:r>
                        <a:rPr lang="en-US" sz="1400" b="1" i="0" u="none" strike="noStrike" dirty="0" err="1">
                          <a:solidFill>
                            <a:schemeClr val="tx1"/>
                          </a:solidFill>
                          <a:effectLst/>
                          <a:latin typeface="Times New Roman" panose="02020603050405020304" pitchFamily="18" charset="0"/>
                        </a:rPr>
                        <a:t>Tổ</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chức</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thực</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hiện</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công</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tác</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khảo</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sát</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lập</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chỉ</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giới</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cấp</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số</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liệu</a:t>
                      </a:r>
                      <a:r>
                        <a:rPr lang="en-US" sz="1400" b="1" i="0" u="none" strike="noStrike" dirty="0">
                          <a:solidFill>
                            <a:schemeClr val="tx1"/>
                          </a:solidFill>
                          <a:effectLst/>
                          <a:latin typeface="Times New Roman" panose="02020603050405020304" pitchFamily="18" charset="0"/>
                        </a:rPr>
                        <a:t> HTKT, </a:t>
                      </a:r>
                      <a:r>
                        <a:rPr lang="en-US" sz="1400" b="1" i="0" u="none" strike="noStrike" dirty="0" err="1">
                          <a:solidFill>
                            <a:schemeClr val="tx1"/>
                          </a:solidFill>
                          <a:effectLst/>
                          <a:latin typeface="Times New Roman" panose="02020603050405020304" pitchFamily="18" charset="0"/>
                        </a:rPr>
                        <a:t>quy</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hoạch</a:t>
                      </a:r>
                      <a:r>
                        <a:rPr lang="en-US" sz="1400" b="1" i="0" u="none" strike="noStrike" dirty="0">
                          <a:solidFill>
                            <a:schemeClr val="tx1"/>
                          </a:solidFill>
                          <a:effectLst/>
                          <a:latin typeface="Times New Roman" panose="02020603050405020304" pitchFamily="18" charset="0"/>
                        </a:rPr>
                        <a:t> TMB, </a:t>
                      </a:r>
                      <a:r>
                        <a:rPr lang="en-US" sz="1400" b="1" i="0" u="none" strike="noStrike" dirty="0" err="1">
                          <a:solidFill>
                            <a:schemeClr val="tx1"/>
                          </a:solidFill>
                          <a:effectLst/>
                          <a:latin typeface="Times New Roman" panose="02020603050405020304" pitchFamily="18" charset="0"/>
                        </a:rPr>
                        <a:t>lập</a:t>
                      </a:r>
                      <a:r>
                        <a:rPr lang="en-US" sz="1400" b="1" i="0" u="none" strike="noStrike" dirty="0">
                          <a:solidFill>
                            <a:schemeClr val="tx1"/>
                          </a:solidFill>
                          <a:effectLst/>
                          <a:latin typeface="Times New Roman" panose="02020603050405020304" pitchFamily="18" charset="0"/>
                        </a:rPr>
                        <a:t> BCKTKT/BCNCKT</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dirty="0"/>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58172067"/>
                  </a:ext>
                </a:extLst>
              </a:tr>
              <a:tr h="240470">
                <a:tc>
                  <a:txBody>
                    <a:bodyPr/>
                    <a:lstStyle/>
                    <a:p>
                      <a:pPr algn="ctr" fontAlgn="ctr">
                        <a:buNone/>
                      </a:pPr>
                      <a:r>
                        <a:rPr lang="en-US" sz="1400" b="1" i="0" u="none" strike="noStrike">
                          <a:solidFill>
                            <a:srgbClr val="000000"/>
                          </a:solidFill>
                          <a:effectLst/>
                          <a:latin typeface="Times New Roman" panose="02020603050405020304" pitchFamily="18" charset="0"/>
                        </a:rPr>
                        <a:t>Stt</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1" i="0" u="none" strike="noStrike">
                          <a:solidFill>
                            <a:srgbClr val="000000"/>
                          </a:solidFill>
                          <a:effectLst/>
                          <a:latin typeface="Times New Roman" panose="02020603050405020304" pitchFamily="18" charset="0"/>
                        </a:rPr>
                        <a:t>Nội dung</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vi-VN" sz="1400" b="1" i="0" u="none" strike="noStrike">
                          <a:solidFill>
                            <a:srgbClr val="000000"/>
                          </a:solidFill>
                          <a:effectLst/>
                          <a:latin typeface="Times New Roman" panose="02020603050405020304" pitchFamily="18" charset="0"/>
                        </a:rPr>
                        <a:t>Đơn vị thực hiện</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1" i="0" u="none" strike="noStrike">
                          <a:solidFill>
                            <a:srgbClr val="000000"/>
                          </a:solidFill>
                          <a:effectLst/>
                          <a:latin typeface="Times New Roman" panose="02020603050405020304" pitchFamily="18" charset="0"/>
                        </a:rPr>
                        <a:t>Điều, khoản áp dụng</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1" i="0" u="none" strike="noStrike">
                          <a:solidFill>
                            <a:srgbClr val="000000"/>
                          </a:solidFill>
                          <a:effectLst/>
                          <a:latin typeface="Times New Roman" panose="02020603050405020304" pitchFamily="18" charset="0"/>
                        </a:rPr>
                        <a:t>Biểu mẫu áp dụng</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66182270"/>
                  </a:ext>
                </a:extLst>
              </a:tr>
              <a:tr h="226468">
                <a:tc>
                  <a:txBody>
                    <a:bodyPr/>
                    <a:lstStyle/>
                    <a:p>
                      <a:pPr algn="ctr" fontAlgn="ctr">
                        <a:buNone/>
                      </a:pPr>
                      <a:r>
                        <a:rPr lang="en-US" sz="1400" b="0" i="0" u="none" strike="noStrike" dirty="0">
                          <a:solidFill>
                            <a:srgbClr val="000000"/>
                          </a:solidFill>
                          <a:effectLst/>
                          <a:latin typeface="Times New Roman" panose="02020603050405020304" pitchFamily="18" charset="0"/>
                        </a:rPr>
                        <a:t>9</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Thẩm</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định</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thiết</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kế</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về</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phòng</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cháy</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và</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chữa</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cháy</a:t>
                      </a:r>
                      <a:endParaRPr lang="en-US" sz="1400" b="0" i="0" u="none" strike="noStrike" dirty="0">
                        <a:solidFill>
                          <a:srgbClr val="000000"/>
                        </a:solidFill>
                        <a:effectLst/>
                        <a:latin typeface="Times New Roman" panose="02020603050405020304" pitchFamily="18" charset="0"/>
                      </a:endParaRP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vi-VN" sz="1400" b="0" i="0" u="none" strike="noStrike">
                          <a:solidFill>
                            <a:srgbClr val="000000"/>
                          </a:solidFill>
                          <a:effectLst/>
                          <a:latin typeface="Times New Roman" panose="02020603050405020304" pitchFamily="18" charset="0"/>
                        </a:rPr>
                        <a:t>Cơ quan công an</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a:solidFill>
                            <a:srgbClr val="000000"/>
                          </a:solidFill>
                          <a:effectLst/>
                          <a:latin typeface="Times New Roman" panose="02020603050405020304" pitchFamily="18" charset="0"/>
                        </a:rPr>
                        <a:t>Đ6 NĐ105</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a:solidFill>
                            <a:srgbClr val="000000"/>
                          </a:solidFill>
                          <a:effectLst/>
                          <a:latin typeface="Times New Roman" panose="02020603050405020304" pitchFamily="18" charset="0"/>
                        </a:rPr>
                        <a:t> </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6922138"/>
                  </a:ext>
                </a:extLst>
              </a:tr>
              <a:tr h="481126">
                <a:tc>
                  <a:txBody>
                    <a:bodyPr/>
                    <a:lstStyle/>
                    <a:p>
                      <a:pPr algn="ctr" fontAlgn="ctr">
                        <a:buNone/>
                      </a:pPr>
                      <a:r>
                        <a:rPr lang="en-US" sz="1400" b="0" i="0" u="none" strike="noStrike" dirty="0">
                          <a:solidFill>
                            <a:srgbClr val="000000"/>
                          </a:solidFill>
                          <a:effectLst/>
                          <a:latin typeface="Times New Roman" panose="02020603050405020304" pitchFamily="18" charset="0"/>
                        </a:rPr>
                        <a:t>10</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400" b="0" i="0" u="none" strike="noStrike">
                          <a:solidFill>
                            <a:srgbClr val="000000"/>
                          </a:solidFill>
                          <a:effectLst/>
                          <a:latin typeface="Times New Roman" panose="02020603050405020304" pitchFamily="18" charset="0"/>
                        </a:rPr>
                        <a:t>Lập hồ sơ, tờ trình phê duyệt Báo cáo KTKT, báo cáo nghiên cứu khả thi</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dirty="0">
                          <a:solidFill>
                            <a:srgbClr val="000000"/>
                          </a:solidFill>
                          <a:effectLst/>
                          <a:latin typeface="Times New Roman" panose="02020603050405020304" pitchFamily="18" charset="0"/>
                        </a:rPr>
                        <a:t>CĐT, ĐVTV </a:t>
                      </a:r>
                      <a:r>
                        <a:rPr lang="en-US" sz="1400" b="0" i="0" u="none" strike="noStrike" dirty="0" err="1">
                          <a:solidFill>
                            <a:srgbClr val="000000"/>
                          </a:solidFill>
                          <a:effectLst/>
                          <a:latin typeface="Times New Roman" panose="02020603050405020304" pitchFamily="18" charset="0"/>
                        </a:rPr>
                        <a:t>lập</a:t>
                      </a:r>
                      <a:r>
                        <a:rPr lang="en-US" sz="1400" b="0" i="0" u="none" strike="noStrike" dirty="0">
                          <a:solidFill>
                            <a:srgbClr val="000000"/>
                          </a:solidFill>
                          <a:effectLst/>
                          <a:latin typeface="Times New Roman" panose="02020603050405020304" pitchFamily="18" charset="0"/>
                        </a:rPr>
                        <a:t> BCNCKT/BCKTKT</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a:solidFill>
                            <a:srgbClr val="000000"/>
                          </a:solidFill>
                          <a:effectLst/>
                          <a:latin typeface="Times New Roman" panose="02020603050405020304" pitchFamily="18" charset="0"/>
                        </a:rPr>
                        <a:t>Đ11 NĐ15</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a:solidFill>
                            <a:srgbClr val="000000"/>
                          </a:solidFill>
                          <a:effectLst/>
                          <a:latin typeface="Times New Roman" panose="02020603050405020304" pitchFamily="18" charset="0"/>
                        </a:rPr>
                        <a:t>Mẫu số 01 NĐ175</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39355788"/>
                  </a:ext>
                </a:extLst>
              </a:tr>
              <a:tr h="259538">
                <a:tc>
                  <a:txBody>
                    <a:bodyPr/>
                    <a:lstStyle/>
                    <a:p>
                      <a:pPr algn="ctr" fontAlgn="ctr">
                        <a:buNone/>
                      </a:pPr>
                      <a:r>
                        <a:rPr lang="en-US" sz="1400" b="0" i="0" u="none" strike="noStrike" dirty="0">
                          <a:solidFill>
                            <a:srgbClr val="000000"/>
                          </a:solidFill>
                          <a:effectLst/>
                          <a:latin typeface="Times New Roman" panose="02020603050405020304" pitchFamily="18" charset="0"/>
                        </a:rPr>
                        <a:t>11</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400" b="0" i="0" u="none" strike="noStrike">
                          <a:solidFill>
                            <a:srgbClr val="000000"/>
                          </a:solidFill>
                          <a:effectLst/>
                          <a:latin typeface="Times New Roman" panose="02020603050405020304" pitchFamily="18" charset="0"/>
                        </a:rPr>
                        <a:t>Thẩm định Báo cáo KTKT, báo cáo nghiên cứu khả thi</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dirty="0">
                          <a:solidFill>
                            <a:srgbClr val="000000"/>
                          </a:solidFill>
                          <a:effectLst/>
                          <a:latin typeface="Times New Roman" panose="02020603050405020304" pitchFamily="18" charset="0"/>
                        </a:rPr>
                        <a:t> </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a:solidFill>
                            <a:srgbClr val="000000"/>
                          </a:solidFill>
                          <a:effectLst/>
                          <a:latin typeface="Times New Roman" panose="02020603050405020304" pitchFamily="18" charset="0"/>
                        </a:rPr>
                        <a:t> </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a:solidFill>
                            <a:srgbClr val="000000"/>
                          </a:solidFill>
                          <a:effectLst/>
                          <a:latin typeface="Times New Roman" panose="02020603050405020304" pitchFamily="18" charset="0"/>
                        </a:rPr>
                        <a:t> </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10081893"/>
                  </a:ext>
                </a:extLst>
              </a:tr>
              <a:tr h="958175">
                <a:tc>
                  <a:txBody>
                    <a:bodyPr/>
                    <a:lstStyle/>
                    <a:p>
                      <a:pPr algn="ctr" fontAlgn="ctr">
                        <a:buNone/>
                      </a:pPr>
                      <a:r>
                        <a:rPr lang="en-US" sz="1400" b="0" i="0" u="none" strike="noStrike" dirty="0">
                          <a:solidFill>
                            <a:srgbClr val="000000"/>
                          </a:solidFill>
                          <a:effectLst/>
                          <a:latin typeface="Times New Roman" panose="02020603050405020304" pitchFamily="18" charset="0"/>
                        </a:rPr>
                        <a:t> </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400" b="0" i="0" u="none" strike="noStrike">
                          <a:solidFill>
                            <a:srgbClr val="000000"/>
                          </a:solidFill>
                          <a:effectLst/>
                          <a:latin typeface="Times New Roman" panose="02020603050405020304" pitchFamily="18" charset="0"/>
                        </a:rPr>
                        <a:t>Tiếp nhận hồ sơ trình thẩm định</a:t>
                      </a:r>
                      <a:br>
                        <a:rPr lang="vi-VN" sz="1400" b="0" i="0" u="none" strike="noStrike">
                          <a:solidFill>
                            <a:srgbClr val="000000"/>
                          </a:solidFill>
                          <a:effectLst/>
                          <a:latin typeface="Times New Roman" panose="02020603050405020304" pitchFamily="18" charset="0"/>
                        </a:rPr>
                      </a:br>
                      <a:r>
                        <a:rPr lang="vi-VN" sz="1400" b="0" i="0" u="none" strike="noStrike">
                          <a:solidFill>
                            <a:srgbClr val="000000"/>
                          </a:solidFill>
                          <a:effectLst/>
                          <a:latin typeface="Times New Roman" panose="02020603050405020304" pitchFamily="18" charset="0"/>
                        </a:rPr>
                        <a:t>- Hồ sơ gồm: Tờ trình thẩm định dự án của CĐT; Dự án; Các tài liệu, văn bản có liên quan</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dirty="0">
                          <a:solidFill>
                            <a:srgbClr val="000000"/>
                          </a:solidFill>
                          <a:effectLst/>
                          <a:latin typeface="Times New Roman" panose="02020603050405020304" pitchFamily="18" charset="0"/>
                        </a:rPr>
                        <a:t>CQ </a:t>
                      </a:r>
                      <a:r>
                        <a:rPr lang="en-US" sz="1400" b="0" i="0" u="none" strike="noStrike" dirty="0" err="1">
                          <a:solidFill>
                            <a:srgbClr val="000000"/>
                          </a:solidFill>
                          <a:effectLst/>
                          <a:latin typeface="Times New Roman" panose="02020603050405020304" pitchFamily="18" charset="0"/>
                        </a:rPr>
                        <a:t>chủ</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trì</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thẩm</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định</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Sở</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quản</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lý</a:t>
                      </a:r>
                      <a:br>
                        <a:rPr lang="en-US" sz="1400" b="0" i="0" u="none" strike="noStrike" dirty="0">
                          <a:solidFill>
                            <a:srgbClr val="000000"/>
                          </a:solidFill>
                          <a:effectLst/>
                          <a:latin typeface="Times New Roman" panose="02020603050405020304" pitchFamily="18" charset="0"/>
                        </a:rPr>
                      </a:br>
                      <a:r>
                        <a:rPr lang="en-US" sz="1400" b="0" i="0" u="none" strike="noStrike" dirty="0">
                          <a:solidFill>
                            <a:srgbClr val="000000"/>
                          </a:solidFill>
                          <a:effectLst/>
                          <a:latin typeface="Times New Roman" panose="02020603050405020304" pitchFamily="18" charset="0"/>
                        </a:rPr>
                        <a:t>XDCT/p. KTHTĐT</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dirty="0">
                          <a:solidFill>
                            <a:srgbClr val="000000"/>
                          </a:solidFill>
                          <a:effectLst/>
                          <a:latin typeface="Times New Roman" panose="02020603050405020304" pitchFamily="18" charset="0"/>
                        </a:rPr>
                        <a:t>- Các </a:t>
                      </a:r>
                      <a:r>
                        <a:rPr lang="en-US" sz="1400" b="0" i="0" u="none" strike="noStrike" dirty="0" err="1">
                          <a:solidFill>
                            <a:srgbClr val="000000"/>
                          </a:solidFill>
                          <a:effectLst/>
                          <a:latin typeface="Times New Roman" panose="02020603050405020304" pitchFamily="18" charset="0"/>
                        </a:rPr>
                        <a:t>điều</a:t>
                      </a:r>
                      <a:r>
                        <a:rPr lang="en-US" sz="1400" b="0" i="0" u="none" strike="noStrike" dirty="0">
                          <a:solidFill>
                            <a:srgbClr val="000000"/>
                          </a:solidFill>
                          <a:effectLst/>
                          <a:latin typeface="Times New Roman" panose="02020603050405020304" pitchFamily="18" charset="0"/>
                        </a:rPr>
                        <a:t> 56 ÷ 59 </a:t>
                      </a:r>
                      <a:r>
                        <a:rPr lang="en-US" sz="1400" b="0" i="0" u="none" strike="noStrike" dirty="0" err="1">
                          <a:solidFill>
                            <a:srgbClr val="000000"/>
                          </a:solidFill>
                          <a:effectLst/>
                          <a:latin typeface="Times New Roman" panose="02020603050405020304" pitchFamily="18" charset="0"/>
                        </a:rPr>
                        <a:t>Luật</a:t>
                      </a:r>
                      <a:r>
                        <a:rPr lang="en-US" sz="1400" b="0" i="0" u="none" strike="noStrike" dirty="0">
                          <a:solidFill>
                            <a:srgbClr val="000000"/>
                          </a:solidFill>
                          <a:effectLst/>
                          <a:latin typeface="Times New Roman" panose="02020603050405020304" pitchFamily="18" charset="0"/>
                        </a:rPr>
                        <a:t> XD </a:t>
                      </a:r>
                      <a:r>
                        <a:rPr lang="en-US" sz="1400" b="0" i="0" u="none" strike="noStrike" dirty="0" err="1">
                          <a:solidFill>
                            <a:srgbClr val="000000"/>
                          </a:solidFill>
                          <a:effectLst/>
                          <a:latin typeface="Times New Roman" panose="02020603050405020304" pitchFamily="18" charset="0"/>
                        </a:rPr>
                        <a:t>năm</a:t>
                      </a:r>
                      <a:r>
                        <a:rPr lang="en-US" sz="1400" b="0" i="0" u="none" strike="noStrike" dirty="0">
                          <a:solidFill>
                            <a:srgbClr val="000000"/>
                          </a:solidFill>
                          <a:effectLst/>
                          <a:latin typeface="Times New Roman" panose="02020603050405020304" pitchFamily="18" charset="0"/>
                        </a:rPr>
                        <a:t> 2014</a:t>
                      </a:r>
                      <a:br>
                        <a:rPr lang="en-US" sz="1400" b="0" i="0" u="none" strike="noStrike" dirty="0">
                          <a:solidFill>
                            <a:srgbClr val="000000"/>
                          </a:solidFill>
                          <a:effectLst/>
                          <a:latin typeface="Times New Roman" panose="02020603050405020304" pitchFamily="18" charset="0"/>
                        </a:rPr>
                      </a:br>
                      <a:r>
                        <a:rPr lang="en-US" sz="1400" b="0" i="0" u="none" strike="noStrike" dirty="0">
                          <a:solidFill>
                            <a:srgbClr val="000000"/>
                          </a:solidFill>
                          <a:effectLst/>
                          <a:latin typeface="Times New Roman" panose="02020603050405020304" pitchFamily="18" charset="0"/>
                        </a:rPr>
                        <a:t>- K13 ÷ 16 Đ1 </a:t>
                      </a:r>
                      <a:r>
                        <a:rPr lang="en-US" sz="1400" b="0" i="0" u="none" strike="noStrike" dirty="0" err="1">
                          <a:solidFill>
                            <a:srgbClr val="000000"/>
                          </a:solidFill>
                          <a:effectLst/>
                          <a:latin typeface="Times New Roman" panose="02020603050405020304" pitchFamily="18" charset="0"/>
                        </a:rPr>
                        <a:t>Luật</a:t>
                      </a:r>
                      <a:r>
                        <a:rPr lang="en-US" sz="1400" b="0" i="0" u="none" strike="noStrike" dirty="0">
                          <a:solidFill>
                            <a:srgbClr val="000000"/>
                          </a:solidFill>
                          <a:effectLst/>
                          <a:latin typeface="Times New Roman" panose="02020603050405020304" pitchFamily="18" charset="0"/>
                        </a:rPr>
                        <a:t> XD </a:t>
                      </a:r>
                      <a:r>
                        <a:rPr lang="en-US" sz="1400" b="0" i="0" u="none" strike="noStrike" dirty="0" err="1">
                          <a:solidFill>
                            <a:srgbClr val="000000"/>
                          </a:solidFill>
                          <a:effectLst/>
                          <a:latin typeface="Times New Roman" panose="02020603050405020304" pitchFamily="18" charset="0"/>
                        </a:rPr>
                        <a:t>số</a:t>
                      </a:r>
                      <a:r>
                        <a:rPr lang="en-US" sz="1400" b="0" i="0" u="none" strike="noStrike" dirty="0">
                          <a:solidFill>
                            <a:srgbClr val="000000"/>
                          </a:solidFill>
                          <a:effectLst/>
                          <a:latin typeface="Times New Roman" panose="02020603050405020304" pitchFamily="18" charset="0"/>
                        </a:rPr>
                        <a:t> 62</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a:solidFill>
                            <a:srgbClr val="000000"/>
                          </a:solidFill>
                          <a:effectLst/>
                          <a:latin typeface="Times New Roman" panose="02020603050405020304" pitchFamily="18" charset="0"/>
                        </a:rPr>
                        <a:t> </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99944851"/>
                  </a:ext>
                </a:extLst>
              </a:tr>
              <a:tr h="988123">
                <a:tc>
                  <a:txBody>
                    <a:bodyPr/>
                    <a:lstStyle/>
                    <a:p>
                      <a:pPr algn="ctr" fontAlgn="ctr">
                        <a:buNone/>
                      </a:pPr>
                      <a:r>
                        <a:rPr lang="en-US" sz="1400" b="0" i="0" u="none" strike="noStrike">
                          <a:solidFill>
                            <a:srgbClr val="000000"/>
                          </a:solidFill>
                          <a:effectLst/>
                          <a:latin typeface="Times New Roman" panose="02020603050405020304" pitchFamily="18" charset="0"/>
                        </a:rPr>
                        <a:t> </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400" b="0" i="0" u="none" strike="noStrike">
                          <a:solidFill>
                            <a:srgbClr val="000000"/>
                          </a:solidFill>
                          <a:effectLst/>
                          <a:latin typeface="Times New Roman" panose="02020603050405020304" pitchFamily="18" charset="0"/>
                        </a:rPr>
                        <a:t>Lấy ý kiến tham gia thẩm định của các sở, ngành liên quan</a:t>
                      </a:r>
                      <a:br>
                        <a:rPr lang="en-US" sz="1400" b="0" i="0" u="none" strike="noStrike">
                          <a:solidFill>
                            <a:srgbClr val="000000"/>
                          </a:solidFill>
                          <a:effectLst/>
                          <a:latin typeface="Times New Roman" panose="02020603050405020304" pitchFamily="18" charset="0"/>
                        </a:rPr>
                      </a:br>
                      <a:r>
                        <a:rPr lang="en-US" sz="1400" b="0" i="0" u="none" strike="noStrike">
                          <a:solidFill>
                            <a:srgbClr val="000000"/>
                          </a:solidFill>
                          <a:effectLst/>
                          <a:latin typeface="Times New Roman" panose="02020603050405020304" pitchFamily="18" charset="0"/>
                        </a:rPr>
                        <a:t>*Thời gian có văn bản trả lời:</a:t>
                      </a:r>
                      <a:br>
                        <a:rPr lang="en-US" sz="1400" b="0" i="0" u="none" strike="noStrike">
                          <a:solidFill>
                            <a:srgbClr val="000000"/>
                          </a:solidFill>
                          <a:effectLst/>
                          <a:latin typeface="Times New Roman" panose="02020603050405020304" pitchFamily="18" charset="0"/>
                        </a:rPr>
                      </a:br>
                      <a:r>
                        <a:rPr lang="en-US" sz="1400" b="0" i="0" u="none" strike="noStrike">
                          <a:solidFill>
                            <a:srgbClr val="000000"/>
                          </a:solidFill>
                          <a:effectLst/>
                          <a:latin typeface="Times New Roman" panose="02020603050405020304" pitchFamily="18" charset="0"/>
                        </a:rPr>
                        <a:t>- DA nhóm A: không quá 25 ngày;</a:t>
                      </a:r>
                      <a:br>
                        <a:rPr lang="en-US" sz="1400" b="0" i="0" u="none" strike="noStrike">
                          <a:solidFill>
                            <a:srgbClr val="000000"/>
                          </a:solidFill>
                          <a:effectLst/>
                          <a:latin typeface="Times New Roman" panose="02020603050405020304" pitchFamily="18" charset="0"/>
                        </a:rPr>
                      </a:br>
                      <a:r>
                        <a:rPr lang="en-US" sz="1400" b="0" i="0" u="none" strike="noStrike">
                          <a:solidFill>
                            <a:srgbClr val="000000"/>
                          </a:solidFill>
                          <a:effectLst/>
                          <a:latin typeface="Times New Roman" panose="02020603050405020304" pitchFamily="18" charset="0"/>
                        </a:rPr>
                        <a:t>- DA nhóm B: không quá 15 ngày;</a:t>
                      </a:r>
                      <a:br>
                        <a:rPr lang="en-US" sz="1400" b="0" i="0" u="none" strike="noStrike">
                          <a:solidFill>
                            <a:srgbClr val="000000"/>
                          </a:solidFill>
                          <a:effectLst/>
                          <a:latin typeface="Times New Roman" panose="02020603050405020304" pitchFamily="18" charset="0"/>
                        </a:rPr>
                      </a:br>
                      <a:r>
                        <a:rPr lang="en-US" sz="1400" b="0" i="0" u="none" strike="noStrike">
                          <a:solidFill>
                            <a:srgbClr val="000000"/>
                          </a:solidFill>
                          <a:effectLst/>
                          <a:latin typeface="Times New Roman" panose="02020603050405020304" pitchFamily="18" charset="0"/>
                        </a:rPr>
                        <a:t>- DA nhóm C: không quá 10 ngày.</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dirty="0">
                          <a:solidFill>
                            <a:srgbClr val="000000"/>
                          </a:solidFill>
                          <a:effectLst/>
                          <a:latin typeface="Times New Roman" panose="02020603050405020304" pitchFamily="18" charset="0"/>
                        </a:rPr>
                        <a:t>CQ </a:t>
                      </a:r>
                      <a:r>
                        <a:rPr lang="en-US" sz="1400" b="0" i="0" u="none" strike="noStrike" dirty="0" err="1">
                          <a:solidFill>
                            <a:srgbClr val="000000"/>
                          </a:solidFill>
                          <a:effectLst/>
                          <a:latin typeface="Times New Roman" panose="02020603050405020304" pitchFamily="18" charset="0"/>
                        </a:rPr>
                        <a:t>chủ</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trì</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thẩm</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định</a:t>
                      </a:r>
                      <a:endParaRPr lang="en-US" sz="1400" b="0" i="0" u="none" strike="noStrike" dirty="0">
                        <a:solidFill>
                          <a:srgbClr val="000000"/>
                        </a:solidFill>
                        <a:effectLst/>
                        <a:latin typeface="Times New Roman" panose="02020603050405020304" pitchFamily="18" charset="0"/>
                      </a:endParaRP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a:solidFill>
                            <a:srgbClr val="000000"/>
                          </a:solidFill>
                          <a:effectLst/>
                          <a:latin typeface="Times New Roman" panose="02020603050405020304" pitchFamily="18" charset="0"/>
                        </a:rPr>
                        <a:t>- Đ7 NĐ số 10;</a:t>
                      </a:r>
                      <a:br>
                        <a:rPr lang="en-US" sz="1400" b="0" i="0" u="none" strike="noStrike">
                          <a:solidFill>
                            <a:srgbClr val="000000"/>
                          </a:solidFill>
                          <a:effectLst/>
                          <a:latin typeface="Times New Roman" panose="02020603050405020304" pitchFamily="18" charset="0"/>
                        </a:rPr>
                      </a:br>
                      <a:r>
                        <a:rPr lang="en-US" sz="1400" b="0" i="0" u="none" strike="noStrike">
                          <a:solidFill>
                            <a:srgbClr val="000000"/>
                          </a:solidFill>
                          <a:effectLst/>
                          <a:latin typeface="Times New Roman" panose="02020603050405020304" pitchFamily="18" charset="0"/>
                        </a:rPr>
                        <a:t>- Các điều 12 ÷ 17</a:t>
                      </a:r>
                      <a:br>
                        <a:rPr lang="en-US" sz="1400" b="0" i="0" u="none" strike="noStrike">
                          <a:solidFill>
                            <a:srgbClr val="000000"/>
                          </a:solidFill>
                          <a:effectLst/>
                          <a:latin typeface="Times New Roman" panose="02020603050405020304" pitchFamily="18" charset="0"/>
                        </a:rPr>
                      </a:br>
                      <a:r>
                        <a:rPr lang="en-US" sz="1400" b="0" i="0" u="none" strike="noStrike">
                          <a:solidFill>
                            <a:srgbClr val="000000"/>
                          </a:solidFill>
                          <a:effectLst/>
                          <a:latin typeface="Times New Roman" panose="02020603050405020304" pitchFamily="18" charset="0"/>
                        </a:rPr>
                        <a:t>NĐ15.</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a:solidFill>
                            <a:srgbClr val="000000"/>
                          </a:solidFill>
                          <a:effectLst/>
                          <a:latin typeface="Times New Roman" panose="02020603050405020304" pitchFamily="18" charset="0"/>
                        </a:rPr>
                        <a:t> </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55541937"/>
                  </a:ext>
                </a:extLst>
              </a:tr>
              <a:tr h="896084">
                <a:tc>
                  <a:txBody>
                    <a:bodyPr/>
                    <a:lstStyle/>
                    <a:p>
                      <a:pPr algn="ctr" fontAlgn="ctr">
                        <a:buNone/>
                      </a:pPr>
                      <a:r>
                        <a:rPr lang="en-US" sz="1400" b="0" i="0" u="none" strike="noStrike">
                          <a:solidFill>
                            <a:srgbClr val="000000"/>
                          </a:solidFill>
                          <a:effectLst/>
                          <a:latin typeface="Times New Roman" panose="02020603050405020304" pitchFamily="18" charset="0"/>
                        </a:rPr>
                        <a:t> </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400" b="0" i="0" u="none" strike="noStrike">
                          <a:solidFill>
                            <a:srgbClr val="000000"/>
                          </a:solidFill>
                          <a:effectLst/>
                          <a:latin typeface="Times New Roman" panose="02020603050405020304" pitchFamily="18" charset="0"/>
                        </a:rPr>
                        <a:t>Yêu cầu CĐT thực hiện thẩm tra (nếu cần thiết)</a:t>
                      </a:r>
                      <a:br>
                        <a:rPr lang="vi-VN" sz="1400" b="0" i="0" u="none" strike="noStrike">
                          <a:solidFill>
                            <a:srgbClr val="000000"/>
                          </a:solidFill>
                          <a:effectLst/>
                          <a:latin typeface="Times New Roman" panose="02020603050405020304" pitchFamily="18" charset="0"/>
                        </a:rPr>
                      </a:br>
                      <a:r>
                        <a:rPr lang="vi-VN" sz="1400" b="0" i="1" u="none" strike="noStrike">
                          <a:solidFill>
                            <a:srgbClr val="000000"/>
                          </a:solidFill>
                          <a:effectLst/>
                          <a:latin typeface="Times New Roman" panose="02020603050405020304" pitchFamily="18" charset="0"/>
                        </a:rPr>
                        <a:t>* Lưu ý nội dung đánh giá của tư vấn thẩm tra đối với các nội dung về PCCC theo văn bản hướng dẫn tại mục 4 văn bản số 5269/BXD-KTQLXD ngày 18/6/2025</a:t>
                      </a:r>
                      <a:endParaRPr lang="vi-VN" sz="1400" b="0" i="0" u="none" strike="noStrike">
                        <a:solidFill>
                          <a:srgbClr val="000000"/>
                        </a:solidFill>
                        <a:effectLst/>
                        <a:latin typeface="Times New Roman" panose="02020603050405020304" pitchFamily="18" charset="0"/>
                      </a:endParaRP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dirty="0">
                          <a:solidFill>
                            <a:srgbClr val="000000"/>
                          </a:solidFill>
                          <a:effectLst/>
                          <a:latin typeface="Times New Roman" panose="02020603050405020304" pitchFamily="18" charset="0"/>
                        </a:rPr>
                        <a:t>CQ </a:t>
                      </a:r>
                      <a:r>
                        <a:rPr lang="en-US" sz="1400" b="0" i="0" u="none" strike="noStrike" dirty="0" err="1">
                          <a:solidFill>
                            <a:srgbClr val="000000"/>
                          </a:solidFill>
                          <a:effectLst/>
                          <a:latin typeface="Times New Roman" panose="02020603050405020304" pitchFamily="18" charset="0"/>
                        </a:rPr>
                        <a:t>chủ</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trì</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thẩm</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định</a:t>
                      </a:r>
                      <a:r>
                        <a:rPr lang="en-US" sz="1400" b="0" i="0" u="none" strike="noStrike" dirty="0">
                          <a:solidFill>
                            <a:srgbClr val="000000"/>
                          </a:solidFill>
                          <a:effectLst/>
                          <a:latin typeface="Times New Roman" panose="02020603050405020304" pitchFamily="18" charset="0"/>
                        </a:rPr>
                        <a:t>, CĐT, TVTT</a:t>
                      </a:r>
                      <a:br>
                        <a:rPr lang="en-US" sz="1400" b="0" i="0" u="none" strike="noStrike" dirty="0">
                          <a:solidFill>
                            <a:srgbClr val="000000"/>
                          </a:solidFill>
                          <a:effectLst/>
                          <a:latin typeface="Times New Roman" panose="02020603050405020304" pitchFamily="18" charset="0"/>
                        </a:rPr>
                      </a:br>
                      <a:endParaRPr lang="en-US" sz="1400" b="0" i="0" u="none" strike="noStrike" dirty="0">
                        <a:solidFill>
                          <a:srgbClr val="000000"/>
                        </a:solidFill>
                        <a:effectLst/>
                        <a:latin typeface="Times New Roman" panose="02020603050405020304" pitchFamily="18" charset="0"/>
                      </a:endParaRP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a:solidFill>
                            <a:srgbClr val="000000"/>
                          </a:solidFill>
                          <a:effectLst/>
                          <a:latin typeface="Times New Roman" panose="02020603050405020304" pitchFamily="18" charset="0"/>
                        </a:rPr>
                        <a:t>K6 Đ19 NĐ175</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a:solidFill>
                            <a:srgbClr val="000000"/>
                          </a:solidFill>
                          <a:effectLst/>
                          <a:latin typeface="Times New Roman" panose="02020603050405020304" pitchFamily="18" charset="0"/>
                        </a:rPr>
                        <a:t> </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17227783"/>
                  </a:ext>
                </a:extLst>
              </a:tr>
              <a:tr h="1106424">
                <a:tc>
                  <a:txBody>
                    <a:bodyPr/>
                    <a:lstStyle/>
                    <a:p>
                      <a:pPr algn="ctr" fontAlgn="ctr">
                        <a:buNone/>
                      </a:pPr>
                      <a:r>
                        <a:rPr lang="en-US" sz="1400" b="0" i="0" u="none" strike="noStrike">
                          <a:solidFill>
                            <a:srgbClr val="000000"/>
                          </a:solidFill>
                          <a:effectLst/>
                          <a:latin typeface="Times New Roman" panose="02020603050405020304" pitchFamily="18" charset="0"/>
                        </a:rPr>
                        <a:t> </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400" b="0" i="0" u="none" strike="noStrike">
                          <a:solidFill>
                            <a:srgbClr val="000000"/>
                          </a:solidFill>
                          <a:effectLst/>
                          <a:latin typeface="Times New Roman" panose="02020603050405020304" pitchFamily="18" charset="0"/>
                        </a:rPr>
                        <a:t>Tổng hợp ý kiến, thông báo kết quả thẩm định</a:t>
                      </a:r>
                      <a:br>
                        <a:rPr lang="en-US" sz="1400" b="0" i="0" u="none" strike="noStrike">
                          <a:solidFill>
                            <a:srgbClr val="000000"/>
                          </a:solidFill>
                          <a:effectLst/>
                          <a:latin typeface="Times New Roman" panose="02020603050405020304" pitchFamily="18" charset="0"/>
                        </a:rPr>
                      </a:br>
                      <a:r>
                        <a:rPr lang="en-US" sz="1400" b="0" i="1" u="none" strike="noStrike">
                          <a:solidFill>
                            <a:srgbClr val="000000"/>
                          </a:solidFill>
                          <a:effectLst/>
                          <a:latin typeface="Times New Roman" panose="02020603050405020304" pitchFamily="18" charset="0"/>
                        </a:rPr>
                        <a:t>* Thời gian thẩm định:</a:t>
                      </a:r>
                      <a:br>
                        <a:rPr lang="en-US" sz="1400" b="0" i="1" u="none" strike="noStrike">
                          <a:solidFill>
                            <a:srgbClr val="000000"/>
                          </a:solidFill>
                          <a:effectLst/>
                          <a:latin typeface="Times New Roman" panose="02020603050405020304" pitchFamily="18" charset="0"/>
                        </a:rPr>
                      </a:br>
                      <a:r>
                        <a:rPr lang="en-US" sz="1400" b="0" i="1" u="none" strike="noStrike">
                          <a:solidFill>
                            <a:srgbClr val="000000"/>
                          </a:solidFill>
                          <a:effectLst/>
                          <a:latin typeface="Times New Roman" panose="02020603050405020304" pitchFamily="18" charset="0"/>
                        </a:rPr>
                        <a:t>- DA nhóm A: không quá 40 ngày;</a:t>
                      </a:r>
                      <a:br>
                        <a:rPr lang="en-US" sz="1400" b="0" i="1" u="none" strike="noStrike">
                          <a:solidFill>
                            <a:srgbClr val="000000"/>
                          </a:solidFill>
                          <a:effectLst/>
                          <a:latin typeface="Times New Roman" panose="02020603050405020304" pitchFamily="18" charset="0"/>
                        </a:rPr>
                      </a:br>
                      <a:r>
                        <a:rPr lang="en-US" sz="1400" b="0" i="1" u="none" strike="noStrike">
                          <a:solidFill>
                            <a:srgbClr val="000000"/>
                          </a:solidFill>
                          <a:effectLst/>
                          <a:latin typeface="Times New Roman" panose="02020603050405020304" pitchFamily="18" charset="0"/>
                        </a:rPr>
                        <a:t>- DA nhóm B: không quá 30 ngày;</a:t>
                      </a:r>
                      <a:br>
                        <a:rPr lang="en-US" sz="1400" b="0" i="1" u="none" strike="noStrike">
                          <a:solidFill>
                            <a:srgbClr val="000000"/>
                          </a:solidFill>
                          <a:effectLst/>
                          <a:latin typeface="Times New Roman" panose="02020603050405020304" pitchFamily="18" charset="0"/>
                        </a:rPr>
                      </a:br>
                      <a:r>
                        <a:rPr lang="en-US" sz="1400" b="0" i="1" u="none" strike="noStrike">
                          <a:solidFill>
                            <a:srgbClr val="000000"/>
                          </a:solidFill>
                          <a:effectLst/>
                          <a:latin typeface="Times New Roman" panose="02020603050405020304" pitchFamily="18" charset="0"/>
                        </a:rPr>
                        <a:t>- DA nhóm C: không quá 20 ngày</a:t>
                      </a:r>
                      <a:endParaRPr lang="en-US" sz="1400" b="0" i="0" u="none" strike="noStrike">
                        <a:solidFill>
                          <a:srgbClr val="000000"/>
                        </a:solidFill>
                        <a:effectLst/>
                        <a:latin typeface="Times New Roman" panose="02020603050405020304" pitchFamily="18" charset="0"/>
                      </a:endParaRP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a:solidFill>
                            <a:srgbClr val="000000"/>
                          </a:solidFill>
                          <a:effectLst/>
                          <a:latin typeface="Times New Roman" panose="02020603050405020304" pitchFamily="18" charset="0"/>
                        </a:rPr>
                        <a:t>CQ chủ trì thẩm định</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dirty="0">
                          <a:solidFill>
                            <a:srgbClr val="000000"/>
                          </a:solidFill>
                          <a:effectLst/>
                          <a:latin typeface="Times New Roman" panose="02020603050405020304" pitchFamily="18" charset="0"/>
                        </a:rPr>
                        <a:t>- Đ14 Quy </a:t>
                      </a:r>
                      <a:r>
                        <a:rPr lang="en-US" sz="1400" b="0" i="0" u="none" strike="noStrike" dirty="0" err="1">
                          <a:solidFill>
                            <a:srgbClr val="000000"/>
                          </a:solidFill>
                          <a:effectLst/>
                          <a:latin typeface="Times New Roman" panose="02020603050405020304" pitchFamily="18" charset="0"/>
                        </a:rPr>
                        <a:t>định</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của</a:t>
                      </a:r>
                      <a:br>
                        <a:rPr lang="en-US" sz="1400" b="0" i="0" u="none" strike="noStrike" dirty="0">
                          <a:solidFill>
                            <a:srgbClr val="000000"/>
                          </a:solidFill>
                          <a:effectLst/>
                          <a:latin typeface="Times New Roman" panose="02020603050405020304" pitchFamily="18" charset="0"/>
                        </a:rPr>
                      </a:br>
                      <a:r>
                        <a:rPr lang="en-US" sz="1400" b="0" i="0" u="none" strike="noStrike" dirty="0">
                          <a:solidFill>
                            <a:srgbClr val="000000"/>
                          </a:solidFill>
                          <a:effectLst/>
                          <a:latin typeface="Times New Roman" panose="02020603050405020304" pitchFamily="18" charset="0"/>
                        </a:rPr>
                        <a:t>QĐ </a:t>
                      </a:r>
                      <a:r>
                        <a:rPr lang="en-US" sz="1400" b="0" i="0" u="none" strike="noStrike" dirty="0" err="1">
                          <a:solidFill>
                            <a:srgbClr val="000000"/>
                          </a:solidFill>
                          <a:effectLst/>
                          <a:latin typeface="Times New Roman" panose="02020603050405020304" pitchFamily="18" charset="0"/>
                        </a:rPr>
                        <a:t>số</a:t>
                      </a:r>
                      <a:r>
                        <a:rPr lang="en-US" sz="1400" b="0" i="0" u="none" strike="noStrike" dirty="0">
                          <a:solidFill>
                            <a:srgbClr val="000000"/>
                          </a:solidFill>
                          <a:effectLst/>
                          <a:latin typeface="Times New Roman" panose="02020603050405020304" pitchFamily="18" charset="0"/>
                        </a:rPr>
                        <a:t> 15;</a:t>
                      </a:r>
                      <a:br>
                        <a:rPr lang="en-US" sz="1400" b="0" i="0" u="none" strike="noStrike" dirty="0">
                          <a:solidFill>
                            <a:srgbClr val="000000"/>
                          </a:solidFill>
                          <a:effectLst/>
                          <a:latin typeface="Times New Roman" panose="02020603050405020304" pitchFamily="18" charset="0"/>
                        </a:rPr>
                      </a:br>
                      <a:r>
                        <a:rPr lang="en-US" sz="1400" b="0" i="0" u="none" strike="noStrike" dirty="0">
                          <a:solidFill>
                            <a:srgbClr val="000000"/>
                          </a:solidFill>
                          <a:effectLst/>
                          <a:latin typeface="Times New Roman" panose="02020603050405020304" pitchFamily="18" charset="0"/>
                        </a:rPr>
                        <a:t>- K16 Đ1 </a:t>
                      </a:r>
                      <a:r>
                        <a:rPr lang="en-US" sz="1400" b="0" i="0" u="none" strike="noStrike" dirty="0" err="1">
                          <a:solidFill>
                            <a:srgbClr val="000000"/>
                          </a:solidFill>
                          <a:effectLst/>
                          <a:latin typeface="Times New Roman" panose="02020603050405020304" pitchFamily="18" charset="0"/>
                        </a:rPr>
                        <a:t>Luật</a:t>
                      </a:r>
                      <a:r>
                        <a:rPr lang="en-US" sz="1400" b="0" i="0" u="none" strike="noStrike" dirty="0">
                          <a:solidFill>
                            <a:srgbClr val="000000"/>
                          </a:solidFill>
                          <a:effectLst/>
                          <a:latin typeface="Times New Roman" panose="02020603050405020304" pitchFamily="18" charset="0"/>
                        </a:rPr>
                        <a:t> XD</a:t>
                      </a:r>
                      <a:br>
                        <a:rPr lang="en-US" sz="1400" b="0" i="0" u="none" strike="noStrike" dirty="0">
                          <a:solidFill>
                            <a:srgbClr val="000000"/>
                          </a:solidFill>
                          <a:effectLst/>
                          <a:latin typeface="Times New Roman" panose="02020603050405020304" pitchFamily="18" charset="0"/>
                        </a:rPr>
                      </a:br>
                      <a:r>
                        <a:rPr lang="en-US" sz="1400" b="0" i="0" u="none" strike="noStrike" dirty="0" err="1">
                          <a:solidFill>
                            <a:srgbClr val="000000"/>
                          </a:solidFill>
                          <a:effectLst/>
                          <a:latin typeface="Times New Roman" panose="02020603050405020304" pitchFamily="18" charset="0"/>
                        </a:rPr>
                        <a:t>số</a:t>
                      </a:r>
                      <a:r>
                        <a:rPr lang="en-US" sz="1400" b="0" i="0" u="none" strike="noStrike" dirty="0">
                          <a:solidFill>
                            <a:srgbClr val="000000"/>
                          </a:solidFill>
                          <a:effectLst/>
                          <a:latin typeface="Times New Roman" panose="02020603050405020304" pitchFamily="18" charset="0"/>
                        </a:rPr>
                        <a:t> 62.</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dirty="0" err="1">
                          <a:solidFill>
                            <a:srgbClr val="000000"/>
                          </a:solidFill>
                          <a:effectLst/>
                          <a:latin typeface="Times New Roman" panose="02020603050405020304" pitchFamily="18" charset="0"/>
                        </a:rPr>
                        <a:t>Mẫu</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số</a:t>
                      </a:r>
                      <a:r>
                        <a:rPr lang="en-US" sz="1400" b="0" i="0" u="none" strike="noStrike" dirty="0">
                          <a:solidFill>
                            <a:srgbClr val="000000"/>
                          </a:solidFill>
                          <a:effectLst/>
                          <a:latin typeface="Times New Roman" panose="02020603050405020304" pitchFamily="18" charset="0"/>
                        </a:rPr>
                        <a:t> 03 </a:t>
                      </a:r>
                      <a:r>
                        <a:rPr lang="en-US" sz="1400" b="0" i="0" u="none" strike="noStrike" dirty="0" err="1">
                          <a:solidFill>
                            <a:srgbClr val="000000"/>
                          </a:solidFill>
                          <a:effectLst/>
                          <a:latin typeface="Times New Roman" panose="02020603050405020304" pitchFamily="18" charset="0"/>
                        </a:rPr>
                        <a:t>và</a:t>
                      </a:r>
                      <a:r>
                        <a:rPr lang="en-US" sz="1400" b="0" i="0" u="none" strike="noStrike" dirty="0">
                          <a:solidFill>
                            <a:srgbClr val="000000"/>
                          </a:solidFill>
                          <a:effectLst/>
                          <a:latin typeface="Times New Roman" panose="02020603050405020304" pitchFamily="18" charset="0"/>
                        </a:rPr>
                        <a:t> 04 NĐ175</a:t>
                      </a:r>
                    </a:p>
                  </a:txBody>
                  <a:tcPr marL="3647" marR="3647" marT="36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50905455"/>
                  </a:ext>
                </a:extLst>
              </a:tr>
            </a:tbl>
          </a:graphicData>
        </a:graphic>
      </p:graphicFrame>
    </p:spTree>
    <p:extLst>
      <p:ext uri="{BB962C8B-B14F-4D97-AF65-F5344CB8AC3E}">
        <p14:creationId xmlns:p14="http://schemas.microsoft.com/office/powerpoint/2010/main" val="14332156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AD148-E3BA-5476-72D7-4B43860BBD0C}"/>
            </a:ext>
          </a:extLst>
        </p:cNvPr>
        <p:cNvGrpSpPr/>
        <p:nvPr/>
      </p:nvGrpSpPr>
      <p:grpSpPr>
        <a:xfrm>
          <a:off x="0" y="0"/>
          <a:ext cx="0" cy="0"/>
          <a:chOff x="0" y="0"/>
          <a:chExt cx="0" cy="0"/>
        </a:xfrm>
      </p:grpSpPr>
      <p:sp>
        <p:nvSpPr>
          <p:cNvPr id="7" name="Title 10">
            <a:extLst>
              <a:ext uri="{FF2B5EF4-FFF2-40B4-BE49-F238E27FC236}">
                <a16:creationId xmlns:a16="http://schemas.microsoft.com/office/drawing/2014/main" id="{CA5EB5B5-F053-A55C-23DA-93FD6660E79D}"/>
              </a:ext>
            </a:extLst>
          </p:cNvPr>
          <p:cNvSpPr txBox="1">
            <a:spLocks/>
          </p:cNvSpPr>
          <p:nvPr/>
        </p:nvSpPr>
        <p:spPr>
          <a:xfrm>
            <a:off x="4221479" y="274320"/>
            <a:ext cx="3749040" cy="43891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1000"/>
              </a:lnSpc>
            </a:pP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QUY TRÌNH CHI TIẾT</a:t>
            </a:r>
          </a:p>
        </p:txBody>
      </p:sp>
      <p:graphicFrame>
        <p:nvGraphicFramePr>
          <p:cNvPr id="3" name="Table 2">
            <a:extLst>
              <a:ext uri="{FF2B5EF4-FFF2-40B4-BE49-F238E27FC236}">
                <a16:creationId xmlns:a16="http://schemas.microsoft.com/office/drawing/2014/main" id="{96C8E1EF-DBDA-73F9-F98C-1248702B79B1}"/>
              </a:ext>
            </a:extLst>
          </p:cNvPr>
          <p:cNvGraphicFramePr>
            <a:graphicFrameLocks noGrp="1"/>
          </p:cNvGraphicFramePr>
          <p:nvPr>
            <p:extLst>
              <p:ext uri="{D42A27DB-BD31-4B8C-83A1-F6EECF244321}">
                <p14:modId xmlns:p14="http://schemas.microsoft.com/office/powerpoint/2010/main" val="3372790595"/>
              </p:ext>
            </p:extLst>
          </p:nvPr>
        </p:nvGraphicFramePr>
        <p:xfrm>
          <a:off x="1155699" y="866616"/>
          <a:ext cx="9880600" cy="3595656"/>
        </p:xfrm>
        <a:graphic>
          <a:graphicData uri="http://schemas.openxmlformats.org/drawingml/2006/table">
            <a:tbl>
              <a:tblPr/>
              <a:tblGrid>
                <a:gridCol w="647700">
                  <a:extLst>
                    <a:ext uri="{9D8B030D-6E8A-4147-A177-3AD203B41FA5}">
                      <a16:colId xmlns:a16="http://schemas.microsoft.com/office/drawing/2014/main" val="1702081033"/>
                    </a:ext>
                  </a:extLst>
                </a:gridCol>
                <a:gridCol w="2921000">
                  <a:extLst>
                    <a:ext uri="{9D8B030D-6E8A-4147-A177-3AD203B41FA5}">
                      <a16:colId xmlns:a16="http://schemas.microsoft.com/office/drawing/2014/main" val="4280146598"/>
                    </a:ext>
                  </a:extLst>
                </a:gridCol>
                <a:gridCol w="1941577">
                  <a:extLst>
                    <a:ext uri="{9D8B030D-6E8A-4147-A177-3AD203B41FA5}">
                      <a16:colId xmlns:a16="http://schemas.microsoft.com/office/drawing/2014/main" val="1158713056"/>
                    </a:ext>
                  </a:extLst>
                </a:gridCol>
                <a:gridCol w="2450592">
                  <a:extLst>
                    <a:ext uri="{9D8B030D-6E8A-4147-A177-3AD203B41FA5}">
                      <a16:colId xmlns:a16="http://schemas.microsoft.com/office/drawing/2014/main" val="3922972849"/>
                    </a:ext>
                  </a:extLst>
                </a:gridCol>
                <a:gridCol w="1919731">
                  <a:extLst>
                    <a:ext uri="{9D8B030D-6E8A-4147-A177-3AD203B41FA5}">
                      <a16:colId xmlns:a16="http://schemas.microsoft.com/office/drawing/2014/main" val="619436411"/>
                    </a:ext>
                  </a:extLst>
                </a:gridCol>
              </a:tblGrid>
              <a:tr h="407329">
                <a:tc>
                  <a:txBody>
                    <a:bodyPr/>
                    <a:lstStyle/>
                    <a:p>
                      <a:pPr algn="l" fontAlgn="ctr">
                        <a:buNone/>
                      </a:pPr>
                      <a:r>
                        <a:rPr lang="vi-VN" sz="1400" b="1" i="0" u="none" strike="noStrike" dirty="0">
                          <a:solidFill>
                            <a:schemeClr val="tx1"/>
                          </a:solidFill>
                          <a:effectLst/>
                          <a:latin typeface="Times New Roman" panose="02020603050405020304" pitchFamily="18" charset="0"/>
                        </a:rPr>
                        <a:t>Bước 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4">
                  <a:txBody>
                    <a:bodyPr/>
                    <a:lstStyle/>
                    <a:p>
                      <a:pPr algn="l" fontAlgn="ctr">
                        <a:buNone/>
                      </a:pPr>
                      <a:r>
                        <a:rPr lang="en-US" sz="1400" b="1" i="0" u="none" strike="noStrike" dirty="0" err="1">
                          <a:solidFill>
                            <a:schemeClr val="tx1"/>
                          </a:solidFill>
                          <a:effectLst/>
                          <a:latin typeface="Times New Roman" panose="02020603050405020304" pitchFamily="18" charset="0"/>
                        </a:rPr>
                        <a:t>Tổ</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chức</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thực</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hiện</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công</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tác</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khảo</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sát</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lập</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chỉ</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giới</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cấp</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số</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liệu</a:t>
                      </a:r>
                      <a:r>
                        <a:rPr lang="en-US" sz="1400" b="1" i="0" u="none" strike="noStrike" dirty="0">
                          <a:solidFill>
                            <a:schemeClr val="tx1"/>
                          </a:solidFill>
                          <a:effectLst/>
                          <a:latin typeface="Times New Roman" panose="02020603050405020304" pitchFamily="18" charset="0"/>
                        </a:rPr>
                        <a:t> HTKT, </a:t>
                      </a:r>
                      <a:r>
                        <a:rPr lang="en-US" sz="1400" b="1" i="0" u="none" strike="noStrike" dirty="0" err="1">
                          <a:solidFill>
                            <a:schemeClr val="tx1"/>
                          </a:solidFill>
                          <a:effectLst/>
                          <a:latin typeface="Times New Roman" panose="02020603050405020304" pitchFamily="18" charset="0"/>
                        </a:rPr>
                        <a:t>quy</a:t>
                      </a:r>
                      <a:r>
                        <a:rPr lang="en-US" sz="1400" b="1" i="0" u="none" strike="noStrike" dirty="0">
                          <a:solidFill>
                            <a:schemeClr val="tx1"/>
                          </a:solidFill>
                          <a:effectLst/>
                          <a:latin typeface="Times New Roman" panose="02020603050405020304" pitchFamily="18" charset="0"/>
                        </a:rPr>
                        <a:t> </a:t>
                      </a:r>
                      <a:r>
                        <a:rPr lang="en-US" sz="1400" b="1" i="0" u="none" strike="noStrike" dirty="0" err="1">
                          <a:solidFill>
                            <a:schemeClr val="tx1"/>
                          </a:solidFill>
                          <a:effectLst/>
                          <a:latin typeface="Times New Roman" panose="02020603050405020304" pitchFamily="18" charset="0"/>
                        </a:rPr>
                        <a:t>hoạch</a:t>
                      </a:r>
                      <a:r>
                        <a:rPr lang="en-US" sz="1400" b="1" i="0" u="none" strike="noStrike" dirty="0">
                          <a:solidFill>
                            <a:schemeClr val="tx1"/>
                          </a:solidFill>
                          <a:effectLst/>
                          <a:latin typeface="Times New Roman" panose="02020603050405020304" pitchFamily="18" charset="0"/>
                        </a:rPr>
                        <a:t> TMB, </a:t>
                      </a:r>
                      <a:r>
                        <a:rPr lang="en-US" sz="1400" b="1" i="0" u="none" strike="noStrike" dirty="0" err="1">
                          <a:solidFill>
                            <a:schemeClr val="tx1"/>
                          </a:solidFill>
                          <a:effectLst/>
                          <a:latin typeface="Times New Roman" panose="02020603050405020304" pitchFamily="18" charset="0"/>
                        </a:rPr>
                        <a:t>lập</a:t>
                      </a:r>
                      <a:r>
                        <a:rPr lang="en-US" sz="1400" b="1" i="0" u="none" strike="noStrike" dirty="0">
                          <a:solidFill>
                            <a:schemeClr val="tx1"/>
                          </a:solidFill>
                          <a:effectLst/>
                          <a:latin typeface="Times New Roman" panose="02020603050405020304" pitchFamily="18" charset="0"/>
                        </a:rPr>
                        <a:t> BCKTKT/BCNCKT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dirty="0"/>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84442054"/>
                  </a:ext>
                </a:extLst>
              </a:tr>
              <a:tr h="234546">
                <a:tc>
                  <a:txBody>
                    <a:bodyPr/>
                    <a:lstStyle/>
                    <a:p>
                      <a:pPr algn="ctr" fontAlgn="ctr">
                        <a:buNone/>
                      </a:pPr>
                      <a:r>
                        <a:rPr lang="en-US" sz="1400" b="1" i="0" u="none" strike="noStrike">
                          <a:solidFill>
                            <a:srgbClr val="000000"/>
                          </a:solidFill>
                          <a:effectLst/>
                          <a:latin typeface="Times New Roman" panose="02020603050405020304" pitchFamily="18" charset="0"/>
                        </a:rPr>
                        <a:t>Stt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1" i="0" u="none" strike="noStrike" dirty="0" err="1">
                          <a:solidFill>
                            <a:srgbClr val="000000"/>
                          </a:solidFill>
                          <a:effectLst/>
                          <a:latin typeface="Times New Roman" panose="02020603050405020304" pitchFamily="18" charset="0"/>
                        </a:rPr>
                        <a:t>Nội</a:t>
                      </a:r>
                      <a:r>
                        <a:rPr lang="en-US" sz="1400" b="1" i="0" u="none" strike="noStrike" dirty="0">
                          <a:solidFill>
                            <a:srgbClr val="000000"/>
                          </a:solidFill>
                          <a:effectLst/>
                          <a:latin typeface="Times New Roman" panose="02020603050405020304" pitchFamily="18" charset="0"/>
                        </a:rPr>
                        <a:t> dung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vi-VN" sz="1400" b="1" i="0" u="none" strike="noStrike">
                          <a:solidFill>
                            <a:srgbClr val="000000"/>
                          </a:solidFill>
                          <a:effectLst/>
                          <a:latin typeface="Times New Roman" panose="02020603050405020304" pitchFamily="18" charset="0"/>
                        </a:rPr>
                        <a:t>Đơn vị thực hiện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1" i="0" u="none" strike="noStrike">
                          <a:solidFill>
                            <a:srgbClr val="000000"/>
                          </a:solidFill>
                          <a:effectLst/>
                          <a:latin typeface="Times New Roman" panose="02020603050405020304" pitchFamily="18" charset="0"/>
                        </a:rPr>
                        <a:t>Điều, khoản áp dụng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1" i="0" u="none" strike="noStrike">
                          <a:solidFill>
                            <a:srgbClr val="000000"/>
                          </a:solidFill>
                          <a:effectLst/>
                          <a:latin typeface="Times New Roman" panose="02020603050405020304" pitchFamily="18" charset="0"/>
                        </a:rPr>
                        <a:t>Biểu mẫu áp dụng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43996963"/>
                  </a:ext>
                </a:extLst>
              </a:tr>
              <a:tr h="622736">
                <a:tc>
                  <a:txBody>
                    <a:bodyPr/>
                    <a:lstStyle/>
                    <a:p>
                      <a:pPr algn="ctr" fontAlgn="ctr">
                        <a:buNone/>
                      </a:pPr>
                      <a:r>
                        <a:rPr lang="en-US" sz="1400" b="0" i="0" u="none" strike="noStrike" dirty="0">
                          <a:solidFill>
                            <a:srgbClr val="000000"/>
                          </a:solidFill>
                          <a:effectLst/>
                          <a:latin typeface="Times New Roman" panose="02020603050405020304" pitchFamily="18" charset="0"/>
                        </a:rPr>
                        <a:t>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400" b="0" i="0" u="none" strike="noStrike" dirty="0" err="1">
                          <a:solidFill>
                            <a:srgbClr val="000000"/>
                          </a:solidFill>
                          <a:effectLst/>
                          <a:latin typeface="Times New Roman" panose="02020603050405020304" pitchFamily="18" charset="0"/>
                        </a:rPr>
                        <a:t>Phê</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duyệt</a:t>
                      </a:r>
                      <a:r>
                        <a:rPr lang="en-US" sz="1400" b="0" i="0" u="none" strike="noStrike" dirty="0">
                          <a:solidFill>
                            <a:srgbClr val="000000"/>
                          </a:solidFill>
                          <a:effectLst/>
                          <a:latin typeface="Times New Roman" panose="02020603050405020304" pitchFamily="18" charset="0"/>
                        </a:rPr>
                        <a:t> Báo </a:t>
                      </a:r>
                      <a:r>
                        <a:rPr lang="en-US" sz="1400" b="0" i="0" u="none" strike="noStrike" dirty="0" err="1">
                          <a:solidFill>
                            <a:srgbClr val="000000"/>
                          </a:solidFill>
                          <a:effectLst/>
                          <a:latin typeface="Times New Roman" panose="02020603050405020304" pitchFamily="18" charset="0"/>
                        </a:rPr>
                        <a:t>cáo</a:t>
                      </a:r>
                      <a:r>
                        <a:rPr lang="en-US" sz="1400" b="0" i="0" u="none" strike="noStrike" dirty="0">
                          <a:solidFill>
                            <a:srgbClr val="000000"/>
                          </a:solidFill>
                          <a:effectLst/>
                          <a:latin typeface="Times New Roman" panose="02020603050405020304" pitchFamily="18" charset="0"/>
                        </a:rPr>
                        <a:t> KTKT</a:t>
                      </a:r>
                    </a:p>
                    <a:p>
                      <a:pPr algn="l" fontAlgn="ctr">
                        <a:buNone/>
                      </a:pPr>
                      <a:r>
                        <a:rPr lang="en-US" sz="1400" b="0" i="0" u="none" strike="noStrike" dirty="0" err="1">
                          <a:solidFill>
                            <a:srgbClr val="000000"/>
                          </a:solidFill>
                          <a:effectLst/>
                          <a:latin typeface="Times New Roman" panose="02020603050405020304" pitchFamily="18" charset="0"/>
                        </a:rPr>
                        <a:t>Phê</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duyệt</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dự</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án</a:t>
                      </a:r>
                      <a:endParaRPr lang="en-US" sz="1400" b="0" i="0" u="none" strike="noStrike" dirty="0">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dirty="0">
                          <a:solidFill>
                            <a:srgbClr val="000000"/>
                          </a:solidFill>
                          <a:effectLst/>
                          <a:latin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dirty="0">
                          <a:solidFill>
                            <a:srgbClr val="000000"/>
                          </a:solidFill>
                          <a:effectLst/>
                          <a:latin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dirty="0">
                          <a:solidFill>
                            <a:srgbClr val="000000"/>
                          </a:solidFill>
                          <a:effectLst/>
                          <a:latin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38502954"/>
                  </a:ext>
                </a:extLst>
              </a:tr>
              <a:tr h="1036288">
                <a:tc>
                  <a:txBody>
                    <a:bodyPr/>
                    <a:lstStyle/>
                    <a:p>
                      <a:pPr algn="l" fontAlgn="b">
                        <a:buNone/>
                      </a:pPr>
                      <a:r>
                        <a:rPr lang="en-US" sz="1400" b="0" i="0" u="none" strike="noStrike">
                          <a:solidFill>
                            <a:srgbClr val="000000"/>
                          </a:solidFill>
                          <a:effectLst/>
                          <a:latin typeface="Times New Roman" panose="02020603050405020304" pitchFamily="18"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400" b="0" i="0" u="none" strike="noStrike" dirty="0">
                          <a:solidFill>
                            <a:srgbClr val="000000"/>
                          </a:solidFill>
                          <a:effectLst/>
                          <a:latin typeface="Times New Roman" panose="02020603050405020304" pitchFamily="18" charset="0"/>
                        </a:rPr>
                        <a:t>Trình duyệt quyết định đầu tư DA</a:t>
                      </a:r>
                      <a:br>
                        <a:rPr lang="vi-VN" sz="1400" b="0" i="0" u="none" strike="noStrike" dirty="0">
                          <a:solidFill>
                            <a:srgbClr val="000000"/>
                          </a:solidFill>
                          <a:effectLst/>
                          <a:latin typeface="Times New Roman" panose="02020603050405020304" pitchFamily="18" charset="0"/>
                        </a:rPr>
                      </a:br>
                      <a:r>
                        <a:rPr lang="vi-VN" sz="1400" b="0" i="1" u="none" strike="noStrike" dirty="0">
                          <a:solidFill>
                            <a:srgbClr val="000000"/>
                          </a:solidFill>
                          <a:effectLst/>
                          <a:latin typeface="Times New Roman" panose="02020603050405020304" pitchFamily="18" charset="0"/>
                        </a:rPr>
                        <a:t>* Thời gian phê duyệt:</a:t>
                      </a:r>
                      <a:br>
                        <a:rPr lang="vi-VN" sz="1400" b="0" i="1" u="none" strike="noStrike" dirty="0">
                          <a:solidFill>
                            <a:srgbClr val="000000"/>
                          </a:solidFill>
                          <a:effectLst/>
                          <a:latin typeface="Times New Roman" panose="02020603050405020304" pitchFamily="18" charset="0"/>
                        </a:rPr>
                      </a:br>
                      <a:r>
                        <a:rPr lang="vi-VN" sz="1400" b="0" i="1" u="none" strike="noStrike" dirty="0">
                          <a:solidFill>
                            <a:srgbClr val="000000"/>
                          </a:solidFill>
                          <a:effectLst/>
                          <a:latin typeface="Times New Roman" panose="02020603050405020304" pitchFamily="18" charset="0"/>
                        </a:rPr>
                        <a:t>- DA nhóm A: không quá 07 ngày;</a:t>
                      </a:r>
                      <a:br>
                        <a:rPr lang="vi-VN" sz="1400" b="0" i="1" u="none" strike="noStrike" dirty="0">
                          <a:solidFill>
                            <a:srgbClr val="000000"/>
                          </a:solidFill>
                          <a:effectLst/>
                          <a:latin typeface="Times New Roman" panose="02020603050405020304" pitchFamily="18" charset="0"/>
                        </a:rPr>
                      </a:br>
                      <a:r>
                        <a:rPr lang="vi-VN" sz="1400" b="0" i="1" u="none" strike="noStrike" dirty="0">
                          <a:solidFill>
                            <a:srgbClr val="000000"/>
                          </a:solidFill>
                          <a:effectLst/>
                          <a:latin typeface="Times New Roman" panose="02020603050405020304" pitchFamily="18" charset="0"/>
                        </a:rPr>
                        <a:t>- DA nhóm B, C: không quá 05 ngày</a:t>
                      </a:r>
                      <a:endParaRPr lang="vi-VN" sz="1400" b="0" i="0" u="none" strike="noStrike" dirty="0">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dirty="0">
                          <a:solidFill>
                            <a:srgbClr val="000000"/>
                          </a:solidFill>
                          <a:effectLst/>
                          <a:latin typeface="Times New Roman" panose="02020603050405020304" pitchFamily="18" charset="0"/>
                        </a:rPr>
                        <a:t>CQ </a:t>
                      </a:r>
                      <a:r>
                        <a:rPr lang="en-US" sz="1400" b="0" i="0" u="none" strike="noStrike" dirty="0" err="1">
                          <a:solidFill>
                            <a:srgbClr val="000000"/>
                          </a:solidFill>
                          <a:effectLst/>
                          <a:latin typeface="Times New Roman" panose="02020603050405020304" pitchFamily="18" charset="0"/>
                        </a:rPr>
                        <a:t>chủ</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trì</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thẩm</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định</a:t>
                      </a:r>
                      <a:endParaRPr lang="en-US" sz="1400" b="0" i="0" u="none" strike="noStrike" dirty="0">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dirty="0">
                          <a:solidFill>
                            <a:srgbClr val="000000"/>
                          </a:solidFill>
                          <a:effectLst/>
                          <a:latin typeface="Times New Roman" panose="02020603050405020304" pitchFamily="18" charset="0"/>
                        </a:rPr>
                        <a:t>K1Đ22 NĐ </a:t>
                      </a:r>
                      <a:r>
                        <a:rPr lang="en-US" sz="1400" b="0" i="0" u="none" strike="noStrike" dirty="0" err="1">
                          <a:solidFill>
                            <a:srgbClr val="000000"/>
                          </a:solidFill>
                          <a:effectLst/>
                          <a:latin typeface="Times New Roman" panose="02020603050405020304" pitchFamily="18" charset="0"/>
                        </a:rPr>
                        <a:t>số</a:t>
                      </a:r>
                      <a:r>
                        <a:rPr lang="en-US" sz="1400" b="0" i="0" u="none" strike="noStrike" dirty="0">
                          <a:solidFill>
                            <a:srgbClr val="000000"/>
                          </a:solidFill>
                          <a:effectLst/>
                          <a:latin typeface="Times New Roman" panose="02020603050405020304" pitchFamily="18" charset="0"/>
                        </a:rPr>
                        <a:t> 175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a:solidFill>
                            <a:srgbClr val="000000"/>
                          </a:solidFill>
                          <a:effectLst/>
                          <a:latin typeface="Times New Roman" panose="02020603050405020304" pitchFamily="18" charset="0"/>
                        </a:rPr>
                        <a:t>Mẫu số 01 NĐ175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0450245"/>
                  </a:ext>
                </a:extLst>
              </a:tr>
              <a:tr h="1294757">
                <a:tc>
                  <a:txBody>
                    <a:bodyPr/>
                    <a:lstStyle/>
                    <a:p>
                      <a:pPr algn="l" fontAlgn="b">
                        <a:buNone/>
                      </a:pPr>
                      <a:r>
                        <a:rPr lang="en-US" sz="1400" b="0" i="0" u="none" strike="noStrike" dirty="0">
                          <a:solidFill>
                            <a:srgbClr val="000000"/>
                          </a:solidFill>
                          <a:effectLst/>
                          <a:latin typeface="Times New Roman" panose="02020603050405020304" pitchFamily="18"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400" b="0" i="0" u="none" strike="noStrike" dirty="0" err="1">
                          <a:solidFill>
                            <a:srgbClr val="000000"/>
                          </a:solidFill>
                          <a:effectLst/>
                          <a:latin typeface="Times New Roman" panose="02020603050405020304" pitchFamily="18" charset="0"/>
                        </a:rPr>
                        <a:t>Phê</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duyệt</a:t>
                      </a:r>
                      <a:r>
                        <a:rPr lang="en-US" sz="1400" b="0" i="0" u="none" strike="noStrike" dirty="0">
                          <a:solidFill>
                            <a:srgbClr val="000000"/>
                          </a:solidFill>
                          <a:effectLst/>
                          <a:latin typeface="Times New Roman" panose="02020603050405020304" pitchFamily="18" charset="0"/>
                        </a:rPr>
                        <a:t> DA</a:t>
                      </a:r>
                      <a:br>
                        <a:rPr lang="en-US" sz="1400" b="0" i="0" u="none" strike="noStrike" dirty="0">
                          <a:solidFill>
                            <a:srgbClr val="000000"/>
                          </a:solidFill>
                          <a:effectLst/>
                          <a:latin typeface="Times New Roman" panose="02020603050405020304" pitchFamily="18" charset="0"/>
                        </a:rPr>
                      </a:br>
                      <a:r>
                        <a:rPr lang="en-US" sz="1400" b="0" i="1" u="none" strike="noStrike" dirty="0">
                          <a:solidFill>
                            <a:srgbClr val="000000"/>
                          </a:solidFill>
                          <a:effectLst/>
                          <a:latin typeface="Times New Roman" panose="02020603050405020304" pitchFamily="18" charset="0"/>
                        </a:rPr>
                        <a:t>* </a:t>
                      </a:r>
                      <a:r>
                        <a:rPr lang="en-US" sz="1400" b="0" i="1" u="none" strike="noStrike" dirty="0" err="1">
                          <a:solidFill>
                            <a:srgbClr val="000000"/>
                          </a:solidFill>
                          <a:effectLst/>
                          <a:latin typeface="Times New Roman" panose="02020603050405020304" pitchFamily="18" charset="0"/>
                        </a:rPr>
                        <a:t>Nội</a:t>
                      </a:r>
                      <a:r>
                        <a:rPr lang="en-US" sz="1400" b="0" i="1" u="none" strike="noStrike" dirty="0">
                          <a:solidFill>
                            <a:srgbClr val="000000"/>
                          </a:solidFill>
                          <a:effectLst/>
                          <a:latin typeface="Times New Roman" panose="02020603050405020304" pitchFamily="18" charset="0"/>
                        </a:rPr>
                        <a:t> dung </a:t>
                      </a:r>
                      <a:r>
                        <a:rPr lang="en-US" sz="1400" b="0" i="1" u="none" strike="noStrike" dirty="0" err="1">
                          <a:solidFill>
                            <a:srgbClr val="000000"/>
                          </a:solidFill>
                          <a:effectLst/>
                          <a:latin typeface="Times New Roman" panose="02020603050405020304" pitchFamily="18" charset="0"/>
                        </a:rPr>
                        <a:t>Quyết</a:t>
                      </a:r>
                      <a:r>
                        <a:rPr lang="en-US" sz="1400" b="0" i="1" u="none" strike="noStrike" dirty="0">
                          <a:solidFill>
                            <a:srgbClr val="000000"/>
                          </a:solidFill>
                          <a:effectLst/>
                          <a:latin typeface="Times New Roman" panose="02020603050405020304" pitchFamily="18" charset="0"/>
                        </a:rPr>
                        <a:t> </a:t>
                      </a:r>
                      <a:r>
                        <a:rPr lang="en-US" sz="1400" b="0" i="1" u="none" strike="noStrike" dirty="0" err="1">
                          <a:solidFill>
                            <a:srgbClr val="000000"/>
                          </a:solidFill>
                          <a:effectLst/>
                          <a:latin typeface="Times New Roman" panose="02020603050405020304" pitchFamily="18" charset="0"/>
                        </a:rPr>
                        <a:t>định</a:t>
                      </a:r>
                      <a:r>
                        <a:rPr lang="en-US" sz="1400" b="0" i="1" u="none" strike="noStrike" dirty="0">
                          <a:solidFill>
                            <a:srgbClr val="000000"/>
                          </a:solidFill>
                          <a:effectLst/>
                          <a:latin typeface="Times New Roman" panose="02020603050405020304" pitchFamily="18" charset="0"/>
                        </a:rPr>
                        <a:t> </a:t>
                      </a:r>
                      <a:r>
                        <a:rPr lang="en-US" sz="1400" b="0" i="1" u="none" strike="noStrike" dirty="0" err="1">
                          <a:solidFill>
                            <a:srgbClr val="000000"/>
                          </a:solidFill>
                          <a:effectLst/>
                          <a:latin typeface="Times New Roman" panose="02020603050405020304" pitchFamily="18" charset="0"/>
                        </a:rPr>
                        <a:t>phê</a:t>
                      </a:r>
                      <a:r>
                        <a:rPr lang="en-US" sz="1400" b="0" i="1" u="none" strike="noStrike" dirty="0">
                          <a:solidFill>
                            <a:srgbClr val="000000"/>
                          </a:solidFill>
                          <a:effectLst/>
                          <a:latin typeface="Times New Roman" panose="02020603050405020304" pitchFamily="18" charset="0"/>
                        </a:rPr>
                        <a:t> </a:t>
                      </a:r>
                      <a:r>
                        <a:rPr lang="en-US" sz="1400" b="0" i="1" u="none" strike="noStrike" dirty="0" err="1">
                          <a:solidFill>
                            <a:srgbClr val="000000"/>
                          </a:solidFill>
                          <a:effectLst/>
                          <a:latin typeface="Times New Roman" panose="02020603050405020304" pitchFamily="18" charset="0"/>
                        </a:rPr>
                        <a:t>duyệt</a:t>
                      </a:r>
                      <a:r>
                        <a:rPr lang="en-US" sz="1400" b="0" i="1" u="none" strike="noStrike" dirty="0">
                          <a:solidFill>
                            <a:srgbClr val="000000"/>
                          </a:solidFill>
                          <a:effectLst/>
                          <a:latin typeface="Times New Roman" panose="02020603050405020304" pitchFamily="18" charset="0"/>
                        </a:rPr>
                        <a:t> </a:t>
                      </a:r>
                      <a:r>
                        <a:rPr lang="en-US" sz="1400" b="0" i="1" u="none" strike="noStrike" dirty="0" err="1">
                          <a:solidFill>
                            <a:srgbClr val="000000"/>
                          </a:solidFill>
                          <a:effectLst/>
                          <a:latin typeface="Times New Roman" panose="02020603050405020304" pitchFamily="18" charset="0"/>
                        </a:rPr>
                        <a:t>dự</a:t>
                      </a:r>
                      <a:r>
                        <a:rPr lang="en-US" sz="1400" b="0" i="1" u="none" strike="noStrike" dirty="0">
                          <a:solidFill>
                            <a:srgbClr val="000000"/>
                          </a:solidFill>
                          <a:effectLst/>
                          <a:latin typeface="Times New Roman" panose="02020603050405020304" pitchFamily="18" charset="0"/>
                        </a:rPr>
                        <a:t> </a:t>
                      </a:r>
                      <a:r>
                        <a:rPr lang="en-US" sz="1400" b="0" i="1" u="none" strike="noStrike" dirty="0" err="1">
                          <a:solidFill>
                            <a:srgbClr val="000000"/>
                          </a:solidFill>
                          <a:effectLst/>
                          <a:latin typeface="Times New Roman" panose="02020603050405020304" pitchFamily="18" charset="0"/>
                        </a:rPr>
                        <a:t>án</a:t>
                      </a:r>
                      <a:r>
                        <a:rPr lang="en-US" sz="1400" b="0" i="1" u="none" strike="noStrike" dirty="0">
                          <a:solidFill>
                            <a:srgbClr val="000000"/>
                          </a:solidFill>
                          <a:effectLst/>
                          <a:latin typeface="Times New Roman" panose="02020603050405020304" pitchFamily="18" charset="0"/>
                        </a:rPr>
                        <a:t> </a:t>
                      </a:r>
                      <a:r>
                        <a:rPr lang="en-US" sz="1400" b="0" i="1" u="none" strike="noStrike" dirty="0" err="1">
                          <a:solidFill>
                            <a:srgbClr val="000000"/>
                          </a:solidFill>
                          <a:effectLst/>
                          <a:latin typeface="Times New Roman" panose="02020603050405020304" pitchFamily="18" charset="0"/>
                        </a:rPr>
                        <a:t>quy</a:t>
                      </a:r>
                      <a:r>
                        <a:rPr lang="en-US" sz="1400" b="0" i="1" u="none" strike="noStrike" dirty="0">
                          <a:solidFill>
                            <a:srgbClr val="000000"/>
                          </a:solidFill>
                          <a:effectLst/>
                          <a:latin typeface="Times New Roman" panose="02020603050405020304" pitchFamily="18" charset="0"/>
                        </a:rPr>
                        <a:t> </a:t>
                      </a:r>
                      <a:r>
                        <a:rPr lang="en-US" sz="1400" b="0" i="1" u="none" strike="noStrike" dirty="0" err="1">
                          <a:solidFill>
                            <a:srgbClr val="000000"/>
                          </a:solidFill>
                          <a:effectLst/>
                          <a:latin typeface="Times New Roman" panose="02020603050405020304" pitchFamily="18" charset="0"/>
                        </a:rPr>
                        <a:t>định</a:t>
                      </a:r>
                      <a:r>
                        <a:rPr lang="en-US" sz="1400" b="0" i="1" u="none" strike="noStrike" dirty="0">
                          <a:solidFill>
                            <a:srgbClr val="000000"/>
                          </a:solidFill>
                          <a:effectLst/>
                          <a:latin typeface="Times New Roman" panose="02020603050405020304" pitchFamily="18" charset="0"/>
                        </a:rPr>
                        <a:t> </a:t>
                      </a:r>
                      <a:r>
                        <a:rPr lang="en-US" sz="1400" b="0" i="1" u="none" strike="noStrike" dirty="0" err="1">
                          <a:solidFill>
                            <a:srgbClr val="000000"/>
                          </a:solidFill>
                          <a:effectLst/>
                          <a:latin typeface="Times New Roman" panose="02020603050405020304" pitchFamily="18" charset="0"/>
                        </a:rPr>
                        <a:t>tại</a:t>
                      </a:r>
                      <a:r>
                        <a:rPr lang="en-US" sz="1400" b="0" i="1" u="none" strike="noStrike" dirty="0">
                          <a:solidFill>
                            <a:srgbClr val="000000"/>
                          </a:solidFill>
                          <a:effectLst/>
                          <a:latin typeface="Times New Roman" panose="02020603050405020304" pitchFamily="18" charset="0"/>
                        </a:rPr>
                        <a:t> Đ22NĐ175</a:t>
                      </a:r>
                      <a:endParaRPr lang="en-US" sz="1400" b="0" i="0" u="none" strike="noStrike" dirty="0">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vi-VN" sz="1400" b="0" i="0" u="none" strike="noStrike" dirty="0">
                          <a:solidFill>
                            <a:srgbClr val="000000"/>
                          </a:solidFill>
                          <a:effectLst/>
                          <a:latin typeface="Times New Roman" panose="02020603050405020304" pitchFamily="18" charset="0"/>
                        </a:rPr>
                        <a:t>Chủ tịch UBND các cấp/ Thủ trưởng CQ được ủy quyền quyết định đầu tư</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dirty="0">
                          <a:solidFill>
                            <a:srgbClr val="000000"/>
                          </a:solidFill>
                          <a:effectLst/>
                          <a:latin typeface="Times New Roman" panose="02020603050405020304" pitchFamily="18" charset="0"/>
                        </a:rPr>
                        <a:t>- K1 Đ60 </a:t>
                      </a:r>
                      <a:r>
                        <a:rPr lang="en-US" sz="1400" b="0" i="0" u="none" strike="noStrike" dirty="0" err="1">
                          <a:solidFill>
                            <a:srgbClr val="000000"/>
                          </a:solidFill>
                          <a:effectLst/>
                          <a:latin typeface="Times New Roman" panose="02020603050405020304" pitchFamily="18" charset="0"/>
                        </a:rPr>
                        <a:t>Luật</a:t>
                      </a:r>
                      <a:r>
                        <a:rPr lang="en-US" sz="1400" b="0" i="0" u="none" strike="noStrike" dirty="0">
                          <a:solidFill>
                            <a:srgbClr val="000000"/>
                          </a:solidFill>
                          <a:effectLst/>
                          <a:latin typeface="Times New Roman" panose="02020603050405020304" pitchFamily="18" charset="0"/>
                        </a:rPr>
                        <a:t> XD </a:t>
                      </a:r>
                      <a:r>
                        <a:rPr lang="en-US" sz="1400" b="0" i="0" u="none" strike="noStrike" dirty="0" err="1">
                          <a:solidFill>
                            <a:srgbClr val="000000"/>
                          </a:solidFill>
                          <a:effectLst/>
                          <a:latin typeface="Times New Roman" panose="02020603050405020304" pitchFamily="18" charset="0"/>
                        </a:rPr>
                        <a:t>năm</a:t>
                      </a:r>
                      <a:r>
                        <a:rPr lang="en-US" sz="1400" b="0" i="0" u="none" strike="noStrike" dirty="0">
                          <a:solidFill>
                            <a:srgbClr val="000000"/>
                          </a:solidFill>
                          <a:effectLst/>
                          <a:latin typeface="Times New Roman" panose="02020603050405020304" pitchFamily="18" charset="0"/>
                        </a:rPr>
                        <a:t> 2014;</a:t>
                      </a:r>
                      <a:br>
                        <a:rPr lang="en-US" sz="1400" b="0" i="0" u="none" strike="noStrike" dirty="0">
                          <a:solidFill>
                            <a:srgbClr val="000000"/>
                          </a:solidFill>
                          <a:effectLst/>
                          <a:latin typeface="Times New Roman" panose="02020603050405020304" pitchFamily="18" charset="0"/>
                        </a:rPr>
                      </a:br>
                      <a:r>
                        <a:rPr lang="en-US" sz="1400" b="0" i="0" u="none" strike="noStrike" dirty="0">
                          <a:solidFill>
                            <a:srgbClr val="000000"/>
                          </a:solidFill>
                          <a:effectLst/>
                          <a:latin typeface="Times New Roman" panose="02020603050405020304" pitchFamily="18" charset="0"/>
                        </a:rPr>
                        <a:t>- K17 Đ1 </a:t>
                      </a:r>
                      <a:r>
                        <a:rPr lang="en-US" sz="1400" b="0" i="0" u="none" strike="noStrike" dirty="0" err="1">
                          <a:solidFill>
                            <a:srgbClr val="000000"/>
                          </a:solidFill>
                          <a:effectLst/>
                          <a:latin typeface="Times New Roman" panose="02020603050405020304" pitchFamily="18" charset="0"/>
                        </a:rPr>
                        <a:t>Luật</a:t>
                      </a:r>
                      <a:r>
                        <a:rPr lang="en-US" sz="1400" b="0" i="0" u="none" strike="noStrike" dirty="0">
                          <a:solidFill>
                            <a:srgbClr val="000000"/>
                          </a:solidFill>
                          <a:effectLst/>
                          <a:latin typeface="Times New Roman" panose="02020603050405020304" pitchFamily="18" charset="0"/>
                        </a:rPr>
                        <a:t> XD </a:t>
                      </a:r>
                      <a:r>
                        <a:rPr lang="en-US" sz="1400" b="0" i="0" u="none" strike="noStrike" dirty="0" err="1">
                          <a:solidFill>
                            <a:srgbClr val="000000"/>
                          </a:solidFill>
                          <a:effectLst/>
                          <a:latin typeface="Times New Roman" panose="02020603050405020304" pitchFamily="18" charset="0"/>
                        </a:rPr>
                        <a:t>số</a:t>
                      </a:r>
                      <a:r>
                        <a:rPr lang="en-US" sz="1400" b="0" i="0" u="none" strike="noStrike" dirty="0">
                          <a:solidFill>
                            <a:srgbClr val="000000"/>
                          </a:solidFill>
                          <a:effectLst/>
                          <a:latin typeface="Times New Roman" panose="02020603050405020304" pitchFamily="18" charset="0"/>
                        </a:rPr>
                        <a:t> 62;</a:t>
                      </a:r>
                      <a:br>
                        <a:rPr lang="en-US" sz="1400" b="0" i="0" u="none" strike="noStrike" dirty="0">
                          <a:solidFill>
                            <a:srgbClr val="000000"/>
                          </a:solidFill>
                          <a:effectLst/>
                          <a:latin typeface="Times New Roman" panose="02020603050405020304" pitchFamily="18" charset="0"/>
                        </a:rPr>
                      </a:br>
                      <a:r>
                        <a:rPr lang="en-US" sz="1400" b="0" i="0" u="none" strike="noStrike" dirty="0">
                          <a:solidFill>
                            <a:srgbClr val="000000"/>
                          </a:solidFill>
                          <a:effectLst/>
                          <a:latin typeface="Times New Roman" panose="02020603050405020304" pitchFamily="18" charset="0"/>
                        </a:rPr>
                        <a:t>- Đ22 NĐ </a:t>
                      </a:r>
                      <a:r>
                        <a:rPr lang="en-US" sz="1400" b="0" i="0" u="none" strike="noStrike" dirty="0" err="1">
                          <a:solidFill>
                            <a:srgbClr val="000000"/>
                          </a:solidFill>
                          <a:effectLst/>
                          <a:latin typeface="Times New Roman" panose="02020603050405020304" pitchFamily="18" charset="0"/>
                        </a:rPr>
                        <a:t>số</a:t>
                      </a:r>
                      <a:r>
                        <a:rPr lang="en-US" sz="1400" b="0" i="0" u="none" strike="noStrike" dirty="0">
                          <a:solidFill>
                            <a:srgbClr val="000000"/>
                          </a:solidFill>
                          <a:effectLst/>
                          <a:latin typeface="Times New Roman" panose="02020603050405020304" pitchFamily="18" charset="0"/>
                        </a:rPr>
                        <a:t> 175;</a:t>
                      </a:r>
                      <a:br>
                        <a:rPr lang="en-US" sz="1400" b="0" i="0" u="none" strike="noStrike" dirty="0">
                          <a:solidFill>
                            <a:srgbClr val="000000"/>
                          </a:solidFill>
                          <a:effectLst/>
                          <a:latin typeface="Times New Roman" panose="02020603050405020304" pitchFamily="18" charset="0"/>
                        </a:rPr>
                      </a:br>
                      <a:r>
                        <a:rPr lang="en-US" sz="1400" b="0" i="0" u="none" strike="noStrike" dirty="0">
                          <a:solidFill>
                            <a:srgbClr val="000000"/>
                          </a:solidFill>
                          <a:effectLst/>
                          <a:latin typeface="Times New Roman" panose="02020603050405020304" pitchFamily="18" charset="0"/>
                        </a:rPr>
                        <a:t>- Đ17 Quy </a:t>
                      </a:r>
                      <a:r>
                        <a:rPr lang="en-US" sz="1400" b="0" i="0" u="none" strike="noStrike" dirty="0" err="1">
                          <a:solidFill>
                            <a:srgbClr val="000000"/>
                          </a:solidFill>
                          <a:effectLst/>
                          <a:latin typeface="Times New Roman" panose="02020603050405020304" pitchFamily="18" charset="0"/>
                        </a:rPr>
                        <a:t>định</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của</a:t>
                      </a:r>
                      <a:r>
                        <a:rPr lang="en-US" sz="1400" b="0" i="0" u="none" strike="noStrike" dirty="0">
                          <a:solidFill>
                            <a:srgbClr val="000000"/>
                          </a:solidFill>
                          <a:effectLst/>
                          <a:latin typeface="Times New Roman" panose="02020603050405020304" pitchFamily="18" charset="0"/>
                        </a:rPr>
                        <a:t> QĐ </a:t>
                      </a:r>
                      <a:r>
                        <a:rPr lang="en-US" sz="1400" b="0" i="0" u="none" strike="noStrike" dirty="0" err="1">
                          <a:solidFill>
                            <a:srgbClr val="000000"/>
                          </a:solidFill>
                          <a:effectLst/>
                          <a:latin typeface="Times New Roman" panose="02020603050405020304" pitchFamily="18" charset="0"/>
                        </a:rPr>
                        <a:t>số</a:t>
                      </a:r>
                      <a:r>
                        <a:rPr lang="en-US" sz="1400" b="0" i="0" u="none" strike="noStrike" dirty="0">
                          <a:solidFill>
                            <a:srgbClr val="000000"/>
                          </a:solidFill>
                          <a:effectLst/>
                          <a:latin typeface="Times New Roman" panose="02020603050405020304" pitchFamily="18" charset="0"/>
                        </a:rPr>
                        <a:t> 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400" b="0" i="0" u="none" strike="noStrike" dirty="0" err="1">
                          <a:solidFill>
                            <a:srgbClr val="000000"/>
                          </a:solidFill>
                          <a:effectLst/>
                          <a:latin typeface="Times New Roman" panose="02020603050405020304" pitchFamily="18" charset="0"/>
                        </a:rPr>
                        <a:t>Mẫu</a:t>
                      </a:r>
                      <a:r>
                        <a:rPr lang="en-US" sz="1400" b="0" i="0" u="none" strike="noStrike" dirty="0">
                          <a:solidFill>
                            <a:srgbClr val="000000"/>
                          </a:solidFill>
                          <a:effectLst/>
                          <a:latin typeface="Times New Roman" panose="02020603050405020304" pitchFamily="18" charset="0"/>
                        </a:rPr>
                        <a:t> </a:t>
                      </a:r>
                      <a:r>
                        <a:rPr lang="en-US" sz="1400" b="0" i="0" u="none" strike="noStrike" dirty="0" err="1">
                          <a:solidFill>
                            <a:srgbClr val="000000"/>
                          </a:solidFill>
                          <a:effectLst/>
                          <a:latin typeface="Times New Roman" panose="02020603050405020304" pitchFamily="18" charset="0"/>
                        </a:rPr>
                        <a:t>số</a:t>
                      </a:r>
                      <a:r>
                        <a:rPr lang="en-US" sz="1400" b="0" i="0" u="none" strike="noStrike" dirty="0">
                          <a:solidFill>
                            <a:srgbClr val="000000"/>
                          </a:solidFill>
                          <a:effectLst/>
                          <a:latin typeface="Times New Roman" panose="02020603050405020304" pitchFamily="18" charset="0"/>
                        </a:rPr>
                        <a:t> 06 </a:t>
                      </a:r>
                      <a:r>
                        <a:rPr lang="en-US" sz="1400" b="0" i="0" u="none" strike="noStrike" dirty="0" err="1">
                          <a:solidFill>
                            <a:srgbClr val="000000"/>
                          </a:solidFill>
                          <a:effectLst/>
                          <a:latin typeface="Times New Roman" panose="02020603050405020304" pitchFamily="18" charset="0"/>
                        </a:rPr>
                        <a:t>và</a:t>
                      </a:r>
                      <a:r>
                        <a:rPr lang="en-US" sz="1400" b="0" i="0" u="none" strike="noStrike" dirty="0">
                          <a:solidFill>
                            <a:srgbClr val="000000"/>
                          </a:solidFill>
                          <a:effectLst/>
                          <a:latin typeface="Times New Roman" panose="02020603050405020304" pitchFamily="18" charset="0"/>
                        </a:rPr>
                        <a:t> 07 NĐ175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78895022"/>
                  </a:ext>
                </a:extLst>
              </a:tr>
            </a:tbl>
          </a:graphicData>
        </a:graphic>
      </p:graphicFrame>
    </p:spTree>
    <p:extLst>
      <p:ext uri="{BB962C8B-B14F-4D97-AF65-F5344CB8AC3E}">
        <p14:creationId xmlns:p14="http://schemas.microsoft.com/office/powerpoint/2010/main" val="1671361435"/>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54F6613E-5ED7-40ED-90A8-F639BE712C0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Wisp</Template>
  <TotalTime>301</TotalTime>
  <Words>5632</Words>
  <Application>Microsoft Office PowerPoint</Application>
  <PresentationFormat>Widescreen</PresentationFormat>
  <Paragraphs>538</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vt:lpstr>
      <vt:lpstr>Arial</vt:lpstr>
      <vt:lpstr>Century Gothic</vt:lpstr>
      <vt:lpstr>Times New Roman</vt:lpstr>
      <vt:lpstr>Wingdings 3</vt:lpstr>
      <vt:lpstr>Wisp</vt:lpstr>
      <vt:lpstr>PowerPoint Presentation</vt:lpstr>
      <vt:lpstr>PowerPoint Presentation</vt:lpstr>
      <vt:lpstr>PowerPoint Presentation</vt:lpstr>
      <vt:lpstr>PowerPoint Presentation</vt:lpstr>
      <vt:lpstr>PowerPoint Presentation</vt:lpstr>
      <vt:lpstr> SƠ ĐỒ TỔNG QUÁT</vt:lpstr>
      <vt:lpstr>PowerPoint Presentation</vt:lpstr>
      <vt:lpstr>PowerPoint Presentation</vt:lpstr>
      <vt:lpstr>PowerPoint Presentation</vt:lpstr>
      <vt:lpstr>PowerPoint Presentation</vt:lpstr>
      <vt:lpstr>SƠ ĐỒ TỔNG QUÁT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dc:creator>
  <cp:lastModifiedBy>Administrator</cp:lastModifiedBy>
  <cp:revision>16</cp:revision>
  <dcterms:created xsi:type="dcterms:W3CDTF">2026-03-29T13:40:07Z</dcterms:created>
  <dcterms:modified xsi:type="dcterms:W3CDTF">2026-04-03T11:22:16Z</dcterms:modified>
</cp:coreProperties>
</file>